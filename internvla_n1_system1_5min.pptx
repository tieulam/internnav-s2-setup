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8"/>
  </p:notesMasterIdLst>
  <p:sldIdLst>
    <p:sldId id="256" r:id="rId2"/>
    <p:sldId id="292" r:id="rId3"/>
    <p:sldId id="259" r:id="rId6"/>
    <p:sldId id="277" r:id="rId24"/>
    <p:sldId id="289" r:id="rId30"/>
    <p:sldId id="290" r:id="rId31"/>
    <p:sldId id="285" r:id="rId34"/>
    <p:sldId id="288" r:id="rId37"/>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D69EF9-3EB6-4A34-B587-486656E65251}">
  <a:tblStyle styleId="{F1D69EF9-3EB6-4A34-B587-486656E6525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3.xml"/><Relationship Id="rId24"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4"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1/8 · 20s · (mốc 0:20)</a:t>
            </a:r>
          </a:p>
          <a:p>
            <a:r>
              <a:t>MỞ BÀI. "Tuần 2: setup InternNav + chạy inference VLN dual-system. Cả HAI nhánh đã chạy thật:</a:t>
            </a:r>
          </a:p>
          <a:p>
            <a:r>
              <a:t>NavDP standalone trên laptop GPU, và dual-system 7B end-to-end OPEN-LOOP trên Kaggle T4x2 ngày 23/07.</a:t>
            </a:r>
          </a:p>
          <a:p>
            <a:r>
              <a:t>Cái chưa có: closed-loop SR/SPL trong simulator."</a:t>
            </a:r>
          </a:p>
          <a:p>
            <a:r>
              <a:t>→ Đừng đọc lại các ô trên slide, chỉ chỉ tay.</a:t>
            </a: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2/8 · 25s · (mốc 0:45)</a:t>
            </a:r>
          </a:p>
          <a:p>
            <a:r>
              <a:t>AI LÀM GÌ. A = local/model: env WSL2, NavDP standalone, đọc internvla_n1_agent.py.</a:t>
            </a:r>
          </a:p>
          <a:p>
            <a:r>
              <a:t>B (mình) = cloud/eval: Kaggle T4x2, S2 Qwen2.5-VL 7B, chạy dual-system open-loop 23/07, metric + data contract.</a:t>
            </a:r>
          </a:p>
          <a:p>
            <a:r>
              <a:t>Hội tụ ngày 4-5. Nói 2 câu rồi chuyển ngay.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3/8 · 50s · (mốc 1:35)</a:t>
            </a:r>
          </a:p>
          <a:p>
            <a:r>
              <a:t>KIẾN TRÚC — slide xương sống.</a:t>
            </a:r>
          </a:p>
          <a:p>
            <a:r>
              <a:t>(1) Vì sao tách: một lệnh sinh 2 loại khó — hiểu/lập kế hoạch (chậm, không cần mọi frame) vs điều khiển realtime</a:t>
            </a:r>
          </a:p>
          <a:p>
            <a:r>
              <a:t>    (nhanh, phải chạy liên tục). VLM 7B quá chậm để chạy ở tần số điều khiển.</a:t>
            </a:r>
          </a:p>
          <a:p>
            <a:r>
              <a:t>(2) Chỉ luồng: Instruction + RGB history → S2 (Qwen2.5-VL 7B) → pixel goal + LATENT PLAN → S1 (NavDP diffusion)</a:t>
            </a:r>
          </a:p>
          <a:p>
            <a:r>
              <a:t>    → K quỹ đạo → post-process → action.</a:t>
            </a:r>
          </a:p>
          <a:p>
            <a:r>
              <a:t>(3) ĐIỂM CỐT LÕI (nhấn mạnh): S2 KHÔNG trả về toạ độ số (x,y,theta) — nó trả latent plan, tức biểu diễn học được</a:t>
            </a:r>
          </a:p>
          <a:p>
            <a:r>
              <a:t>    của "đi đâu tiếp theo". NavDP nhận latent đó làm goal condition.</a:t>
            </a:r>
          </a:p>
          <a:p>
            <a:r>
              <a:t>(4) Một câu bắc cầu: "Cùng tên NavDP nhưng bản standalone nhận point goal số, bản dual nhận latent — không thay thế nhau."</a:t>
            </a:r>
          </a:p>
          <a:p>
            <a:r>
              <a:t>[Backup nếu bị hỏi: deck đầy đủ slide 4 (bối cảnh), slide 6 (3 chỗ dễ nhầm), slide 7 (bảng so sánh)]</a:t>
            </a:r>
          </a:p>
        </p:txBody>
      </p:sp>
      <p:sp>
        <p:nvSpPr>
          <p:cNvPr id="95" name="Google Shape;9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4/8 · 45s · (mốc 2:20)</a:t>
            </a:r>
          </a:p>
          <a:p>
            <a:r>
              <a:t>ĐIỂM GHÉP — phần deep-dive của mình.</a:t>
            </a:r>
          </a:p>
          <a:p>
            <a:r>
              <a:t>Latent plan sinh ra thế nào: instruction tokens + history/current image tokens + pixel-goal text đi qua Qwen2.5-VL</a:t>
            </a:r>
          </a:p>
          <a:p>
            <a:r>
              <a:t>CÙNG với learned latent_queries [1, n_query, 3584]; lấy hidden state lớp cuối ở n_query vị trí cuối → traj_latents.</a:t>
            </a:r>
          </a:p>
          <a:p>
            <a:r>
              <a:t>→ Latent KHÔNG phải hidden state lấy tuỳ ý: nó là output của learned query đã attention với instruction + ảnh.</a:t>
            </a:r>
          </a:p>
          <a:p>
            <a:r>
              <a:t>CHỐT (câu đáng giá nhất slide): nếu load bằng Transformers/AutoModel Qwen thuần, latent_queries và navdp.* bị báo</a:t>
            </a:r>
          </a:p>
          <a:p>
            <a:r>
              <a:t>unexpected → VLM vẫn chạy bình thường nhưng đường latent → NavDP đã MẤT. Phải dùng custom InternVLAN1ForCausalLM.</a:t>
            </a:r>
          </a:p>
          <a:p>
            <a:r>
              <a:t>[Backup: slide 24 deck đầy đủ — MLP 3584→384 + TokenCompressor → 34 condition token]</a:t>
            </a:r>
          </a:p>
        </p:txBody>
      </p:sp>
      <p:sp>
        <p:nvSpPr>
          <p:cNvPr id="680" name="Google Shape;68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5/8 · 60s · ĐIỂM NHẤN · (mốc 3:20)</a:t>
            </a:r>
          </a:p>
          <a:p>
            <a:r>
              <a:t>BẰNG CHỨNG DUAL-SYSTEM. Kaggle T4x2, 23/07, checkpoint InternVLA-N1-w-NavDP.</a:t>
            </a:r>
          </a:p>
          <a:p>
            <a:r>
              <a:t>Số to: VRAM 7.57+9.21 = 16.78 GB · NavDP 98.8M param đã nạp · 0 param meta còn sót · 101/128 frame ra pixel+latent.</a:t>
            </a:r>
          </a:p>
          <a:p>
            <a:r>
              <a:t>GATE 1: config.system1 = navdp_async (KHÔNG patch code), latent_queries [1,4,3584] → n_query=4.</a:t>
            </a:r>
          </a:p>
          <a:p>
            <a:r>
              <a:t>GATE 2+3: S2 latent [B,4,3584] finite → s1_traj (33,2) không NaN (predict_size=32), action ∈ {1,2,3}.</a:t>
            </a:r>
          </a:p>
          <a:p>
            <a:r>
              <a:t>→ Lần đầu xác nhận runtime rằng field config.system1 thực sự dựng NavDP bên trong model 7B.</a:t>
            </a:r>
          </a:p>
          <a:p>
            <a:r>
              <a:t>NÓI THẲNG GIỚI HẠN: đây là OPEN-LOOP (feed observation tĩnh, pose = ma trận đơn vị), KHÔNG phải benchmark SR/SPL.</a:t>
            </a:r>
          </a:p>
          <a:p>
            <a:r>
              <a:t>Phải override device_map='auto' + attn 'sdpa' để chạy được trên T4x2 (code gốc pin 1 GPU + flash_attention_2).</a:t>
            </a:r>
          </a:p>
          <a:p>
            <a:r>
              <a:t>1 CÂU cho nhánh A: "Song song, NavDP standalone cũng đã chạy thật trên laptop GPU — latency 1.59s, input/output verify finite."</a:t>
            </a:r>
          </a:p>
          <a:p>
            <a:r>
              <a:t>Nguồn: docs/handbook/results.json · 05_appendix.md PL-E2/E3.</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6/8 · 55s · (mốc 4:15)</a:t>
            </a:r>
          </a:p>
          <a:p>
            <a:r>
              <a:t>S2 CHẠY THẬT — chất lượng, không chỉ "chạy được".</a:t>
            </a:r>
          </a:p>
          <a:p>
            <a:r>
              <a:t>L2 pixel-goal: median 20 px (mean 41.8 px trên 640x480, có 12 outlier &gt;100px, 3 trong đó là frame 0-2 chưa có history)</a:t>
            </a:r>
          </a:p>
          <a:p>
            <a:r>
              <a:t>→ LUÔN đọc median trước; mean rất nhạy với scale.</a:t>
            </a:r>
          </a:p>
          <a:p>
            <a:r>
              <a:t>Action accuracy 37% (10/27) nghe thấp NHƯNG 10/17 lỗi là "STOP sớm" dồn cuối episode → chỉ 7 lỗi điều hướng thật.</a:t>
            </a:r>
          </a:p>
          <a:p>
            <a:r>
              <a:t>LOOK-DOWN 2 NHỊP (phát hiện khi chạy thật): nhịp 1 model trả '↓' = action 5 (xin cúi camera); phải gọi lại</a:t>
            </a:r>
          </a:p>
          <a:p>
            <a:r>
              <a:t>s2_step(look_down=True) mới ra pixel + latent. Đúng cú 2 nhịp này nên mới đạt 101/128 frame.</a:t>
            </a:r>
          </a:p>
          <a:p>
            <a:r>
              <a:t>Toạ độ: model nhả "u v" ngay trong 640x480 gốc — KHÔNG scale 384→640; scale nhầm thổi L2 từ 41.8 lên 206 px.</a:t>
            </a:r>
          </a:p>
          <a:p>
            <a:r>
              <a:t>Chi phí: ~35.5 s/frame (2 lần generate) → cả run 128 frame ≈ 75 phút trên T4x2.</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7/8 · 25s · (mốc 4:40)</a:t>
            </a:r>
          </a:p>
          <a:p>
            <a:r>
              <a:t>TIẾN ĐỘ — nói thẳng cái chưa làm.</a:t>
            </a:r>
          </a:p>
          <a:p>
            <a:r>
              <a:t>Nhánh A (NavDP standalone) và nhánh B (dual-system open-loop) đều ĐÃ ĐÓNG — B xong sớm hơn dự kiến.</a:t>
            </a:r>
          </a:p>
          <a:p>
            <a:r>
              <a:t>CÒN LẠI: closed-loop trong Habitat/Isaac để có SR/SPL thật, xác nhận trên split chính thức R2R val_unseen / MP3D,</a:t>
            </a:r>
          </a:p>
          <a:p>
            <a:r>
              <a:t>và cần server &gt;=24GB. Đây là hạng mục cloud/eval của nhóm, không phải lỗi pipeline local.</a:t>
            </a:r>
          </a:p>
        </p:txBody>
      </p:sp>
      <p:sp>
        <p:nvSpPr>
          <p:cNvPr id="928" name="Google Shape;92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8/8 · 20s · (mốc 5:00)</a:t>
            </a:r>
          </a:p>
          <a:p>
            <a:r>
              <a:t>CHỐT. Đọc chậm 1 câu tổng pipeline trên slide, rồi 3 vế: đã chứng minh (standalone + dual open-loop) /</a:t>
            </a:r>
          </a:p>
          <a:p>
            <a:r>
              <a:t>đã đọc kỹ code (toàn bộ đường S2 → latent → S1 + post-processing) / bước kế tiếp (closed-loop SR/SPL).</a:t>
            </a:r>
          </a:p>
          <a:p>
            <a:r>
              <a:t>Dừng, mời câu hỏi.</a:t>
            </a:r>
          </a:p>
          <a:p>
            <a:r>
              <a:t>--- BACKUP HAY BỊ HỎI (mở deck đầy đủ) ---</a:t>
            </a:r>
          </a:p>
          <a:p>
            <a:r>
              <a:t>"Gặp lỗi gì?" → slide 32 (failure modes) · "Data ra sao?" → slide 9-10 · "Prompt S2?" → slide 22</a:t>
            </a:r>
          </a:p>
          <a:p>
            <a:r>
              <a:t>"Vì sao reset()?" → slide 26 · "Notebook chứng minh gì?" → slide 31 · "Gate 7B chi tiết?" → slide 34</a:t>
            </a:r>
          </a:p>
        </p:txBody>
      </p:sp>
      <p:sp>
        <p:nvSpPr>
          <p:cNvPr id="1003" name="Google Shape;1003;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15"/>
        <p:cNvGrpSpPr/>
        <p:nvPr/>
      </p:nvGrpSpPr>
      <p:grpSpPr>
        <a:xfrm>
          <a:off x="0" y="0"/>
          <a:ext cx="0" cy="0"/>
          <a:chOff x="0" y="0"/>
          <a:chExt cx="0" cy="0"/>
        </a:xfrm>
      </p:grpSpPr>
      <p:sp>
        <p:nvSpPr>
          <p:cNvPr id="16" name="Google Shape;16;p3"/>
          <p:cNvSpPr/>
          <p:nvPr/>
        </p:nvSpPr>
        <p:spPr>
          <a:xfrm>
            <a:off x="9418320" y="-1371600"/>
            <a:ext cx="4754880" cy="475488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0607040" y="4023360"/>
            <a:ext cx="3108960" cy="3108960"/>
          </a:xfrm>
          <a:prstGeom prst="ellipse">
            <a:avLst/>
          </a:prstGeom>
          <a:solidFill>
            <a:srgbClr val="1733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548640" y="14173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00"/>
              <a:buFont typeface="Arial"/>
              <a:buNone/>
            </a:pPr>
            <a:r>
              <a:rPr lang="en-US" sz="1200" b="1" i="0" u="none" strike="noStrike" cap="none">
                <a:solidFill>
                  <a:srgbClr val="00A896"/>
                </a:solidFill>
                <a:latin typeface="Arial"/>
                <a:ea typeface="Arial"/>
                <a:cs typeface="Arial"/>
                <a:sym typeface="Arial"/>
              </a:rPr>
              <a:t>INTERNNAV · DUAL-SYSTEM VLN</a:t>
            </a:r>
            <a:endParaRPr sz="1200" b="0" i="0" u="none" strike="noStrike" cap="none">
              <a:solidFill>
                <a:schemeClr val="dk1"/>
              </a:solidFill>
              <a:latin typeface="Calibri"/>
              <a:ea typeface="Calibri"/>
              <a:cs typeface="Calibri"/>
              <a:sym typeface="Calibri"/>
            </a:endParaRPr>
          </a:p>
        </p:txBody>
      </p:sp>
      <p:sp>
        <p:nvSpPr>
          <p:cNvPr id="19" name="Google Shape;19;p3"/>
          <p:cNvSpPr/>
          <p:nvPr/>
        </p:nvSpPr>
        <p:spPr>
          <a:xfrm>
            <a:off x="548640" y="1828800"/>
            <a:ext cx="8778240" cy="1463040"/>
          </a:xfrm>
          <a:prstGeom prst="rect">
            <a:avLst/>
          </a:prstGeom>
          <a:noFill/>
          <a:ln>
            <a:noFill/>
          </a:ln>
        </p:spPr>
        <p:txBody>
          <a:bodyPr spcFirstLastPara="1" wrap="square" lIns="0" tIns="0" rIns="0" bIns="0" anchor="ctr" anchorCtr="0">
            <a:noAutofit/>
          </a:bodyPr>
          <a:lstStyle/>
          <a:p>
            <a:pPr marL="0" marR="0" lvl="0" indent="0" algn="l" rtl="0">
              <a:lnSpc>
                <a:spcPct val="118421"/>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InternVLA-N1: từ dữ liệu RGB-D</a:t>
            </a:r>
            <a:endParaRPr sz="3800" b="0" i="0" u="none" strike="noStrike" cap="none">
              <a:solidFill>
                <a:schemeClr val="dk1"/>
              </a:solidFill>
              <a:latin typeface="Calibri"/>
              <a:ea typeface="Calibri"/>
              <a:cs typeface="Calibri"/>
              <a:sym typeface="Calibri"/>
            </a:endParaRPr>
          </a:p>
          <a:p>
            <a:pPr marL="0" marR="0" lvl="0" indent="0" algn="l" rtl="0">
              <a:lnSpc>
                <a:spcPct val="118421"/>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đến hành động của robot</a:t>
            </a:r>
            <a:endParaRPr sz="3800" b="0" i="0" u="none" strike="noStrike" cap="none">
              <a:solidFill>
                <a:schemeClr val="dk1"/>
              </a:solidFill>
              <a:latin typeface="Calibri"/>
              <a:ea typeface="Calibri"/>
              <a:cs typeface="Calibri"/>
              <a:sym typeface="Calibri"/>
            </a:endParaRPr>
          </a:p>
        </p:txBody>
      </p:sp>
      <p:sp>
        <p:nvSpPr>
          <p:cNvPr id="20" name="Google Shape;20;p3"/>
          <p:cNvSpPr/>
          <p:nvPr/>
        </p:nvSpPr>
        <p:spPr>
          <a:xfrm>
            <a:off x="548640" y="3401568"/>
            <a:ext cx="8595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500"/>
              <a:buFont typeface="Arial"/>
              <a:buNone/>
            </a:pPr>
            <a:r>
              <a:rPr lang="en-US" sz="1500" b="0" i="0" u="none" strike="noStrike" cap="none">
                <a:solidFill>
                  <a:srgbClr val="9FBEC2"/>
                </a:solidFill>
                <a:latin typeface="Arial"/>
                <a:ea typeface="Arial"/>
                <a:cs typeface="Arial"/>
                <a:sym typeface="Arial"/>
              </a:rPr>
              <a:t>Dual-system đầy đủ: System 2 (VLM) → latent plan → System 1 (NavDP) — đã chạy end-to-end open-loop</a:t>
            </a:r>
            <a:endParaRPr sz="1500" b="0" i="0" u="none" strike="noStrike" cap="none">
              <a:solidFill>
                <a:schemeClr val="dk1"/>
              </a:solidFill>
              <a:latin typeface="Calibri"/>
              <a:ea typeface="Calibri"/>
              <a:cs typeface="Calibri"/>
              <a:sym typeface="Calibri"/>
            </a:endParaRPr>
          </a:p>
        </p:txBody>
      </p:sp>
      <p:cxnSp>
        <p:nvCxnSpPr>
          <p:cNvPr id="21" name="Google Shape;21;p3"/>
          <p:cNvCxnSpPr/>
          <p:nvPr/>
        </p:nvCxnSpPr>
        <p:spPr>
          <a:xfrm>
            <a:off x="548640" y="4069080"/>
            <a:ext cx="3108960" cy="0"/>
          </a:xfrm>
          <a:prstGeom prst="straightConnector1">
            <a:avLst/>
          </a:prstGeom>
          <a:noFill/>
          <a:ln w="25400" cap="flat" cmpd="sng">
            <a:solidFill>
              <a:srgbClr val="D98324"/>
            </a:solidFill>
            <a:prstDash val="solid"/>
            <a:round/>
            <a:headEnd type="none" w="sm" len="sm"/>
            <a:tailEnd type="none" w="sm" len="sm"/>
          </a:ln>
        </p:spPr>
      </p:cxnSp>
      <p:sp>
        <p:nvSpPr>
          <p:cNvPr id="22" name="Google Shape;22;p3"/>
          <p:cNvSpPr/>
          <p:nvPr/>
        </p:nvSpPr>
        <p:spPr>
          <a:xfrm>
            <a:off x="54864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13232" y="4681728"/>
            <a:ext cx="146304" cy="14630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95097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chạy thật</a:t>
            </a:r>
            <a:endParaRPr sz="1150" b="0" i="0" u="none" strike="noStrike" cap="none">
              <a:solidFill>
                <a:schemeClr val="dk1"/>
              </a:solidFill>
              <a:latin typeface="Calibri"/>
              <a:ea typeface="Calibri"/>
              <a:cs typeface="Calibri"/>
              <a:sym typeface="Calibri"/>
            </a:endParaRPr>
          </a:p>
        </p:txBody>
      </p:sp>
      <p:sp>
        <p:nvSpPr>
          <p:cNvPr id="25" name="Google Shape;25;p3"/>
          <p:cNvSpPr/>
          <p:nvPr/>
        </p:nvSpPr>
        <p:spPr>
          <a:xfrm>
            <a:off x="95097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NavDP standalone trên sample InternData-N1</a:t>
            </a:r>
            <a:endParaRPr sz="950" b="0" i="0" u="none" strike="noStrike" cap="none">
              <a:solidFill>
                <a:schemeClr val="dk1"/>
              </a:solidFill>
              <a:latin typeface="Calibri"/>
              <a:ea typeface="Calibri"/>
              <a:cs typeface="Calibri"/>
              <a:sym typeface="Calibri"/>
            </a:endParaRPr>
          </a:p>
        </p:txBody>
      </p:sp>
      <p:sp>
        <p:nvSpPr>
          <p:cNvPr id="26" name="Google Shape;26;p3"/>
          <p:cNvSpPr/>
          <p:nvPr/>
        </p:nvSpPr>
        <p:spPr>
          <a:xfrm>
            <a:off x="406908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233672" y="468172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47141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đối chiếu code</a:t>
            </a:r>
            <a:endParaRPr sz="1150" b="0" i="0" u="none" strike="noStrike" cap="none">
              <a:solidFill>
                <a:schemeClr val="dk1"/>
              </a:solidFill>
              <a:latin typeface="Calibri"/>
              <a:ea typeface="Calibri"/>
              <a:cs typeface="Calibri"/>
              <a:sym typeface="Calibri"/>
            </a:endParaRPr>
          </a:p>
        </p:txBody>
      </p:sp>
      <p:sp>
        <p:nvSpPr>
          <p:cNvPr id="29" name="Google Shape;29;p3"/>
          <p:cNvSpPr/>
          <p:nvPr/>
        </p:nvSpPr>
        <p:spPr>
          <a:xfrm>
            <a:off x="447141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Pipeline dual-system, latent plan, post-processing</a:t>
            </a:r>
            <a:endParaRPr sz="950" b="0" i="0" u="none" strike="noStrike" cap="none">
              <a:solidFill>
                <a:schemeClr val="dk1"/>
              </a:solidFill>
              <a:latin typeface="Calibri"/>
              <a:ea typeface="Calibri"/>
              <a:cs typeface="Calibri"/>
              <a:sym typeface="Calibri"/>
            </a:endParaRPr>
          </a:p>
        </p:txBody>
      </p:sp>
      <p:sp>
        <p:nvSpPr>
          <p:cNvPr id="30" name="Google Shape;30;p3"/>
          <p:cNvSpPr/>
          <p:nvPr/>
        </p:nvSpPr>
        <p:spPr>
          <a:xfrm>
            <a:off x="758952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7754112" y="4681728"/>
            <a:ext cx="146304" cy="146304"/>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799185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chạy open-loop</a:t>
            </a:r>
            <a:endParaRPr sz="1150" b="0" i="0" u="none" strike="noStrike" cap="none">
              <a:solidFill>
                <a:schemeClr val="dk1"/>
              </a:solidFill>
              <a:latin typeface="Calibri"/>
              <a:ea typeface="Calibri"/>
              <a:cs typeface="Calibri"/>
              <a:sym typeface="Calibri"/>
            </a:endParaRPr>
          </a:p>
        </p:txBody>
      </p:sp>
      <p:sp>
        <p:nvSpPr>
          <p:cNvPr id="33" name="Google Shape;33;p3"/>
          <p:cNvSpPr/>
          <p:nvPr/>
        </p:nvSpPr>
        <p:spPr>
          <a:xfrm>
            <a:off x="799185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Dual-system 7B trên Kaggle T4×2 (23/07); còn lại closed-loop</a:t>
            </a:r>
            <a:endParaRPr sz="950" b="0" i="0" u="none" strike="noStrike" cap="none">
              <a:solidFill>
                <a:schemeClr val="dk1"/>
              </a:solidFill>
              <a:latin typeface="Calibri"/>
              <a:ea typeface="Calibri"/>
              <a:cs typeface="Calibri"/>
              <a:sym typeface="Calibri"/>
            </a:endParaRPr>
          </a:p>
        </p:txBody>
      </p:sp>
      <p:sp>
        <p:nvSpPr>
          <p:cNvPr id="34" name="Google Shape;34;p3"/>
          <p:cNvSpPr/>
          <p:nvPr/>
        </p:nvSpPr>
        <p:spPr>
          <a:xfrm>
            <a:off x="548640" y="5989320"/>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9199"/>
              </a:buClr>
              <a:buSzPts val="1000"/>
              <a:buFont typeface="Arial"/>
              <a:buNone/>
            </a:pPr>
            <a:r>
              <a:rPr lang="en-US" sz="1000" b="0" i="0" u="none" strike="noStrike" cap="none">
                <a:solidFill>
                  <a:srgbClr val="6E9199"/>
                </a:solidFill>
                <a:latin typeface="Arial"/>
                <a:ea typeface="Arial"/>
                <a:cs typeface="Arial"/>
                <a:sym typeface="Arial"/>
              </a:rPr>
              <a:t>Nguồn: docs/handbook 01–06 · results.json   |   Kiểm chứng real-data: 23-07-2026 (dual-system open-loop, Kaggle T4×2)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Google Shape;902;p30"/>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PHÂN CÔNG · 2 NGƯỜI</a:t>
            </a:r>
            <a:endParaRPr sz="1050" b="0" i="0" u="none" strike="noStrike" cap="none">
              <a:solidFill>
                <a:schemeClr val="dk1"/>
              </a:solidFill>
              <a:latin typeface="Calibri"/>
              <a:ea typeface="Calibri"/>
              <a:cs typeface="Calibri"/>
              <a:sym typeface="Calibri"/>
            </a:endParaRPr>
          </a:p>
        </p:txBody>
      </p:sp>
      <p:sp>
        <p:nvSpPr>
          <p:cNvPr id="903" name="Google Shape;903;p30"/>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Hai luồng song song, hội tụ ở dual-system</a:t>
            </a:r>
            <a:endParaRPr sz="2500" b="0" i="0" u="none" strike="noStrike" cap="none">
              <a:solidFill>
                <a:schemeClr val="dk1"/>
              </a:solidFill>
              <a:latin typeface="Calibri"/>
              <a:ea typeface="Calibri"/>
              <a:cs typeface="Calibri"/>
              <a:sym typeface="Calibri"/>
            </a:endParaRPr>
          </a:p>
        </p:txBody>
      </p:sp>
      <p:sp>
        <p:nvSpPr>
          <p:cNvPr id="904" name="Google Shape;904;p30"/>
          <p:cNvSpPr/>
          <p:nvPr/>
        </p:nvSpPr>
        <p:spPr>
          <a:xfrm>
            <a:off x="548640" y="1417320"/>
            <a:ext cx="5349240" cy="2743200"/>
          </a:xfrm>
          <a:prstGeom prst="roundRect">
            <a:avLst>
              <a:gd name="adj" fmla="val 2000"/>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0"/>
          <p:cNvSpPr/>
          <p:nvPr/>
        </p:nvSpPr>
        <p:spPr>
          <a:xfrm>
            <a:off x="822960" y="1627632"/>
            <a:ext cx="365760" cy="365760"/>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0"/>
          <p:cNvSpPr/>
          <p:nvPr/>
        </p:nvSpPr>
        <p:spPr>
          <a:xfrm>
            <a:off x="82296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A</a:t>
            </a:r>
            <a:endParaRPr sz="1300" b="0" i="0" u="none" strike="noStrike" cap="none">
              <a:solidFill>
                <a:schemeClr val="dk1"/>
              </a:solidFill>
              <a:latin typeface="Calibri"/>
              <a:ea typeface="Calibri"/>
              <a:cs typeface="Calibri"/>
              <a:sym typeface="Calibri"/>
            </a:endParaRPr>
          </a:p>
        </p:txBody>
      </p:sp>
      <p:sp>
        <p:nvSpPr>
          <p:cNvPr id="907" name="Google Shape;907;p30"/>
          <p:cNvSpPr/>
          <p:nvPr/>
        </p:nvSpPr>
        <p:spPr>
          <a:xfrm>
            <a:off x="1325880"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Người A · Model &amp; Local</a:t>
            </a:r>
            <a:endParaRPr sz="1350" b="0" i="0" u="none" strike="noStrike" cap="none">
              <a:solidFill>
                <a:schemeClr val="dk1"/>
              </a:solidFill>
              <a:latin typeface="Calibri"/>
              <a:ea typeface="Calibri"/>
              <a:cs typeface="Calibri"/>
              <a:sym typeface="Calibri"/>
            </a:endParaRPr>
          </a:p>
        </p:txBody>
      </p:sp>
      <p:sp>
        <p:nvSpPr>
          <p:cNvPr id="908" name="Google Shape;908;p30"/>
          <p:cNvSpPr/>
          <p:nvPr/>
        </p:nvSpPr>
        <p:spPr>
          <a:xfrm>
            <a:off x="841248"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WSL2 + env internnav-s1, submodule, checkpoint NavDP</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NavDP standalone: RGB-D backbone, diffusion, critic</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Đọc internvla_n1_agent.py: cơ chế ghép S2 → latent → S1</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Chạy real-data trên laptop GPU + tài liệu I/O System 1</a:t>
            </a:r>
            <a:endParaRPr sz="1150" b="0" i="0" u="none" strike="noStrike" cap="none">
              <a:solidFill>
                <a:schemeClr val="dk1"/>
              </a:solidFill>
              <a:latin typeface="Calibri"/>
              <a:ea typeface="Calibri"/>
              <a:cs typeface="Calibri"/>
              <a:sym typeface="Calibri"/>
            </a:endParaRPr>
          </a:p>
        </p:txBody>
      </p:sp>
      <p:sp>
        <p:nvSpPr>
          <p:cNvPr id="909" name="Google Shape;909;p30"/>
          <p:cNvSpPr/>
          <p:nvPr/>
        </p:nvSpPr>
        <p:spPr>
          <a:xfrm>
            <a:off x="6291072" y="1417320"/>
            <a:ext cx="5349240" cy="2743200"/>
          </a:xfrm>
          <a:prstGeom prst="roundRect">
            <a:avLst>
              <a:gd name="adj" fmla="val 2000"/>
            </a:avLst>
          </a:prstGeom>
          <a:solidFill>
            <a:srgbClr val="FFFFFF"/>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0"/>
          <p:cNvSpPr/>
          <p:nvPr/>
        </p:nvSpPr>
        <p:spPr>
          <a:xfrm>
            <a:off x="6565392" y="1627632"/>
            <a:ext cx="365760" cy="365760"/>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0"/>
          <p:cNvSpPr/>
          <p:nvPr/>
        </p:nvSpPr>
        <p:spPr>
          <a:xfrm>
            <a:off x="6565392"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B</a:t>
            </a:r>
            <a:endParaRPr sz="1400" b="0" i="0" u="none" strike="noStrike" cap="none">
              <a:solidFill>
                <a:schemeClr val="dk1"/>
              </a:solidFill>
              <a:latin typeface="Calibri"/>
              <a:ea typeface="Calibri"/>
              <a:cs typeface="Calibri"/>
              <a:sym typeface="Calibri"/>
            </a:endParaRPr>
          </a:p>
        </p:txBody>
      </p:sp>
      <p:sp>
        <p:nvSpPr>
          <p:cNvPr id="912" name="Google Shape;912;p30"/>
          <p:cNvSpPr/>
          <p:nvPr/>
        </p:nvSpPr>
        <p:spPr>
          <a:xfrm>
            <a:off x="7068312"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50"/>
              <a:buFont typeface="Arial"/>
              <a:buNone/>
            </a:pPr>
            <a:r>
              <a:rPr lang="en-US" sz="1350" b="1" i="0" u="none" strike="noStrike" cap="none">
                <a:solidFill>
                  <a:srgbClr val="D98324"/>
                </a:solidFill>
                <a:latin typeface="Arial"/>
                <a:ea typeface="Arial"/>
                <a:cs typeface="Arial"/>
                <a:sym typeface="Arial"/>
              </a:rPr>
              <a:t>Người B · Cloud &amp; Eval</a:t>
            </a:r>
            <a:endParaRPr sz="1350" b="0" i="0" u="none" strike="noStrike" cap="none">
              <a:solidFill>
                <a:schemeClr val="dk1"/>
              </a:solidFill>
              <a:latin typeface="Calibri"/>
              <a:ea typeface="Calibri"/>
              <a:cs typeface="Calibri"/>
              <a:sym typeface="Calibri"/>
            </a:endParaRPr>
          </a:p>
        </p:txBody>
      </p:sp>
      <p:sp>
        <p:nvSpPr>
          <p:cNvPr id="913" name="Google Shape;913;p30"/>
          <p:cNvSpPr/>
          <p:nvPr/>
        </p:nvSpPr>
        <p:spPr>
          <a:xfrm>
            <a:off x="6583680"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Kaggle T4×2: đóng gói checkpoint, chạy S2 (Qwen2.5-VL 7B)</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Dual-system 7B open-loop 23/07: GATE 1/2/3, metric S2, look-down 2 nhịp</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Prompt/parser S2 · data contract LeRobot · theo dõi yêu cầu server</a:t>
            </a:r>
            <a:endParaRPr sz="1150" b="0" i="0" u="none" strike="noStrike" cap="none">
              <a:solidFill>
                <a:schemeClr val="dk1"/>
              </a:solidFill>
              <a:latin typeface="Calibri"/>
              <a:ea typeface="Calibri"/>
              <a:cs typeface="Calibri"/>
              <a:sym typeface="Calibri"/>
            </a:endParaRPr>
          </a:p>
        </p:txBody>
      </p:sp>
      <p:sp>
        <p:nvSpPr>
          <p:cNvPr id="914" name="Google Shape;914;p30"/>
          <p:cNvSpPr/>
          <p:nvPr/>
        </p:nvSpPr>
        <p:spPr>
          <a:xfrm>
            <a:off x="548640" y="4434840"/>
            <a:ext cx="11091672" cy="1783080"/>
          </a:xfrm>
          <a:prstGeom prst="roundRect">
            <a:avLst>
              <a:gd name="adj" fmla="val 307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0"/>
          <p:cNvSpPr/>
          <p:nvPr/>
        </p:nvSpPr>
        <p:spPr>
          <a:xfrm>
            <a:off x="868680" y="4645152"/>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400"/>
              <a:buFont typeface="Arial"/>
              <a:buNone/>
            </a:pPr>
            <a:r>
              <a:rPr lang="en-US" sz="1400" b="1" i="0" u="none" strike="noStrike" cap="none">
                <a:solidFill>
                  <a:srgbClr val="00A896"/>
                </a:solidFill>
                <a:latin typeface="Arial"/>
                <a:ea typeface="Arial"/>
                <a:cs typeface="Arial"/>
                <a:sym typeface="Arial"/>
              </a:rPr>
              <a:t>Hội tụ (Ngày 4–5): ghép dual-system, chạy thử, sync nhóm SIM</a:t>
            </a:r>
            <a:endParaRPr sz="1400" b="0" i="0" u="none" strike="noStrike" cap="none">
              <a:solidFill>
                <a:schemeClr val="dk1"/>
              </a:solidFill>
              <a:latin typeface="Calibri"/>
              <a:ea typeface="Calibri"/>
              <a:cs typeface="Calibri"/>
              <a:sym typeface="Calibri"/>
            </a:endParaRPr>
          </a:p>
        </p:txBody>
      </p:sp>
      <p:sp>
        <p:nvSpPr>
          <p:cNvPr id="916" name="Google Shape;916;p30"/>
          <p:cNvSpPr/>
          <p:nvPr/>
        </p:nvSpPr>
        <p:spPr>
          <a:xfrm>
            <a:off x="868680" y="4983480"/>
            <a:ext cx="10424160" cy="82296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Bước kế tiếp chung: closed-loop SR/SPL trên Habitat/Isaac (server ≥24GB).</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KIẾN TRÚC</a:t>
            </a:r>
            <a:endParaRPr sz="1050" b="0" i="0" u="none" strike="noStrike" cap="none">
              <a:solidFill>
                <a:schemeClr val="dk1"/>
              </a:solidFill>
              <a:latin typeface="Calibri"/>
              <a:ea typeface="Calibri"/>
              <a:cs typeface="Calibri"/>
              <a:sym typeface="Calibri"/>
            </a:endParaRPr>
          </a:p>
        </p:txBody>
      </p:sp>
      <p:sp>
        <p:nvSpPr>
          <p:cNvPr id="98" name="Google Shape;98;p6"/>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Dual-system: ground slow, move fast</a:t>
            </a:r>
            <a:endParaRPr sz="2500" b="0" i="0" u="none" strike="noStrike" cap="none">
              <a:solidFill>
                <a:schemeClr val="dk1"/>
              </a:solidFill>
              <a:latin typeface="Calibri"/>
              <a:ea typeface="Calibri"/>
              <a:cs typeface="Calibri"/>
              <a:sym typeface="Calibri"/>
            </a:endParaRPr>
          </a:p>
        </p:txBody>
      </p:sp>
      <p:sp>
        <p:nvSpPr>
          <p:cNvPr id="99" name="Google Shape;99;p6"/>
          <p:cNvSpPr/>
          <p:nvPr/>
        </p:nvSpPr>
        <p:spPr>
          <a:xfrm>
            <a:off x="548640" y="187452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3504" y="187452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Instruction</a:t>
            </a:r>
            <a:endParaRPr sz="1100" b="0" i="0" u="none" strike="noStrike" cap="none">
              <a:solidFill>
                <a:schemeClr val="dk1"/>
              </a:solidFill>
              <a:latin typeface="Calibri"/>
              <a:ea typeface="Calibri"/>
              <a:cs typeface="Calibri"/>
              <a:sym typeface="Calibri"/>
            </a:endParaRPr>
          </a:p>
        </p:txBody>
      </p:sp>
      <p:sp>
        <p:nvSpPr>
          <p:cNvPr id="101" name="Google Shape;101;p6"/>
          <p:cNvSpPr/>
          <p:nvPr/>
        </p:nvSpPr>
        <p:spPr>
          <a:xfrm>
            <a:off x="548640" y="269748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603504" y="269748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RGB history</a:t>
            </a:r>
            <a:endParaRPr sz="1100" b="0" i="0" u="none" strike="noStrike" cap="none">
              <a:solidFill>
                <a:schemeClr val="dk1"/>
              </a:solidFill>
              <a:latin typeface="Calibri"/>
              <a:ea typeface="Calibri"/>
              <a:cs typeface="Calibri"/>
              <a:sym typeface="Calibri"/>
            </a:endParaRPr>
          </a:p>
        </p:txBody>
      </p:sp>
      <p:sp>
        <p:nvSpPr>
          <p:cNvPr id="103" name="Google Shape;103;p6"/>
          <p:cNvSpPr/>
          <p:nvPr/>
        </p:nvSpPr>
        <p:spPr>
          <a:xfrm>
            <a:off x="548640" y="416052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603504" y="416052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RGB-D hiện tại</a:t>
            </a:r>
            <a:endParaRPr sz="1100" b="0" i="0" u="none" strike="noStrike" cap="none">
              <a:solidFill>
                <a:schemeClr val="dk1"/>
              </a:solidFill>
              <a:latin typeface="Calibri"/>
              <a:ea typeface="Calibri"/>
              <a:cs typeface="Calibri"/>
              <a:sym typeface="Calibri"/>
            </a:endParaRPr>
          </a:p>
        </p:txBody>
      </p:sp>
      <p:sp>
        <p:nvSpPr>
          <p:cNvPr id="105" name="Google Shape;105;p6"/>
          <p:cNvSpPr/>
          <p:nvPr/>
        </p:nvSpPr>
        <p:spPr>
          <a:xfrm>
            <a:off x="2834640" y="1993392"/>
            <a:ext cx="2514600" cy="1143000"/>
          </a:xfrm>
          <a:prstGeom prst="roundRect">
            <a:avLst>
              <a:gd name="adj" fmla="val 4000"/>
            </a:avLst>
          </a:prstGeom>
          <a:solidFill>
            <a:srgbClr val="EDF4F4"/>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2889504" y="2281428"/>
            <a:ext cx="24048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300"/>
              <a:buFont typeface="Arial"/>
              <a:buNone/>
            </a:pPr>
            <a:r>
              <a:rPr lang="en-US" sz="1300" b="1" i="0" u="none" strike="noStrike" cap="none">
                <a:solidFill>
                  <a:srgbClr val="1B2B31"/>
                </a:solidFill>
                <a:latin typeface="Arial"/>
                <a:ea typeface="Arial"/>
                <a:cs typeface="Arial"/>
                <a:sym typeface="Arial"/>
              </a:rPr>
              <a:t>System 2 — slow</a:t>
            </a:r>
            <a:endParaRPr sz="1300" b="0" i="0" u="none" strike="noStrike" cap="none">
              <a:solidFill>
                <a:schemeClr val="dk1"/>
              </a:solidFill>
              <a:latin typeface="Calibri"/>
              <a:ea typeface="Calibri"/>
              <a:cs typeface="Calibri"/>
              <a:sym typeface="Calibri"/>
            </a:endParaRPr>
          </a:p>
        </p:txBody>
      </p:sp>
      <p:sp>
        <p:nvSpPr>
          <p:cNvPr id="107" name="Google Shape;107;p6"/>
          <p:cNvSpPr/>
          <p:nvPr/>
        </p:nvSpPr>
        <p:spPr>
          <a:xfrm>
            <a:off x="2889504" y="2555748"/>
            <a:ext cx="24048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Qwen2.5-VL 7B</a:t>
            </a:r>
            <a:endParaRPr sz="1000" b="0" i="0" u="none" strike="noStrike" cap="none">
              <a:solidFill>
                <a:schemeClr val="dk1"/>
              </a:solidFill>
              <a:latin typeface="Calibri"/>
              <a:ea typeface="Calibri"/>
              <a:cs typeface="Calibri"/>
              <a:sym typeface="Calibri"/>
            </a:endParaRPr>
          </a:p>
        </p:txBody>
      </p:sp>
      <p:sp>
        <p:nvSpPr>
          <p:cNvPr id="108" name="Google Shape;108;p6"/>
          <p:cNvSpPr/>
          <p:nvPr/>
        </p:nvSpPr>
        <p:spPr>
          <a:xfrm>
            <a:off x="2834640" y="3913632"/>
            <a:ext cx="2514600" cy="1143000"/>
          </a:xfrm>
          <a:prstGeom prst="roundRect">
            <a:avLst>
              <a:gd name="adj" fmla="val 4000"/>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2889504" y="4201668"/>
            <a:ext cx="24048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300"/>
              <a:buFont typeface="Arial"/>
              <a:buNone/>
            </a:pPr>
            <a:r>
              <a:rPr lang="en-US" sz="1300" b="1" i="0" u="none" strike="noStrike" cap="none">
                <a:solidFill>
                  <a:srgbClr val="1B2B31"/>
                </a:solidFill>
                <a:latin typeface="Arial"/>
                <a:ea typeface="Arial"/>
                <a:cs typeface="Arial"/>
                <a:sym typeface="Arial"/>
              </a:rPr>
              <a:t>System 1 — fast</a:t>
            </a:r>
            <a:endParaRPr sz="1300" b="0" i="0" u="none" strike="noStrike" cap="none">
              <a:solidFill>
                <a:schemeClr val="dk1"/>
              </a:solidFill>
              <a:latin typeface="Calibri"/>
              <a:ea typeface="Calibri"/>
              <a:cs typeface="Calibri"/>
              <a:sym typeface="Calibri"/>
            </a:endParaRPr>
          </a:p>
        </p:txBody>
      </p:sp>
      <p:sp>
        <p:nvSpPr>
          <p:cNvPr id="110" name="Google Shape;110;p6"/>
          <p:cNvSpPr/>
          <p:nvPr/>
        </p:nvSpPr>
        <p:spPr>
          <a:xfrm>
            <a:off x="2889504" y="4475988"/>
            <a:ext cx="24048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NavDP diffusion policy</a:t>
            </a:r>
            <a:endParaRPr sz="1000" b="0" i="0" u="none" strike="noStrike" cap="none">
              <a:solidFill>
                <a:schemeClr val="dk1"/>
              </a:solidFill>
              <a:latin typeface="Calibri"/>
              <a:ea typeface="Calibri"/>
              <a:cs typeface="Calibri"/>
              <a:sym typeface="Calibri"/>
            </a:endParaRPr>
          </a:p>
        </p:txBody>
      </p:sp>
      <p:cxnSp>
        <p:nvCxnSpPr>
          <p:cNvPr id="111" name="Google Shape;111;p6"/>
          <p:cNvCxnSpPr/>
          <p:nvPr/>
        </p:nvCxnSpPr>
        <p:spPr>
          <a:xfrm>
            <a:off x="2148840" y="215798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2" name="Google Shape;112;p6"/>
          <p:cNvCxnSpPr/>
          <p:nvPr/>
        </p:nvCxnSpPr>
        <p:spPr>
          <a:xfrm>
            <a:off x="2148840" y="298094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3" name="Google Shape;113;p6"/>
          <p:cNvCxnSpPr/>
          <p:nvPr/>
        </p:nvCxnSpPr>
        <p:spPr>
          <a:xfrm>
            <a:off x="2148840" y="444398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4" name="Google Shape;114;p6"/>
          <p:cNvCxnSpPr/>
          <p:nvPr/>
        </p:nvCxnSpPr>
        <p:spPr>
          <a:xfrm>
            <a:off x="3310128" y="3136392"/>
            <a:ext cx="0" cy="749808"/>
          </a:xfrm>
          <a:prstGeom prst="straightConnector1">
            <a:avLst/>
          </a:prstGeom>
          <a:noFill/>
          <a:ln w="15875" cap="flat" cmpd="sng">
            <a:solidFill>
              <a:srgbClr val="028090"/>
            </a:solidFill>
            <a:prstDash val="solid"/>
            <a:round/>
            <a:headEnd type="none" w="sm" len="sm"/>
            <a:tailEnd type="triangle" w="med" len="med"/>
          </a:ln>
        </p:spPr>
      </p:cxnSp>
      <p:sp>
        <p:nvSpPr>
          <p:cNvPr id="115" name="Google Shape;115;p6"/>
          <p:cNvSpPr/>
          <p:nvPr/>
        </p:nvSpPr>
        <p:spPr>
          <a:xfrm>
            <a:off x="3520440" y="3364992"/>
            <a:ext cx="21031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900"/>
              <a:buFont typeface="Arial"/>
              <a:buNone/>
            </a:pPr>
            <a:r>
              <a:rPr lang="en-US" sz="900" b="1" i="0" u="none" strike="noStrike" cap="none">
                <a:solidFill>
                  <a:srgbClr val="028090"/>
                </a:solidFill>
                <a:latin typeface="Arial"/>
                <a:ea typeface="Arial"/>
                <a:cs typeface="Arial"/>
                <a:sym typeface="Arial"/>
              </a:rPr>
              <a:t>pixel goal + latent plan</a:t>
            </a:r>
            <a:endParaRPr sz="900" b="0" i="0" u="none" strike="noStrike" cap="none">
              <a:solidFill>
                <a:schemeClr val="dk1"/>
              </a:solidFill>
              <a:latin typeface="Calibri"/>
              <a:ea typeface="Calibri"/>
              <a:cs typeface="Calibri"/>
              <a:sym typeface="Calibri"/>
            </a:endParaRPr>
          </a:p>
        </p:txBody>
      </p:sp>
      <p:sp>
        <p:nvSpPr>
          <p:cNvPr id="116" name="Google Shape;116;p6"/>
          <p:cNvSpPr/>
          <p:nvPr/>
        </p:nvSpPr>
        <p:spPr>
          <a:xfrm>
            <a:off x="6035040" y="1993392"/>
            <a:ext cx="228600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6089904" y="199339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STOP / discrete action</a:t>
            </a:r>
            <a:endParaRPr sz="1000" b="0" i="0" u="none" strike="noStrike" cap="none">
              <a:solidFill>
                <a:schemeClr val="dk1"/>
              </a:solidFill>
              <a:latin typeface="Calibri"/>
              <a:ea typeface="Calibri"/>
              <a:cs typeface="Calibri"/>
              <a:sym typeface="Calibri"/>
            </a:endParaRPr>
          </a:p>
        </p:txBody>
      </p:sp>
      <p:cxnSp>
        <p:nvCxnSpPr>
          <p:cNvPr id="118" name="Google Shape;118;p6"/>
          <p:cNvCxnSpPr/>
          <p:nvPr/>
        </p:nvCxnSpPr>
        <p:spPr>
          <a:xfrm>
            <a:off x="5349240" y="2276856"/>
            <a:ext cx="640080" cy="0"/>
          </a:xfrm>
          <a:prstGeom prst="straightConnector1">
            <a:avLst/>
          </a:prstGeom>
          <a:noFill/>
          <a:ln w="15875" cap="flat" cmpd="sng">
            <a:solidFill>
              <a:srgbClr val="028090"/>
            </a:solidFill>
            <a:prstDash val="solid"/>
            <a:round/>
            <a:headEnd type="none" w="sm" len="sm"/>
            <a:tailEnd type="triangle" w="med" len="med"/>
          </a:ln>
        </p:spPr>
      </p:cxnSp>
      <p:sp>
        <p:nvSpPr>
          <p:cNvPr id="119" name="Google Shape;119;p6"/>
          <p:cNvSpPr/>
          <p:nvPr/>
        </p:nvSpPr>
        <p:spPr>
          <a:xfrm>
            <a:off x="6035040" y="3913632"/>
            <a:ext cx="2286000" cy="566928"/>
          </a:xfrm>
          <a:prstGeom prst="roundRect">
            <a:avLst>
              <a:gd name="adj" fmla="val 8065"/>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6089904" y="391363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K quỹ đạo ứng viên</a:t>
            </a:r>
            <a:endParaRPr sz="1000" b="0" i="0" u="none" strike="noStrike" cap="none">
              <a:solidFill>
                <a:schemeClr val="dk1"/>
              </a:solidFill>
              <a:latin typeface="Calibri"/>
              <a:ea typeface="Calibri"/>
              <a:cs typeface="Calibri"/>
              <a:sym typeface="Calibri"/>
            </a:endParaRPr>
          </a:p>
        </p:txBody>
      </p:sp>
      <p:sp>
        <p:nvSpPr>
          <p:cNvPr id="121" name="Google Shape;121;p6"/>
          <p:cNvSpPr/>
          <p:nvPr/>
        </p:nvSpPr>
        <p:spPr>
          <a:xfrm>
            <a:off x="6035040" y="4736592"/>
            <a:ext cx="2286000" cy="566928"/>
          </a:xfrm>
          <a:prstGeom prst="roundRect">
            <a:avLst>
              <a:gd name="adj" fmla="val 8065"/>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6089904" y="473659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Trajectory post-processing</a:t>
            </a:r>
            <a:endParaRPr sz="1000" b="0" i="0" u="none" strike="noStrike" cap="none">
              <a:solidFill>
                <a:schemeClr val="dk1"/>
              </a:solidFill>
              <a:latin typeface="Calibri"/>
              <a:ea typeface="Calibri"/>
              <a:cs typeface="Calibri"/>
              <a:sym typeface="Calibri"/>
            </a:endParaRPr>
          </a:p>
        </p:txBody>
      </p:sp>
      <p:cxnSp>
        <p:nvCxnSpPr>
          <p:cNvPr id="123" name="Google Shape;123;p6"/>
          <p:cNvCxnSpPr/>
          <p:nvPr/>
        </p:nvCxnSpPr>
        <p:spPr>
          <a:xfrm>
            <a:off x="5349240" y="4197096"/>
            <a:ext cx="640080" cy="0"/>
          </a:xfrm>
          <a:prstGeom prst="straightConnector1">
            <a:avLst/>
          </a:prstGeom>
          <a:noFill/>
          <a:ln w="15875" cap="flat" cmpd="sng">
            <a:solidFill>
              <a:srgbClr val="D98324"/>
            </a:solidFill>
            <a:prstDash val="solid"/>
            <a:round/>
            <a:headEnd type="none" w="sm" len="sm"/>
            <a:tailEnd type="triangle" w="med" len="med"/>
          </a:ln>
        </p:spPr>
      </p:cxnSp>
      <p:cxnSp>
        <p:nvCxnSpPr>
          <p:cNvPr id="124" name="Google Shape;124;p6"/>
          <p:cNvCxnSpPr/>
          <p:nvPr/>
        </p:nvCxnSpPr>
        <p:spPr>
          <a:xfrm>
            <a:off x="7178040" y="4480560"/>
            <a:ext cx="0" cy="219456"/>
          </a:xfrm>
          <a:prstGeom prst="straightConnector1">
            <a:avLst/>
          </a:prstGeom>
          <a:noFill/>
          <a:ln w="15875" cap="flat" cmpd="sng">
            <a:solidFill>
              <a:srgbClr val="D98324"/>
            </a:solidFill>
            <a:prstDash val="solid"/>
            <a:round/>
            <a:headEnd type="none" w="sm" len="sm"/>
            <a:tailEnd type="triangle" w="med" len="med"/>
          </a:ln>
        </p:spPr>
      </p:cxnSp>
      <p:sp>
        <p:nvSpPr>
          <p:cNvPr id="125" name="Google Shape;125;p6"/>
          <p:cNvSpPr/>
          <p:nvPr/>
        </p:nvSpPr>
        <p:spPr>
          <a:xfrm>
            <a:off x="9052560" y="3154680"/>
            <a:ext cx="2194560" cy="868680"/>
          </a:xfrm>
          <a:prstGeom prst="roundRect">
            <a:avLst>
              <a:gd name="adj" fmla="val 5263"/>
            </a:avLst>
          </a:prstGeom>
          <a:solidFill>
            <a:srgbClr val="12262D"/>
          </a:solidFill>
          <a:ln w="1395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6"/>
          <p:cNvSpPr/>
          <p:nvPr/>
        </p:nvSpPr>
        <p:spPr>
          <a:xfrm>
            <a:off x="9107424" y="3305556"/>
            <a:ext cx="208483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FFFFFF"/>
              </a:buClr>
              <a:buSzPts val="1200"/>
              <a:buFont typeface="Arial"/>
              <a:buNone/>
            </a:pPr>
            <a:r>
              <a:rPr lang="en-US" sz="1200" b="1" i="0" u="none" strike="noStrike" cap="none">
                <a:solidFill>
                  <a:srgbClr val="FFFFFF"/>
                </a:solidFill>
                <a:latin typeface="Arial"/>
                <a:ea typeface="Arial"/>
                <a:cs typeface="Arial"/>
                <a:sym typeface="Arial"/>
              </a:rPr>
              <a:t>Environment action</a:t>
            </a:r>
            <a:endParaRPr sz="1200" b="0" i="0" u="none" strike="noStrike" cap="none">
              <a:solidFill>
                <a:schemeClr val="dk1"/>
              </a:solidFill>
              <a:latin typeface="Calibri"/>
              <a:ea typeface="Calibri"/>
              <a:cs typeface="Calibri"/>
              <a:sym typeface="Calibri"/>
            </a:endParaRPr>
          </a:p>
        </p:txBody>
      </p:sp>
      <p:sp>
        <p:nvSpPr>
          <p:cNvPr id="127" name="Google Shape;127;p6"/>
          <p:cNvSpPr/>
          <p:nvPr/>
        </p:nvSpPr>
        <p:spPr>
          <a:xfrm>
            <a:off x="9107424" y="3579876"/>
            <a:ext cx="208483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9FBEC2"/>
              </a:buClr>
              <a:buSzPts val="900"/>
              <a:buFont typeface="Arial"/>
              <a:buNone/>
            </a:pPr>
            <a:r>
              <a:rPr lang="en-US" sz="900" b="0" i="0" u="none" strike="noStrike" cap="none">
                <a:solidFill>
                  <a:srgbClr val="9FBEC2"/>
                </a:solidFill>
                <a:latin typeface="Arial"/>
                <a:ea typeface="Arial"/>
                <a:cs typeface="Arial"/>
                <a:sym typeface="Arial"/>
              </a:rPr>
              <a:t>robot thực thi</a:t>
            </a:r>
            <a:endParaRPr sz="900" b="0" i="0" u="none" strike="noStrike" cap="none">
              <a:solidFill>
                <a:schemeClr val="dk1"/>
              </a:solidFill>
              <a:latin typeface="Calibri"/>
              <a:ea typeface="Calibri"/>
              <a:cs typeface="Calibri"/>
              <a:sym typeface="Calibri"/>
            </a:endParaRPr>
          </a:p>
        </p:txBody>
      </p:sp>
      <p:cxnSp>
        <p:nvCxnSpPr>
          <p:cNvPr id="128" name="Google Shape;128;p6"/>
          <p:cNvCxnSpPr/>
          <p:nvPr/>
        </p:nvCxnSpPr>
        <p:spPr>
          <a:xfrm>
            <a:off x="8321040" y="2276856"/>
            <a:ext cx="502920" cy="0"/>
          </a:xfrm>
          <a:prstGeom prst="straightConnector1">
            <a:avLst/>
          </a:prstGeom>
          <a:noFill/>
          <a:ln w="15875" cap="flat" cmpd="sng">
            <a:solidFill>
              <a:srgbClr val="028090"/>
            </a:solidFill>
            <a:prstDash val="solid"/>
            <a:round/>
            <a:headEnd type="none" w="sm" len="sm"/>
            <a:tailEnd type="none" w="sm" len="sm"/>
          </a:ln>
        </p:spPr>
      </p:cxnSp>
      <p:cxnSp>
        <p:nvCxnSpPr>
          <p:cNvPr id="129" name="Google Shape;129;p6"/>
          <p:cNvCxnSpPr/>
          <p:nvPr/>
        </p:nvCxnSpPr>
        <p:spPr>
          <a:xfrm>
            <a:off x="8823960" y="2276856"/>
            <a:ext cx="0" cy="1316736"/>
          </a:xfrm>
          <a:prstGeom prst="straightConnector1">
            <a:avLst/>
          </a:prstGeom>
          <a:noFill/>
          <a:ln w="15875" cap="flat" cmpd="sng">
            <a:solidFill>
              <a:srgbClr val="028090"/>
            </a:solidFill>
            <a:prstDash val="solid"/>
            <a:round/>
            <a:headEnd type="none" w="sm" len="sm"/>
            <a:tailEnd type="none" w="sm" len="sm"/>
          </a:ln>
        </p:spPr>
      </p:cxnSp>
      <p:cxnSp>
        <p:nvCxnSpPr>
          <p:cNvPr id="130" name="Google Shape;130;p6"/>
          <p:cNvCxnSpPr/>
          <p:nvPr/>
        </p:nvCxnSpPr>
        <p:spPr>
          <a:xfrm>
            <a:off x="8321040" y="5020056"/>
            <a:ext cx="502920" cy="0"/>
          </a:xfrm>
          <a:prstGeom prst="straightConnector1">
            <a:avLst/>
          </a:prstGeom>
          <a:noFill/>
          <a:ln w="15875" cap="flat" cmpd="sng">
            <a:solidFill>
              <a:srgbClr val="D98324"/>
            </a:solidFill>
            <a:prstDash val="solid"/>
            <a:round/>
            <a:headEnd type="none" w="sm" len="sm"/>
            <a:tailEnd type="none" w="sm" len="sm"/>
          </a:ln>
        </p:spPr>
      </p:cxnSp>
      <p:cxnSp>
        <p:nvCxnSpPr>
          <p:cNvPr id="131" name="Google Shape;131;p6"/>
          <p:cNvCxnSpPr/>
          <p:nvPr/>
        </p:nvCxnSpPr>
        <p:spPr>
          <a:xfrm>
            <a:off x="8823960" y="3593592"/>
            <a:ext cx="0" cy="1426464"/>
          </a:xfrm>
          <a:prstGeom prst="straightConnector1">
            <a:avLst/>
          </a:prstGeom>
          <a:noFill/>
          <a:ln w="15875" cap="flat" cmpd="sng">
            <a:solidFill>
              <a:srgbClr val="D98324"/>
            </a:solidFill>
            <a:prstDash val="solid"/>
            <a:round/>
            <a:headEnd type="none" w="sm" len="sm"/>
            <a:tailEnd type="none" w="sm" len="sm"/>
          </a:ln>
        </p:spPr>
      </p:cxnSp>
      <p:cxnSp>
        <p:nvCxnSpPr>
          <p:cNvPr id="132" name="Google Shape;132;p6"/>
          <p:cNvCxnSpPr/>
          <p:nvPr/>
        </p:nvCxnSpPr>
        <p:spPr>
          <a:xfrm>
            <a:off x="8823960" y="3593592"/>
            <a:ext cx="228600" cy="0"/>
          </a:xfrm>
          <a:prstGeom prst="straightConnector1">
            <a:avLst/>
          </a:prstGeom>
          <a:noFill/>
          <a:ln w="15875" cap="flat" cmpd="sng">
            <a:solidFill>
              <a:srgbClr val="12262D"/>
            </a:solidFill>
            <a:prstDash val="solid"/>
            <a:round/>
            <a:headEnd type="none" w="sm" len="sm"/>
            <a:tailEnd type="triangle" w="med" len="med"/>
          </a:ln>
        </p:spPr>
      </p:cxnSp>
      <p:sp>
        <p:nvSpPr>
          <p:cNvPr id="133" name="Google Shape;133;p6"/>
          <p:cNvSpPr/>
          <p:nvPr/>
        </p:nvSpPr>
        <p:spPr>
          <a:xfrm>
            <a:off x="548640" y="5623560"/>
            <a:ext cx="11091672" cy="777240"/>
          </a:xfrm>
          <a:prstGeom prst="roundRect">
            <a:avLst>
              <a:gd name="adj" fmla="val 705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822960" y="5623560"/>
            <a:ext cx="10543032" cy="77724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028090"/>
              </a:buClr>
              <a:buSzPts val="1200"/>
              <a:buFont typeface="Arial"/>
              <a:buNone/>
            </a:pPr>
            <a:r>
              <a:rPr lang="en-US" sz="1200" b="1" i="0" u="none" strike="noStrike" cap="none">
                <a:solidFill>
                  <a:srgbClr val="028090"/>
                </a:solidFill>
                <a:latin typeface="Arial"/>
                <a:ea typeface="Arial"/>
                <a:cs typeface="Arial"/>
                <a:sym typeface="Arial"/>
              </a:rPr>
              <a:t>Điểm cốt lõi:  </a:t>
            </a:r>
            <a:r>
              <a:rPr lang="en-US" sz="1200" b="0" i="0" u="none" strike="noStrike" cap="none">
                <a:solidFill>
                  <a:srgbClr val="1B2B31"/>
                </a:solidFill>
                <a:latin typeface="Arial"/>
                <a:ea typeface="Arial"/>
                <a:cs typeface="Arial"/>
                <a:sym typeface="Arial"/>
              </a:rPr>
              <a:t>trong dual-system, S2 không chỉ trả về một câu chữ hay một toạ độ pixel. Nó sinh ra latent plan — biểu diễn học được của “đi đâu tiếp theo”. NavDP nhận latent đó làm goal condition, chứ không phải một điểm (x, y, theta) dạng số.</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24"/>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ĐIỂM GHÉP</a:t>
            </a:r>
            <a:endParaRPr sz="1050" b="0" i="0" u="none" strike="noStrike" cap="none">
              <a:solidFill>
                <a:schemeClr val="dk1"/>
              </a:solidFill>
              <a:latin typeface="Calibri"/>
              <a:ea typeface="Calibri"/>
              <a:cs typeface="Calibri"/>
              <a:sym typeface="Calibri"/>
            </a:endParaRPr>
          </a:p>
        </p:txBody>
      </p:sp>
      <p:sp>
        <p:nvSpPr>
          <p:cNvPr id="683" name="Google Shape;683;p24"/>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Learned latent queries: latent plan được tạo ra thế nào</a:t>
            </a:r>
            <a:endParaRPr sz="2500" b="0" i="0" u="none" strike="noStrike" cap="none">
              <a:solidFill>
                <a:schemeClr val="dk1"/>
              </a:solidFill>
              <a:latin typeface="Calibri"/>
              <a:ea typeface="Calibri"/>
              <a:cs typeface="Calibri"/>
              <a:sym typeface="Calibri"/>
            </a:endParaRPr>
          </a:p>
        </p:txBody>
      </p:sp>
      <p:sp>
        <p:nvSpPr>
          <p:cNvPr id="684" name="Google Shape;684;p24"/>
          <p:cNvSpPr/>
          <p:nvPr/>
        </p:nvSpPr>
        <p:spPr>
          <a:xfrm>
            <a:off x="548640" y="1463040"/>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4"/>
          <p:cNvSpPr/>
          <p:nvPr/>
        </p:nvSpPr>
        <p:spPr>
          <a:xfrm>
            <a:off x="749808" y="1463040"/>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Instruction tokens</a:t>
            </a:r>
            <a:endParaRPr sz="1150" b="0" i="0" u="none" strike="noStrike" cap="none">
              <a:solidFill>
                <a:schemeClr val="dk1"/>
              </a:solidFill>
              <a:latin typeface="Calibri"/>
              <a:ea typeface="Calibri"/>
              <a:cs typeface="Calibri"/>
              <a:sym typeface="Calibri"/>
            </a:endParaRPr>
          </a:p>
        </p:txBody>
      </p:sp>
      <p:sp>
        <p:nvSpPr>
          <p:cNvPr id="686" name="Google Shape;686;p24"/>
          <p:cNvSpPr/>
          <p:nvPr/>
        </p:nvSpPr>
        <p:spPr>
          <a:xfrm>
            <a:off x="548640" y="2121408"/>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4"/>
          <p:cNvSpPr/>
          <p:nvPr/>
        </p:nvSpPr>
        <p:spPr>
          <a:xfrm>
            <a:off x="749808" y="2121408"/>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History + current image tokens</a:t>
            </a:r>
            <a:endParaRPr sz="1150" b="0" i="0" u="none" strike="noStrike" cap="none">
              <a:solidFill>
                <a:schemeClr val="dk1"/>
              </a:solidFill>
              <a:latin typeface="Calibri"/>
              <a:ea typeface="Calibri"/>
              <a:cs typeface="Calibri"/>
              <a:sym typeface="Calibri"/>
            </a:endParaRPr>
          </a:p>
        </p:txBody>
      </p:sp>
      <p:sp>
        <p:nvSpPr>
          <p:cNvPr id="688" name="Google Shape;688;p24"/>
          <p:cNvSpPr/>
          <p:nvPr/>
        </p:nvSpPr>
        <p:spPr>
          <a:xfrm>
            <a:off x="548640" y="2779776"/>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4"/>
          <p:cNvSpPr/>
          <p:nvPr/>
        </p:nvSpPr>
        <p:spPr>
          <a:xfrm>
            <a:off x="749808" y="2779776"/>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Generated pixel-goal text</a:t>
            </a:r>
            <a:endParaRPr sz="1150" b="0" i="0" u="none" strike="noStrike" cap="none">
              <a:solidFill>
                <a:schemeClr val="dk1"/>
              </a:solidFill>
              <a:latin typeface="Calibri"/>
              <a:ea typeface="Calibri"/>
              <a:cs typeface="Calibri"/>
              <a:sym typeface="Calibri"/>
            </a:endParaRPr>
          </a:p>
        </p:txBody>
      </p:sp>
      <p:sp>
        <p:nvSpPr>
          <p:cNvPr id="690" name="Google Shape;690;p24"/>
          <p:cNvSpPr/>
          <p:nvPr/>
        </p:nvSpPr>
        <p:spPr>
          <a:xfrm>
            <a:off x="548640" y="3438144"/>
            <a:ext cx="3931920" cy="548640"/>
          </a:xfrm>
          <a:prstGeom prst="roundRect">
            <a:avLst>
              <a:gd name="adj" fmla="val 10000"/>
            </a:avLst>
          </a:prstGeom>
          <a:solidFill>
            <a:srgbClr val="FBF1E5"/>
          </a:solidFill>
          <a:ln w="190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4"/>
          <p:cNvSpPr/>
          <p:nvPr/>
        </p:nvSpPr>
        <p:spPr>
          <a:xfrm>
            <a:off x="749808" y="3438144"/>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50"/>
              <a:buFont typeface="Arial"/>
              <a:buNone/>
            </a:pPr>
            <a:r>
              <a:rPr lang="en-US" sz="1150" b="1" i="0" u="none" strike="noStrike" cap="none">
                <a:solidFill>
                  <a:srgbClr val="D98324"/>
                </a:solidFill>
                <a:latin typeface="Arial"/>
                <a:ea typeface="Arial"/>
                <a:cs typeface="Arial"/>
                <a:sym typeface="Arial"/>
              </a:rPr>
              <a:t>Learned latent_queries</a:t>
            </a:r>
            <a:endParaRPr sz="1150" b="0" i="0" u="none" strike="noStrike" cap="none">
              <a:solidFill>
                <a:schemeClr val="dk1"/>
              </a:solidFill>
              <a:latin typeface="Calibri"/>
              <a:ea typeface="Calibri"/>
              <a:cs typeface="Calibri"/>
              <a:sym typeface="Calibri"/>
            </a:endParaRPr>
          </a:p>
        </p:txBody>
      </p:sp>
      <p:sp>
        <p:nvSpPr>
          <p:cNvPr id="692" name="Google Shape;692;p24"/>
          <p:cNvSpPr/>
          <p:nvPr/>
        </p:nvSpPr>
        <p:spPr>
          <a:xfrm>
            <a:off x="749808" y="402336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050"/>
              <a:buFont typeface="Courier New"/>
              <a:buNone/>
            </a:pPr>
            <a:r>
              <a:rPr lang="en-US" sz="1050" b="0" i="0" u="none" strike="noStrike" cap="none">
                <a:solidFill>
                  <a:srgbClr val="5C6E73"/>
                </a:solidFill>
                <a:latin typeface="Courier New"/>
                <a:ea typeface="Courier New"/>
                <a:cs typeface="Courier New"/>
                <a:sym typeface="Courier New"/>
              </a:rPr>
              <a:t>[1, n_query, hidden_size]</a:t>
            </a:r>
            <a:endParaRPr sz="1050" b="0" i="0" u="none" strike="noStrike" cap="none">
              <a:solidFill>
                <a:schemeClr val="dk1"/>
              </a:solidFill>
              <a:latin typeface="Calibri"/>
              <a:ea typeface="Calibri"/>
              <a:cs typeface="Calibri"/>
              <a:sym typeface="Calibri"/>
            </a:endParaRPr>
          </a:p>
        </p:txBody>
      </p:sp>
      <p:cxnSp>
        <p:nvCxnSpPr>
          <p:cNvPr id="693" name="Google Shape;693;p24"/>
          <p:cNvCxnSpPr/>
          <p:nvPr/>
        </p:nvCxnSpPr>
        <p:spPr>
          <a:xfrm>
            <a:off x="4480560" y="1737360"/>
            <a:ext cx="411480" cy="0"/>
          </a:xfrm>
          <a:prstGeom prst="straightConnector1">
            <a:avLst/>
          </a:prstGeom>
          <a:noFill/>
          <a:ln w="13950" cap="flat" cmpd="sng">
            <a:solidFill>
              <a:srgbClr val="028090"/>
            </a:solidFill>
            <a:prstDash val="solid"/>
            <a:round/>
            <a:headEnd type="none" w="sm" len="sm"/>
            <a:tailEnd type="none" w="sm" len="sm"/>
          </a:ln>
        </p:spPr>
      </p:cxnSp>
      <p:cxnSp>
        <p:nvCxnSpPr>
          <p:cNvPr id="694" name="Google Shape;694;p24"/>
          <p:cNvCxnSpPr/>
          <p:nvPr/>
        </p:nvCxnSpPr>
        <p:spPr>
          <a:xfrm>
            <a:off x="4480560" y="2395728"/>
            <a:ext cx="411480" cy="0"/>
          </a:xfrm>
          <a:prstGeom prst="straightConnector1">
            <a:avLst/>
          </a:prstGeom>
          <a:noFill/>
          <a:ln w="13950" cap="flat" cmpd="sng">
            <a:solidFill>
              <a:srgbClr val="028090"/>
            </a:solidFill>
            <a:prstDash val="solid"/>
            <a:round/>
            <a:headEnd type="none" w="sm" len="sm"/>
            <a:tailEnd type="none" w="sm" len="sm"/>
          </a:ln>
        </p:spPr>
      </p:cxnSp>
      <p:cxnSp>
        <p:nvCxnSpPr>
          <p:cNvPr id="695" name="Google Shape;695;p24"/>
          <p:cNvCxnSpPr/>
          <p:nvPr/>
        </p:nvCxnSpPr>
        <p:spPr>
          <a:xfrm>
            <a:off x="4480560" y="3054096"/>
            <a:ext cx="411480" cy="0"/>
          </a:xfrm>
          <a:prstGeom prst="straightConnector1">
            <a:avLst/>
          </a:prstGeom>
          <a:noFill/>
          <a:ln w="13950" cap="flat" cmpd="sng">
            <a:solidFill>
              <a:srgbClr val="028090"/>
            </a:solidFill>
            <a:prstDash val="solid"/>
            <a:round/>
            <a:headEnd type="none" w="sm" len="sm"/>
            <a:tailEnd type="none" w="sm" len="sm"/>
          </a:ln>
        </p:spPr>
      </p:cxnSp>
      <p:cxnSp>
        <p:nvCxnSpPr>
          <p:cNvPr id="696" name="Google Shape;696;p24"/>
          <p:cNvCxnSpPr/>
          <p:nvPr/>
        </p:nvCxnSpPr>
        <p:spPr>
          <a:xfrm>
            <a:off x="4480560" y="3712464"/>
            <a:ext cx="411480" cy="0"/>
          </a:xfrm>
          <a:prstGeom prst="straightConnector1">
            <a:avLst/>
          </a:prstGeom>
          <a:noFill/>
          <a:ln w="17775" cap="flat" cmpd="sng">
            <a:solidFill>
              <a:srgbClr val="D98324"/>
            </a:solidFill>
            <a:prstDash val="solid"/>
            <a:round/>
            <a:headEnd type="none" w="sm" len="sm"/>
            <a:tailEnd type="none" w="sm" len="sm"/>
          </a:ln>
        </p:spPr>
      </p:cxnSp>
      <p:cxnSp>
        <p:nvCxnSpPr>
          <p:cNvPr id="697" name="Google Shape;697;p24"/>
          <p:cNvCxnSpPr/>
          <p:nvPr/>
        </p:nvCxnSpPr>
        <p:spPr>
          <a:xfrm>
            <a:off x="4892040" y="1737360"/>
            <a:ext cx="0" cy="1975104"/>
          </a:xfrm>
          <a:prstGeom prst="straightConnector1">
            <a:avLst/>
          </a:prstGeom>
          <a:noFill/>
          <a:ln w="13950" cap="flat" cmpd="sng">
            <a:solidFill>
              <a:srgbClr val="028090"/>
            </a:solidFill>
            <a:prstDash val="solid"/>
            <a:round/>
            <a:headEnd type="none" w="sm" len="sm"/>
            <a:tailEnd type="none" w="sm" len="sm"/>
          </a:ln>
        </p:spPr>
      </p:cxnSp>
      <p:cxnSp>
        <p:nvCxnSpPr>
          <p:cNvPr id="698" name="Google Shape;698;p24"/>
          <p:cNvCxnSpPr/>
          <p:nvPr/>
        </p:nvCxnSpPr>
        <p:spPr>
          <a:xfrm>
            <a:off x="4892040" y="2724912"/>
            <a:ext cx="365760" cy="0"/>
          </a:xfrm>
          <a:prstGeom prst="straightConnector1">
            <a:avLst/>
          </a:prstGeom>
          <a:noFill/>
          <a:ln w="15875" cap="flat" cmpd="sng">
            <a:solidFill>
              <a:srgbClr val="028090"/>
            </a:solidFill>
            <a:prstDash val="solid"/>
            <a:round/>
            <a:headEnd type="none" w="sm" len="sm"/>
            <a:tailEnd type="triangle" w="med" len="med"/>
          </a:ln>
        </p:spPr>
      </p:cxnSp>
      <p:sp>
        <p:nvSpPr>
          <p:cNvPr id="699" name="Google Shape;699;p24"/>
          <p:cNvSpPr/>
          <p:nvPr/>
        </p:nvSpPr>
        <p:spPr>
          <a:xfrm>
            <a:off x="5257800" y="1965960"/>
            <a:ext cx="2743200" cy="1508760"/>
          </a:xfrm>
          <a:prstGeom prst="roundRect">
            <a:avLst>
              <a:gd name="adj" fmla="val 3030"/>
            </a:avLst>
          </a:prstGeom>
          <a:solidFill>
            <a:srgbClr val="EDF4F4"/>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4"/>
          <p:cNvSpPr/>
          <p:nvPr/>
        </p:nvSpPr>
        <p:spPr>
          <a:xfrm>
            <a:off x="5312664" y="2436876"/>
            <a:ext cx="26334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Qwen2.5-VL multimodal sequence</a:t>
            </a:r>
            <a:endParaRPr sz="1200" b="0" i="0" u="none" strike="noStrike" cap="none">
              <a:solidFill>
                <a:schemeClr val="dk1"/>
              </a:solidFill>
              <a:latin typeface="Calibri"/>
              <a:ea typeface="Calibri"/>
              <a:cs typeface="Calibri"/>
              <a:sym typeface="Calibri"/>
            </a:endParaRPr>
          </a:p>
        </p:txBody>
      </p:sp>
      <p:sp>
        <p:nvSpPr>
          <p:cNvPr id="701" name="Google Shape;701;p24"/>
          <p:cNvSpPr/>
          <p:nvPr/>
        </p:nvSpPr>
        <p:spPr>
          <a:xfrm>
            <a:off x="5312664" y="2711196"/>
            <a:ext cx="26334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Courier New"/>
              <a:buNone/>
            </a:pPr>
            <a:r>
              <a:rPr lang="en-US" sz="900" b="0" i="0" u="none" strike="noStrike" cap="none">
                <a:solidFill>
                  <a:srgbClr val="5C6E73"/>
                </a:solidFill>
                <a:latin typeface="Courier New"/>
                <a:ea typeface="Courier New"/>
                <a:cs typeface="Courier New"/>
                <a:sym typeface="Courier New"/>
              </a:rPr>
              <a:t>output_hidden_states=True</a:t>
            </a:r>
            <a:endParaRPr sz="900" b="0" i="0" u="none" strike="noStrike" cap="none">
              <a:solidFill>
                <a:schemeClr val="dk1"/>
              </a:solidFill>
              <a:latin typeface="Calibri"/>
              <a:ea typeface="Calibri"/>
              <a:cs typeface="Calibri"/>
              <a:sym typeface="Calibri"/>
            </a:endParaRPr>
          </a:p>
        </p:txBody>
      </p:sp>
      <p:cxnSp>
        <p:nvCxnSpPr>
          <p:cNvPr id="702" name="Google Shape;702;p24"/>
          <p:cNvCxnSpPr/>
          <p:nvPr/>
        </p:nvCxnSpPr>
        <p:spPr>
          <a:xfrm>
            <a:off x="8001000" y="2724912"/>
            <a:ext cx="365760" cy="0"/>
          </a:xfrm>
          <a:prstGeom prst="straightConnector1">
            <a:avLst/>
          </a:prstGeom>
          <a:noFill/>
          <a:ln w="15875" cap="flat" cmpd="sng">
            <a:solidFill>
              <a:srgbClr val="028090"/>
            </a:solidFill>
            <a:prstDash val="solid"/>
            <a:round/>
            <a:headEnd type="none" w="sm" len="sm"/>
            <a:tailEnd type="triangle" w="med" len="med"/>
          </a:ln>
        </p:spPr>
      </p:cxnSp>
      <p:sp>
        <p:nvSpPr>
          <p:cNvPr id="703" name="Google Shape;703;p24"/>
          <p:cNvSpPr/>
          <p:nvPr/>
        </p:nvSpPr>
        <p:spPr>
          <a:xfrm>
            <a:off x="8366760" y="2103120"/>
            <a:ext cx="3273552" cy="640080"/>
          </a:xfrm>
          <a:prstGeom prst="roundRect">
            <a:avLst>
              <a:gd name="adj" fmla="val 7143"/>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4"/>
          <p:cNvSpPr/>
          <p:nvPr/>
        </p:nvSpPr>
        <p:spPr>
          <a:xfrm>
            <a:off x="8421624" y="2103120"/>
            <a:ext cx="3163824"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Last-layer hidden states</a:t>
            </a:r>
            <a:endParaRPr sz="1100" b="0" i="0" u="none" strike="noStrike" cap="none">
              <a:solidFill>
                <a:schemeClr val="dk1"/>
              </a:solidFill>
              <a:latin typeface="Calibri"/>
              <a:ea typeface="Calibri"/>
              <a:cs typeface="Calibri"/>
              <a:sym typeface="Calibri"/>
            </a:endParaRPr>
          </a:p>
        </p:txBody>
      </p:sp>
      <p:cxnSp>
        <p:nvCxnSpPr>
          <p:cNvPr id="705" name="Google Shape;705;p24"/>
          <p:cNvCxnSpPr/>
          <p:nvPr/>
        </p:nvCxnSpPr>
        <p:spPr>
          <a:xfrm>
            <a:off x="10003536" y="2743200"/>
            <a:ext cx="0" cy="274320"/>
          </a:xfrm>
          <a:prstGeom prst="straightConnector1">
            <a:avLst/>
          </a:prstGeom>
          <a:noFill/>
          <a:ln w="15875" cap="flat" cmpd="sng">
            <a:solidFill>
              <a:srgbClr val="D98324"/>
            </a:solidFill>
            <a:prstDash val="solid"/>
            <a:round/>
            <a:headEnd type="none" w="sm" len="sm"/>
            <a:tailEnd type="triangle" w="med" len="med"/>
          </a:ln>
        </p:spPr>
      </p:cxnSp>
      <p:sp>
        <p:nvSpPr>
          <p:cNvPr id="706" name="Google Shape;706;p24"/>
          <p:cNvSpPr/>
          <p:nvPr/>
        </p:nvSpPr>
        <p:spPr>
          <a:xfrm>
            <a:off x="8366760" y="3017520"/>
            <a:ext cx="3273552" cy="822960"/>
          </a:xfrm>
          <a:prstGeom prst="roundRect">
            <a:avLst>
              <a:gd name="adj" fmla="val 5556"/>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4"/>
          <p:cNvSpPr/>
          <p:nvPr/>
        </p:nvSpPr>
        <p:spPr>
          <a:xfrm>
            <a:off x="8421624" y="3017520"/>
            <a:ext cx="3163824"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Courier New"/>
              <a:buNone/>
            </a:pPr>
            <a:r>
              <a:rPr lang="en-US" sz="1050" b="1" i="0" u="none" strike="noStrike" cap="none">
                <a:solidFill>
                  <a:srgbClr val="1B2B31"/>
                </a:solidFill>
                <a:latin typeface="Courier New"/>
                <a:ea typeface="Courier New"/>
                <a:cs typeface="Courier New"/>
                <a:sym typeface="Courier New"/>
              </a:rPr>
              <a:t>traj_latents = hidden[:, −n_query:, :]</a:t>
            </a:r>
            <a:endParaRPr sz="1050" b="0" i="0" u="none" strike="noStrike" cap="none">
              <a:solidFill>
                <a:schemeClr val="dk1"/>
              </a:solidFill>
              <a:latin typeface="Calibri"/>
              <a:ea typeface="Calibri"/>
              <a:cs typeface="Calibri"/>
              <a:sym typeface="Calibri"/>
            </a:endParaRPr>
          </a:p>
        </p:txBody>
      </p:sp>
      <p:cxnSp>
        <p:nvCxnSpPr>
          <p:cNvPr id="708" name="Google Shape;708;p24"/>
          <p:cNvCxnSpPr/>
          <p:nvPr/>
        </p:nvCxnSpPr>
        <p:spPr>
          <a:xfrm>
            <a:off x="10003536" y="3840480"/>
            <a:ext cx="0" cy="274320"/>
          </a:xfrm>
          <a:prstGeom prst="straightConnector1">
            <a:avLst/>
          </a:prstGeom>
          <a:noFill/>
          <a:ln w="15875" cap="flat" cmpd="sng">
            <a:solidFill>
              <a:srgbClr val="D98324"/>
            </a:solidFill>
            <a:prstDash val="solid"/>
            <a:round/>
            <a:headEnd type="none" w="sm" len="sm"/>
            <a:tailEnd type="triangle" w="med" len="med"/>
          </a:ln>
        </p:spPr>
      </p:cxnSp>
      <p:sp>
        <p:nvSpPr>
          <p:cNvPr id="709" name="Google Shape;709;p24"/>
          <p:cNvSpPr/>
          <p:nvPr/>
        </p:nvSpPr>
        <p:spPr>
          <a:xfrm>
            <a:off x="8366760" y="4114800"/>
            <a:ext cx="3273552" cy="731520"/>
          </a:xfrm>
          <a:prstGeom prst="roundRect">
            <a:avLst>
              <a:gd name="adj" fmla="val 6250"/>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4"/>
          <p:cNvSpPr/>
          <p:nvPr/>
        </p:nvSpPr>
        <p:spPr>
          <a:xfrm>
            <a:off x="8421624" y="4197096"/>
            <a:ext cx="3163824"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Latent plan</a:t>
            </a:r>
            <a:endParaRPr sz="1200" b="0" i="0" u="none" strike="noStrike" cap="none">
              <a:solidFill>
                <a:schemeClr val="dk1"/>
              </a:solidFill>
              <a:latin typeface="Calibri"/>
              <a:ea typeface="Calibri"/>
              <a:cs typeface="Calibri"/>
              <a:sym typeface="Calibri"/>
            </a:endParaRPr>
          </a:p>
        </p:txBody>
      </p:sp>
      <p:sp>
        <p:nvSpPr>
          <p:cNvPr id="711" name="Google Shape;711;p24"/>
          <p:cNvSpPr/>
          <p:nvPr/>
        </p:nvSpPr>
        <p:spPr>
          <a:xfrm>
            <a:off x="8421624" y="4471416"/>
            <a:ext cx="3163824"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Courier New"/>
              <a:buNone/>
            </a:pPr>
            <a:r>
              <a:rPr lang="en-US" sz="1000" b="0" i="0" u="none" strike="noStrike" cap="none">
                <a:solidFill>
                  <a:srgbClr val="5C6E73"/>
                </a:solidFill>
                <a:latin typeface="Courier New"/>
                <a:ea typeface="Courier New"/>
                <a:cs typeface="Courier New"/>
                <a:sym typeface="Courier New"/>
              </a:rPr>
              <a:t>[B, n_query, 3584]</a:t>
            </a:r>
            <a:endParaRPr sz="1000" b="0" i="0" u="none" strike="noStrike" cap="none">
              <a:solidFill>
                <a:schemeClr val="dk1"/>
              </a:solidFill>
              <a:latin typeface="Calibri"/>
              <a:ea typeface="Calibri"/>
              <a:cs typeface="Calibri"/>
              <a:sym typeface="Calibri"/>
            </a:endParaRPr>
          </a:p>
        </p:txBody>
      </p:sp>
      <p:sp>
        <p:nvSpPr>
          <p:cNvPr id="712" name="Google Shape;712;p24"/>
          <p:cNvSpPr/>
          <p:nvPr/>
        </p:nvSpPr>
        <p:spPr>
          <a:xfrm>
            <a:off x="548640" y="4572000"/>
            <a:ext cx="7635240" cy="731520"/>
          </a:xfrm>
          <a:prstGeom prst="roundRect">
            <a:avLst>
              <a:gd name="adj" fmla="val 7500"/>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4"/>
          <p:cNvSpPr/>
          <p:nvPr/>
        </p:nvSpPr>
        <p:spPr>
          <a:xfrm>
            <a:off x="804672" y="4572000"/>
            <a:ext cx="7132320" cy="7315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Latent plan không phải hidden state lấy tuỳ ý. Nó là output của các learned query đã attention với instruction, ảnh lịch sử, ảnh hiện tại và output token của S2.</a:t>
            </a:r>
            <a:endParaRPr sz="1150" b="0" i="0" u="none" strike="noStrike" cap="none">
              <a:solidFill>
                <a:schemeClr val="dk1"/>
              </a:solidFill>
              <a:latin typeface="Calibri"/>
              <a:ea typeface="Calibri"/>
              <a:cs typeface="Calibri"/>
              <a:sym typeface="Calibri"/>
            </a:endParaRPr>
          </a:p>
        </p:txBody>
      </p:sp>
      <p:sp>
        <p:nvSpPr>
          <p:cNvPr id="714" name="Google Shape;714;p24"/>
          <p:cNvSpPr/>
          <p:nvPr/>
        </p:nvSpPr>
        <p:spPr>
          <a:xfrm>
            <a:off x="548640" y="5486400"/>
            <a:ext cx="11091672" cy="841248"/>
          </a:xfrm>
          <a:prstGeom prst="roundRect">
            <a:avLst>
              <a:gd name="adj" fmla="val 6522"/>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841248" y="5605272"/>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Vì sao load bằng Transformers thuần có thể sai?</a:t>
            </a:r>
            <a:endParaRPr sz="1250" b="0" i="0" u="none" strike="noStrike" cap="none">
              <a:solidFill>
                <a:schemeClr val="dk1"/>
              </a:solidFill>
              <a:latin typeface="Calibri"/>
              <a:ea typeface="Calibri"/>
              <a:cs typeface="Calibri"/>
              <a:sym typeface="Calibri"/>
            </a:endParaRPr>
          </a:p>
        </p:txBody>
      </p:sp>
      <p:sp>
        <p:nvSpPr>
          <p:cNvPr id="716" name="Google Shape;716;p24"/>
          <p:cNvSpPr/>
          <p:nvPr/>
        </p:nvSpPr>
        <p:spPr>
          <a:xfrm>
            <a:off x="841248" y="5870448"/>
            <a:ext cx="10515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100"/>
              <a:buFont typeface="Arial"/>
              <a:buNone/>
            </a:pPr>
            <a:r>
              <a:rPr lang="en-US" sz="1100" b="0" i="0" u="none" strike="noStrike" cap="none">
                <a:solidFill>
                  <a:srgbClr val="C7DADC"/>
                </a:solidFill>
                <a:latin typeface="Arial"/>
                <a:ea typeface="Arial"/>
                <a:cs typeface="Arial"/>
                <a:sym typeface="Arial"/>
              </a:rPr>
              <a:t>Checkpoint chứa latent_queries và toàn bộ module navdp.* — phải load bằng custom InternVLAN1ForCausalLM. Ép vào AutoModel Qwen thuần, các weight này bị báo unexpected/ignored: VLM vẫn chạy nhưng đường nối latent plan → NavDP đã mất.</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Google Shape;875;p2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BẰNG CHỨNG · DUAL-SYSTEM</a:t>
            </a:r>
            <a:endParaRPr sz="1050" b="0" i="0" u="none" strike="noStrike" cap="none">
              <a:solidFill>
                <a:schemeClr val="dk1"/>
              </a:solidFill>
              <a:latin typeface="Calibri"/>
              <a:ea typeface="Calibri"/>
              <a:cs typeface="Calibri"/>
              <a:sym typeface="Calibri"/>
            </a:endParaRPr>
          </a:p>
        </p:txBody>
      </p:sp>
      <p:sp>
        <p:nvSpPr>
          <p:cNvPr id="876" name="Google Shape;876;p2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Dual-system 7B chạy end-to-end open-loop trên Kaggle T4×2 (23/07)</a:t>
            </a:r>
            <a:endParaRPr sz="2500" b="0" i="0" u="none" strike="noStrike" cap="none">
              <a:solidFill>
                <a:schemeClr val="dk1"/>
              </a:solidFill>
              <a:latin typeface="Calibri"/>
              <a:ea typeface="Calibri"/>
              <a:cs typeface="Calibri"/>
              <a:sym typeface="Calibri"/>
            </a:endParaRPr>
          </a:p>
        </p:txBody>
      </p:sp>
      <p:sp>
        <p:nvSpPr>
          <p:cNvPr id="877" name="Google Shape;877;p29"/>
          <p:cNvSpPr/>
          <p:nvPr/>
        </p:nvSpPr>
        <p:spPr>
          <a:xfrm>
            <a:off x="548640"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548640"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16.78 GB</a:t>
            </a:r>
            <a:endParaRPr sz="3000" b="0" i="0" u="none" strike="noStrike" cap="none">
              <a:solidFill>
                <a:schemeClr val="dk1"/>
              </a:solidFill>
              <a:latin typeface="Calibri"/>
              <a:ea typeface="Calibri"/>
              <a:cs typeface="Calibri"/>
              <a:sym typeface="Calibri"/>
            </a:endParaRPr>
          </a:p>
        </p:txBody>
      </p:sp>
      <p:sp>
        <p:nvSpPr>
          <p:cNvPr id="879" name="Google Shape;879;p29"/>
          <p:cNvSpPr/>
          <p:nvPr/>
        </p:nvSpPr>
        <p:spPr>
          <a:xfrm>
            <a:off x="548640"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checkpoint · VRAM 7.57+9.21 GB</a:t>
            </a:r>
            <a:endParaRPr sz="1000" b="0" i="0" u="none" strike="noStrike" cap="none">
              <a:solidFill>
                <a:schemeClr val="dk1"/>
              </a:solidFill>
              <a:latin typeface="Calibri"/>
              <a:ea typeface="Calibri"/>
              <a:cs typeface="Calibri"/>
              <a:sym typeface="Calibri"/>
            </a:endParaRPr>
          </a:p>
        </p:txBody>
      </p:sp>
      <p:sp>
        <p:nvSpPr>
          <p:cNvPr id="880" name="Google Shape;880;p29"/>
          <p:cNvSpPr/>
          <p:nvPr/>
        </p:nvSpPr>
        <p:spPr>
          <a:xfrm>
            <a:off x="3355848"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355848"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98.8 M</a:t>
            </a:r>
            <a:endParaRPr sz="3000" b="0" i="0" u="none" strike="noStrike" cap="none">
              <a:solidFill>
                <a:schemeClr val="dk1"/>
              </a:solidFill>
              <a:latin typeface="Calibri"/>
              <a:ea typeface="Calibri"/>
              <a:cs typeface="Calibri"/>
              <a:sym typeface="Calibri"/>
            </a:endParaRPr>
          </a:p>
        </p:txBody>
      </p:sp>
      <p:sp>
        <p:nvSpPr>
          <p:cNvPr id="882" name="Google Shape;882;p29"/>
          <p:cNvSpPr/>
          <p:nvPr/>
        </p:nvSpPr>
        <p:spPr>
          <a:xfrm>
            <a:off x="3355848"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tham số NavDP (S1) đã nạp</a:t>
            </a:r>
            <a:endParaRPr sz="1000" b="0" i="0" u="none" strike="noStrike" cap="none">
              <a:solidFill>
                <a:schemeClr val="dk1"/>
              </a:solidFill>
              <a:latin typeface="Calibri"/>
              <a:ea typeface="Calibri"/>
              <a:cs typeface="Calibri"/>
              <a:sym typeface="Calibri"/>
            </a:endParaRPr>
          </a:p>
        </p:txBody>
      </p:sp>
      <p:sp>
        <p:nvSpPr>
          <p:cNvPr id="883" name="Google Shape;883;p29"/>
          <p:cNvSpPr/>
          <p:nvPr/>
        </p:nvSpPr>
        <p:spPr>
          <a:xfrm>
            <a:off x="6163056"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6163056"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0</a:t>
            </a:r>
            <a:endParaRPr sz="3000" b="0" i="0" u="none" strike="noStrike" cap="none">
              <a:solidFill>
                <a:schemeClr val="dk1"/>
              </a:solidFill>
              <a:latin typeface="Calibri"/>
              <a:ea typeface="Calibri"/>
              <a:cs typeface="Calibri"/>
              <a:sym typeface="Calibri"/>
            </a:endParaRPr>
          </a:p>
        </p:txBody>
      </p:sp>
      <p:sp>
        <p:nvSpPr>
          <p:cNvPr id="885" name="Google Shape;885;p29"/>
          <p:cNvSpPr/>
          <p:nvPr/>
        </p:nvSpPr>
        <p:spPr>
          <a:xfrm>
            <a:off x="6163056"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tham số meta còn sót sau load</a:t>
            </a:r>
            <a:endParaRPr sz="1000" b="0" i="0" u="none" strike="noStrike" cap="none">
              <a:solidFill>
                <a:schemeClr val="dk1"/>
              </a:solidFill>
              <a:latin typeface="Calibri"/>
              <a:ea typeface="Calibri"/>
              <a:cs typeface="Calibri"/>
              <a:sym typeface="Calibri"/>
            </a:endParaRPr>
          </a:p>
        </p:txBody>
      </p:sp>
      <p:sp>
        <p:nvSpPr>
          <p:cNvPr id="886" name="Google Shape;886;p29"/>
          <p:cNvSpPr/>
          <p:nvPr/>
        </p:nvSpPr>
        <p:spPr>
          <a:xfrm>
            <a:off x="8970264"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970264"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101/128</a:t>
            </a:r>
            <a:endParaRPr sz="3000" b="0" i="0" u="none" strike="noStrike" cap="none">
              <a:solidFill>
                <a:schemeClr val="dk1"/>
              </a:solidFill>
              <a:latin typeface="Calibri"/>
              <a:ea typeface="Calibri"/>
              <a:cs typeface="Calibri"/>
              <a:sym typeface="Calibri"/>
            </a:endParaRPr>
          </a:p>
        </p:txBody>
      </p:sp>
      <p:sp>
        <p:nvSpPr>
          <p:cNvPr id="888" name="Google Shape;888;p29"/>
          <p:cNvSpPr/>
          <p:nvPr/>
        </p:nvSpPr>
        <p:spPr>
          <a:xfrm>
            <a:off x="8970264"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frame S2 ra pixel + latent</a:t>
            </a:r>
            <a:endParaRPr sz="1000" b="0" i="0" u="none" strike="noStrike" cap="none">
              <a:solidFill>
                <a:schemeClr val="dk1"/>
              </a:solidFill>
              <a:latin typeface="Calibri"/>
              <a:ea typeface="Calibri"/>
              <a:cs typeface="Calibri"/>
              <a:sym typeface="Calibri"/>
            </a:endParaRPr>
          </a:p>
        </p:txBody>
      </p:sp>
      <p:sp>
        <p:nvSpPr>
          <p:cNvPr id="889" name="Google Shape;889;p29"/>
          <p:cNvSpPr/>
          <p:nvPr/>
        </p:nvSpPr>
        <p:spPr>
          <a:xfrm>
            <a:off x="54864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GATE 1 — load &amp; verify</a:t>
            </a:r>
            <a:endParaRPr sz="1250" b="0" i="0" u="none" strike="noStrike" cap="none">
              <a:solidFill>
                <a:schemeClr val="dk1"/>
              </a:solidFill>
              <a:latin typeface="Calibri"/>
              <a:ea typeface="Calibri"/>
              <a:cs typeface="Calibri"/>
              <a:sym typeface="Calibri"/>
            </a:endParaRPr>
          </a:p>
        </p:txBody>
      </p:sp>
      <p:graphicFrame>
        <p:nvGraphicFramePr>
          <p:cNvPr id="890" name="Google Shape;890;p29"/>
          <p:cNvGraphicFramePr/>
          <p:nvPr/>
        </p:nvGraphicFramePr>
        <p:xfrm>
          <a:off x="54864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Phép kiểm</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system1</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navdp_async (config có sẵn, không patch)</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latent_queries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 4, 3584] · n_query = 4</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tokenizer</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slow→fast OK (transformers 4.51.0)</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1" name="Google Shape;891;p29"/>
          <p:cNvSpPr/>
          <p:nvPr/>
        </p:nvSpPr>
        <p:spPr>
          <a:xfrm>
            <a:off x="630936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GATE 2 + 3 — S2 → latent → S1</a:t>
            </a:r>
            <a:endParaRPr sz="1250" b="0" i="0" u="none" strike="noStrike" cap="none">
              <a:solidFill>
                <a:schemeClr val="dk1"/>
              </a:solidFill>
              <a:latin typeface="Calibri"/>
              <a:ea typeface="Calibri"/>
              <a:cs typeface="Calibri"/>
              <a:sym typeface="Calibri"/>
            </a:endParaRPr>
          </a:p>
        </p:txBody>
      </p:sp>
      <p:graphicFrame>
        <p:nvGraphicFramePr>
          <p:cNvPr id="892" name="Google Shape;892;p29"/>
          <p:cNvGraphicFramePr/>
          <p:nvPr/>
        </p:nvGraphicFramePr>
        <p:xfrm>
          <a:off x="630936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Tensor / metric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S2 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[B, 4, 3584] finite (nhánh pixel-goal)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s1_traj</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(33, 2) không NaN · predict_size = 32</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s1_actions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 {1,2,3}, ≤4 · trên 101 frame 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3" name="Google Shape;893;p29"/>
          <p:cNvSpPr/>
          <p:nvPr/>
        </p:nvSpPr>
        <p:spPr>
          <a:xfrm>
            <a:off x="548640" y="4617720"/>
            <a:ext cx="11091672" cy="1554480"/>
          </a:xfrm>
          <a:prstGeom prst="roundRect">
            <a:avLst>
              <a:gd name="adj" fmla="val 35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822960" y="477316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Đọc số liệu cho đúng</a:t>
            </a:r>
            <a:endParaRPr sz="1250" b="0" i="0" u="none" strike="noStrike" cap="none">
              <a:solidFill>
                <a:schemeClr val="dk1"/>
              </a:solidFill>
              <a:latin typeface="Calibri"/>
              <a:ea typeface="Calibri"/>
              <a:cs typeface="Calibri"/>
              <a:sym typeface="Calibri"/>
            </a:endParaRPr>
          </a:p>
        </p:txBody>
      </p:sp>
      <p:sp>
        <p:nvSpPr>
          <p:cNvPr id="895" name="Google Shape;895;p29"/>
          <p:cNvSpPr/>
          <p:nvPr/>
        </p:nvSpPr>
        <p:spPr>
          <a:xfrm>
            <a:off x="822960" y="5074920"/>
            <a:ext cx="10451592" cy="96012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Open-loop = feed observation tĩnh vln_ce vào policy (pose = ma trận đơn vị); KHÔNG phải benchmark SR/SPL closed-loop.</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device_map='auto' + attn 'sdpa' là 2 override bắt buộc so với code gốc (pin 1 GPU + flash_attention_2) để chạy trên T4×2.</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GATE 1/2/3 đều PASS — lần đầu xác nhận runtime cơ chế config.system1 dựng NavDP (bản -w-NavDP có sẵn field này).</a:t>
            </a:r>
            <a:endParaRPr sz="1050" b="0" i="0" u="none" strike="noStrike" cap="none">
              <a:solidFill>
                <a:schemeClr val="dk1"/>
              </a:solidFill>
              <a:latin typeface="Calibri"/>
              <a:ea typeface="Calibri"/>
              <a:cs typeface="Calibri"/>
              <a:sym typeface="Calibri"/>
            </a:endParaRPr>
          </a:p>
        </p:txBody>
      </p:sp>
      <p:sp>
        <p:nvSpPr>
          <p:cNvPr id="896" name="Google Shape;896;p29"/>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Bằng chứng máy đọc được: docs/handbook/results.json · 05_appendix.md PL-E2/E3 (23-07-2026)</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Google Shape;875;p2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2 · CHẠY THẬT</a:t>
            </a:r>
            <a:endParaRPr sz="1050" b="0" i="0" u="none" strike="noStrike" cap="none">
              <a:solidFill>
                <a:schemeClr val="dk1"/>
              </a:solidFill>
              <a:latin typeface="Calibri"/>
              <a:ea typeface="Calibri"/>
              <a:cs typeface="Calibri"/>
              <a:sym typeface="Calibri"/>
            </a:endParaRPr>
          </a:p>
        </p:txBody>
      </p:sp>
      <p:sp>
        <p:nvSpPr>
          <p:cNvPr id="876" name="Google Shape;876;p2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System 2 open-loop: chỉ số thật và cơ chế look-down 2 nhịp</a:t>
            </a:r>
            <a:endParaRPr sz="2500" b="0" i="0" u="none" strike="noStrike" cap="none">
              <a:solidFill>
                <a:schemeClr val="dk1"/>
              </a:solidFill>
              <a:latin typeface="Calibri"/>
              <a:ea typeface="Calibri"/>
              <a:cs typeface="Calibri"/>
              <a:sym typeface="Calibri"/>
            </a:endParaRPr>
          </a:p>
        </p:txBody>
      </p:sp>
      <p:sp>
        <p:nvSpPr>
          <p:cNvPr id="877" name="Google Shape;877;p29"/>
          <p:cNvSpPr/>
          <p:nvPr/>
        </p:nvSpPr>
        <p:spPr>
          <a:xfrm>
            <a:off x="548640"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548640"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41.8 px</a:t>
            </a:r>
            <a:endParaRPr sz="3000" b="0" i="0" u="none" strike="noStrike" cap="none">
              <a:solidFill>
                <a:schemeClr val="dk1"/>
              </a:solidFill>
              <a:latin typeface="Calibri"/>
              <a:ea typeface="Calibri"/>
              <a:cs typeface="Calibri"/>
              <a:sym typeface="Calibri"/>
            </a:endParaRPr>
          </a:p>
        </p:txBody>
      </p:sp>
      <p:sp>
        <p:nvSpPr>
          <p:cNvPr id="879" name="Google Shape;879;p29"/>
          <p:cNvSpPr/>
          <p:nvPr/>
        </p:nvSpPr>
        <p:spPr>
          <a:xfrm>
            <a:off x="548640"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pixel-goal L2 trung bình (median 20)</a:t>
            </a:r>
            <a:endParaRPr sz="1000" b="0" i="0" u="none" strike="noStrike" cap="none">
              <a:solidFill>
                <a:schemeClr val="dk1"/>
              </a:solidFill>
              <a:latin typeface="Calibri"/>
              <a:ea typeface="Calibri"/>
              <a:cs typeface="Calibri"/>
              <a:sym typeface="Calibri"/>
            </a:endParaRPr>
          </a:p>
        </p:txBody>
      </p:sp>
      <p:sp>
        <p:nvSpPr>
          <p:cNvPr id="880" name="Google Shape;880;p29"/>
          <p:cNvSpPr/>
          <p:nvPr/>
        </p:nvSpPr>
        <p:spPr>
          <a:xfrm>
            <a:off x="3355848"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355848"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37 %</a:t>
            </a:r>
            <a:endParaRPr sz="3000" b="0" i="0" u="none" strike="noStrike" cap="none">
              <a:solidFill>
                <a:schemeClr val="dk1"/>
              </a:solidFill>
              <a:latin typeface="Calibri"/>
              <a:ea typeface="Calibri"/>
              <a:cs typeface="Calibri"/>
              <a:sym typeface="Calibri"/>
            </a:endParaRPr>
          </a:p>
        </p:txBody>
      </p:sp>
      <p:sp>
        <p:nvSpPr>
          <p:cNvPr id="882" name="Google Shape;882;p29"/>
          <p:cNvSpPr/>
          <p:nvPr/>
        </p:nvSpPr>
        <p:spPr>
          <a:xfrm>
            <a:off x="3355848"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action accuracy (n=27)</a:t>
            </a:r>
            <a:endParaRPr sz="1000" b="0" i="0" u="none" strike="noStrike" cap="none">
              <a:solidFill>
                <a:schemeClr val="dk1"/>
              </a:solidFill>
              <a:latin typeface="Calibri"/>
              <a:ea typeface="Calibri"/>
              <a:cs typeface="Calibri"/>
              <a:sym typeface="Calibri"/>
            </a:endParaRPr>
          </a:p>
        </p:txBody>
      </p:sp>
      <p:sp>
        <p:nvSpPr>
          <p:cNvPr id="883" name="Google Shape;883;p29"/>
          <p:cNvSpPr/>
          <p:nvPr/>
        </p:nvSpPr>
        <p:spPr>
          <a:xfrm>
            <a:off x="6163056"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6163056"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79 %</a:t>
            </a:r>
            <a:endParaRPr sz="3000" b="0" i="0" u="none" strike="noStrike" cap="none">
              <a:solidFill>
                <a:schemeClr val="dk1"/>
              </a:solidFill>
              <a:latin typeface="Calibri"/>
              <a:ea typeface="Calibri"/>
              <a:cs typeface="Calibri"/>
              <a:sym typeface="Calibri"/>
            </a:endParaRPr>
          </a:p>
        </p:txBody>
      </p:sp>
      <p:sp>
        <p:nvSpPr>
          <p:cNvPr id="885" name="Google Shape;885;p29"/>
          <p:cNvSpPr/>
          <p:nvPr/>
        </p:nvSpPr>
        <p:spPr>
          <a:xfrm>
            <a:off x="6163056"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frame ra pixel+latent (101/128)</a:t>
            </a:r>
            <a:endParaRPr sz="1000" b="0" i="0" u="none" strike="noStrike" cap="none">
              <a:solidFill>
                <a:schemeClr val="dk1"/>
              </a:solidFill>
              <a:latin typeface="Calibri"/>
              <a:ea typeface="Calibri"/>
              <a:cs typeface="Calibri"/>
              <a:sym typeface="Calibri"/>
            </a:endParaRPr>
          </a:p>
        </p:txBody>
      </p:sp>
      <p:sp>
        <p:nvSpPr>
          <p:cNvPr id="886" name="Google Shape;886;p29"/>
          <p:cNvSpPr/>
          <p:nvPr/>
        </p:nvSpPr>
        <p:spPr>
          <a:xfrm>
            <a:off x="8970264"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970264"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35.5 s</a:t>
            </a:r>
            <a:endParaRPr sz="3000" b="0" i="0" u="none" strike="noStrike" cap="none">
              <a:solidFill>
                <a:schemeClr val="dk1"/>
              </a:solidFill>
              <a:latin typeface="Calibri"/>
              <a:ea typeface="Calibri"/>
              <a:cs typeface="Calibri"/>
              <a:sym typeface="Calibri"/>
            </a:endParaRPr>
          </a:p>
        </p:txBody>
      </p:sp>
      <p:sp>
        <p:nvSpPr>
          <p:cNvPr id="888" name="Google Shape;888;p29"/>
          <p:cNvSpPr/>
          <p:nvPr/>
        </p:nvSpPr>
        <p:spPr>
          <a:xfrm>
            <a:off x="8970264"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thời gian S2 mỗi frame (2 nhịp)</a:t>
            </a:r>
            <a:endParaRPr sz="1000" b="0" i="0" u="none" strike="noStrike" cap="none">
              <a:solidFill>
                <a:schemeClr val="dk1"/>
              </a:solidFill>
              <a:latin typeface="Calibri"/>
              <a:ea typeface="Calibri"/>
              <a:cs typeface="Calibri"/>
              <a:sym typeface="Calibri"/>
            </a:endParaRPr>
          </a:p>
        </p:txBody>
      </p:sp>
      <p:sp>
        <p:nvSpPr>
          <p:cNvPr id="889" name="Google Shape;889;p29"/>
          <p:cNvSpPr/>
          <p:nvPr/>
        </p:nvSpPr>
        <p:spPr>
          <a:xfrm>
            <a:off x="54864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Cơ chế look-down 2 nhịp</a:t>
            </a:r>
            <a:endParaRPr sz="1250" b="0" i="0" u="none" strike="noStrike" cap="none">
              <a:solidFill>
                <a:schemeClr val="dk1"/>
              </a:solidFill>
              <a:latin typeface="Calibri"/>
              <a:ea typeface="Calibri"/>
              <a:cs typeface="Calibri"/>
              <a:sym typeface="Calibri"/>
            </a:endParaRPr>
          </a:p>
        </p:txBody>
      </p:sp>
      <p:graphicFrame>
        <p:nvGraphicFramePr>
          <p:cNvPr id="890" name="Google Shape;890;p29"/>
          <p:cNvGraphicFramePr/>
          <p:nvPr/>
        </p:nvGraphicFramePr>
        <p:xfrm>
          <a:off x="54864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Nhịp</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Điều gì xảy ra</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Nhịp 1</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model trả '↓' = action 5 (xin cúi camera)</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Nhịp 2</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gọi lại s2_step(look_down=True) → ra pixel+latent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Kết quả</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101/128 frame ra pixel qua đúng cú 2 nhịp</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1" name="Google Shape;891;p29"/>
          <p:cNvSpPr/>
          <p:nvPr/>
        </p:nvSpPr>
        <p:spPr>
          <a:xfrm>
            <a:off x="630936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Toạ độ &amp; nhánh output</a:t>
            </a:r>
            <a:endParaRPr sz="1250" b="0" i="0" u="none" strike="noStrike" cap="none">
              <a:solidFill>
                <a:schemeClr val="dk1"/>
              </a:solidFill>
              <a:latin typeface="Calibri"/>
              <a:ea typeface="Calibri"/>
              <a:cs typeface="Calibri"/>
              <a:sym typeface="Calibri"/>
            </a:endParaRPr>
          </a:p>
        </p:txBody>
      </p:sp>
      <p:graphicFrame>
        <p:nvGraphicFramePr>
          <p:cNvPr id="892" name="Google Shape;892;p29"/>
          <p:cNvGraphicFramePr/>
          <p:nvPr/>
        </p:nvGraphicFramePr>
        <p:xfrm>
          <a:off x="630936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Điểm</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thật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Không gian toạ độ</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model nhả 'u v' trong 640×480 gốc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KHÔNG scale 384→640</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scale nhầm thổi L2 41.8 → 206 px</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pixel lưu [row,col]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 [v, u]; đảo lại khi so với GT goal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3" name="Google Shape;893;p29"/>
          <p:cNvSpPr/>
          <p:nvPr/>
        </p:nvSpPr>
        <p:spPr>
          <a:xfrm>
            <a:off x="548640" y="4617720"/>
            <a:ext cx="11091672" cy="1554480"/>
          </a:xfrm>
          <a:prstGeom prst="roundRect">
            <a:avLst>
              <a:gd name="adj" fmla="val 35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822960" y="477316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Đọc số liệu cho đúng</a:t>
            </a:r>
            <a:endParaRPr sz="1250" b="0" i="0" u="none" strike="noStrike" cap="none">
              <a:solidFill>
                <a:schemeClr val="dk1"/>
              </a:solidFill>
              <a:latin typeface="Calibri"/>
              <a:ea typeface="Calibri"/>
              <a:cs typeface="Calibri"/>
              <a:sym typeface="Calibri"/>
            </a:endParaRPr>
          </a:p>
        </p:txBody>
      </p:sp>
      <p:sp>
        <p:nvSpPr>
          <p:cNvPr id="895" name="Google Shape;895;p29"/>
          <p:cNvSpPr/>
          <p:nvPr/>
        </p:nvSpPr>
        <p:spPr>
          <a:xfrm>
            <a:off x="822960" y="5074920"/>
            <a:ext cx="10451592" cy="96012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L2 41.8 px trên 640×480: 12 outlier &gt;100px (3 là frame 0–2 ep0 chưa có history) — median 20 px sát thực tế hơn.</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Action acc 37% trông thấp nhưng 10/17 lỗi là 'STOP sớm' dồn cuối episode; chỉ 7 lỗi điều hướng thật giữa episode.</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S2 ~35.5 s/frame gồm ~2 lần generate/frame (look-down) — cả run 128 frame ≈ 75 phút trên T4×2.</a:t>
            </a:r>
            <a:endParaRPr sz="1050" b="0" i="0" u="none" strike="noStrike" cap="none">
              <a:solidFill>
                <a:schemeClr val="dk1"/>
              </a:solidFill>
              <a:latin typeface="Calibri"/>
              <a:ea typeface="Calibri"/>
              <a:cs typeface="Calibri"/>
              <a:sym typeface="Calibri"/>
            </a:endParaRPr>
          </a:p>
        </p:txBody>
      </p:sp>
      <p:sp>
        <p:nvSpPr>
          <p:cNvPr id="896" name="Google Shape;896;p29"/>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Nguồn: 05_appendix.md PL-E3 · results.json · 06_eval_plan Phase E–G</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32"/>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TIẾN ĐỘ</a:t>
            </a:r>
            <a:endParaRPr sz="1050" b="0" i="0" u="none" strike="noStrike" cap="none">
              <a:solidFill>
                <a:schemeClr val="dk1"/>
              </a:solidFill>
              <a:latin typeface="Calibri"/>
              <a:ea typeface="Calibri"/>
              <a:cs typeface="Calibri"/>
              <a:sym typeface="Calibri"/>
            </a:endParaRPr>
          </a:p>
        </p:txBody>
      </p:sp>
      <p:sp>
        <p:nvSpPr>
          <p:cNvPr id="931" name="Google Shape;931;p32"/>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Nhánh A (standalone) và nhánh B (dual-system open-loop) đã đóng</a:t>
            </a:r>
            <a:endParaRPr sz="2500" b="0" i="0" u="none" strike="noStrike" cap="none">
              <a:solidFill>
                <a:schemeClr val="dk1"/>
              </a:solidFill>
              <a:latin typeface="Calibri"/>
              <a:ea typeface="Calibri"/>
              <a:cs typeface="Calibri"/>
              <a:sym typeface="Calibri"/>
            </a:endParaRPr>
          </a:p>
        </p:txBody>
      </p:sp>
      <p:sp>
        <p:nvSpPr>
          <p:cNvPr id="932" name="Google Shape;932;p32"/>
          <p:cNvSpPr/>
          <p:nvPr/>
        </p:nvSpPr>
        <p:spPr>
          <a:xfrm>
            <a:off x="548640" y="1371600"/>
            <a:ext cx="3566160" cy="3886200"/>
          </a:xfrm>
          <a:prstGeom prst="roundRect">
            <a:avLst>
              <a:gd name="adj" fmla="val 1538"/>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2"/>
          <p:cNvSpPr/>
          <p:nvPr/>
        </p:nvSpPr>
        <p:spPr>
          <a:xfrm>
            <a:off x="804672"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050"/>
              <a:buFont typeface="Arial"/>
              <a:buNone/>
            </a:pPr>
            <a:r>
              <a:rPr lang="en-US" sz="1050" b="1" i="0" u="none" strike="noStrike" cap="none">
                <a:solidFill>
                  <a:srgbClr val="00A896"/>
                </a:solidFill>
                <a:latin typeface="Arial"/>
                <a:ea typeface="Arial"/>
                <a:cs typeface="Arial"/>
                <a:sym typeface="Arial"/>
              </a:rPr>
              <a:t>NGÀY 1 — MÔI TRƯỜNG</a:t>
            </a:r>
            <a:endParaRPr sz="1050" b="0" i="0" u="none" strike="noStrike" cap="none">
              <a:solidFill>
                <a:schemeClr val="dk1"/>
              </a:solidFill>
              <a:latin typeface="Calibri"/>
              <a:ea typeface="Calibri"/>
              <a:cs typeface="Calibri"/>
              <a:sym typeface="Calibri"/>
            </a:endParaRPr>
          </a:p>
        </p:txBody>
      </p:sp>
      <p:sp>
        <p:nvSpPr>
          <p:cNvPr id="934" name="Google Shape;934;p32"/>
          <p:cNvSpPr/>
          <p:nvPr/>
        </p:nvSpPr>
        <p:spPr>
          <a:xfrm>
            <a:off x="804672" y="1920240"/>
            <a:ext cx="3154680" cy="3108960"/>
          </a:xfrm>
          <a:prstGeom prst="rect">
            <a:avLst/>
          </a:prstGeom>
          <a:noFill/>
          <a:ln>
            <a:noFill/>
          </a:ln>
        </p:spPr>
        <p:txBody>
          <a:bodyPr spcFirstLastPara="1" wrap="square" lIns="0" tIns="0" rIns="0" bIns="0" anchor="ctr" anchorCtr="0">
            <a:noAutofit/>
          </a:bodyPr>
          <a:lstStyle/>
          <a:p>
            <a:pPr marL="342900" marR="0" lvl="0" indent="-342900" algn="l" rtl="0">
              <a:lnSpc>
                <a:spcPct val="115000"/>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WSL2 nhận GPU, torch.cuda.is_available() == True</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Env internnav-s1 hoạt động, import internnav thành công</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Khởi tạo submodule LongCLIP và diffusion-policy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Có checkpoint DepthAnything và NavDP standalone</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Smoke inference GPU local đã chạy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Bổ sung dependency loader InternData, pip check sạch</a:t>
            </a:r>
            <a:endParaRPr sz="1050" b="0" i="0" u="none" strike="noStrike" cap="none">
              <a:solidFill>
                <a:schemeClr val="dk1"/>
              </a:solidFill>
              <a:latin typeface="Calibri"/>
              <a:ea typeface="Calibri"/>
              <a:cs typeface="Calibri"/>
              <a:sym typeface="Calibri"/>
            </a:endParaRPr>
          </a:p>
        </p:txBody>
      </p:sp>
      <p:sp>
        <p:nvSpPr>
          <p:cNvPr id="935" name="Google Shape;935;p32"/>
          <p:cNvSpPr/>
          <p:nvPr/>
        </p:nvSpPr>
        <p:spPr>
          <a:xfrm>
            <a:off x="4315968" y="1371600"/>
            <a:ext cx="3566160" cy="3886200"/>
          </a:xfrm>
          <a:prstGeom prst="roundRect">
            <a:avLst>
              <a:gd name="adj" fmla="val 1538"/>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2"/>
          <p:cNvSpPr/>
          <p:nvPr/>
        </p:nvSpPr>
        <p:spPr>
          <a:xfrm>
            <a:off x="4553712"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050"/>
              <a:buFont typeface="Arial"/>
              <a:buNone/>
            </a:pPr>
            <a:r>
              <a:rPr lang="en-US" sz="1050" b="1" i="0" u="none" strike="noStrike" cap="none">
                <a:solidFill>
                  <a:srgbClr val="00A896"/>
                </a:solidFill>
                <a:latin typeface="Arial"/>
                <a:ea typeface="Arial"/>
                <a:cs typeface="Arial"/>
                <a:sym typeface="Arial"/>
              </a:rPr>
              <a:t>NGÀY 2 — NHÁNH A (NAVDP)</a:t>
            </a:r>
            <a:endParaRPr sz="1050" b="0" i="0" u="none" strike="noStrike" cap="none">
              <a:solidFill>
                <a:schemeClr val="dk1"/>
              </a:solidFill>
              <a:latin typeface="Calibri"/>
              <a:ea typeface="Calibri"/>
              <a:cs typeface="Calibri"/>
              <a:sym typeface="Calibri"/>
            </a:endParaRPr>
          </a:p>
        </p:txBody>
      </p:sp>
      <p:sp>
        <p:nvSpPr>
          <p:cNvPr id="937" name="Google Shape;937;p32"/>
          <p:cNvSpPr/>
          <p:nvPr/>
        </p:nvSpPr>
        <p:spPr>
          <a:xfrm>
            <a:off x="4553712" y="1920240"/>
            <a:ext cx="3154680" cy="3108960"/>
          </a:xfrm>
          <a:prstGeom prst="rect">
            <a:avLst/>
          </a:prstGeom>
          <a:noFill/>
          <a:ln>
            <a:noFill/>
          </a:ln>
        </p:spPr>
        <p:txBody>
          <a:bodyPr spcFirstLastPara="1" wrap="square" lIns="0" tIns="0" rIns="0" bIns="0" anchor="ctr" anchorCtr="0">
            <a:noAutofit/>
          </a:bodyPr>
          <a:lstStyle/>
          <a:p>
            <a:pPr marL="342900" marR="0" lvl="0" indent="-342900" algn="l" rtl="0">
              <a:lnSpc>
                <a:spcPct val="115000"/>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Tải chọn lọc InternData-N1: sample vln_n1 (tar.gz) + vln_ce/vln_pe — preview/ không tồn tại</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Hiểu và ghi lại cấu trúc LeRobot/InternNav</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Tìm đúng sample vln_n1 có đủ RGB, depth, camera matrices</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Dùng preprocessing/geometry chính thức thay dummy tensor</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Chạy NavDP standalone trên RGB/depth/goal thật</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Xác minh shape, dtype, range, finite, latency, CUDA memory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Có script tái sử dụng, JSON log và tài liệu I/O</a:t>
            </a:r>
            <a:endParaRPr sz="1050" b="0" i="0" u="none" strike="noStrike" cap="none">
              <a:solidFill>
                <a:schemeClr val="dk1"/>
              </a:solidFill>
              <a:latin typeface="Calibri"/>
              <a:ea typeface="Calibri"/>
              <a:cs typeface="Calibri"/>
              <a:sym typeface="Calibri"/>
            </a:endParaRPr>
          </a:p>
        </p:txBody>
      </p:sp>
      <p:sp>
        <p:nvSpPr>
          <p:cNvPr id="938" name="Google Shape;938;p32"/>
          <p:cNvSpPr/>
          <p:nvPr/>
        </p:nvSpPr>
        <p:spPr>
          <a:xfrm>
            <a:off x="8074152" y="1371600"/>
            <a:ext cx="3566160" cy="3886200"/>
          </a:xfrm>
          <a:prstGeom prst="roundRect">
            <a:avLst>
              <a:gd name="adj" fmla="val 1538"/>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2"/>
          <p:cNvSpPr/>
          <p:nvPr/>
        </p:nvSpPr>
        <p:spPr>
          <a:xfrm>
            <a:off x="8321040"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050"/>
              <a:buFont typeface="Arial"/>
              <a:buNone/>
            </a:pPr>
            <a:r>
              <a:rPr lang="en-US" sz="1050" b="1" i="0" u="none" strike="noStrike" cap="none">
                <a:solidFill>
                  <a:srgbClr val="D98324"/>
                </a:solidFill>
                <a:latin typeface="Arial"/>
                <a:ea typeface="Arial"/>
                <a:cs typeface="Arial"/>
                <a:sym typeface="Arial"/>
              </a:rPr>
              <a:t>CÒN LẠI — CLOSED-LOOP / EVAL</a:t>
            </a:r>
            <a:endParaRPr sz="1050" b="0" i="0" u="none" strike="noStrike" cap="none">
              <a:solidFill>
                <a:schemeClr val="dk1"/>
              </a:solidFill>
              <a:latin typeface="Calibri"/>
              <a:ea typeface="Calibri"/>
              <a:cs typeface="Calibri"/>
              <a:sym typeface="Calibri"/>
            </a:endParaRPr>
          </a:p>
        </p:txBody>
      </p:sp>
      <p:sp>
        <p:nvSpPr>
          <p:cNvPr id="940" name="Google Shape;940;p32"/>
          <p:cNvSpPr/>
          <p:nvPr/>
        </p:nvSpPr>
        <p:spPr>
          <a:xfrm>
            <a:off x="8321040" y="1920240"/>
            <a:ext cx="3154680" cy="237744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Chạy closed-loop trong Habitat/Isaac → chưa có SR/SPL thật</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Xác nhận trên split chính thức R2R val_unseen / MP3D</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Dựng env eval đầy đủ + đo latency S2/S1 trên server ≥24GB</a:t>
            </a:r>
            <a:endParaRPr sz="1050" b="0" i="0" u="none" strike="noStrike" cap="none">
              <a:solidFill>
                <a:schemeClr val="dk1"/>
              </a:solidFill>
              <a:latin typeface="Calibri"/>
              <a:ea typeface="Calibri"/>
              <a:cs typeface="Calibri"/>
              <a:sym typeface="Calibri"/>
            </a:endParaRPr>
          </a:p>
        </p:txBody>
      </p:sp>
      <p:cxnSp>
        <p:nvCxnSpPr>
          <p:cNvPr id="941" name="Google Shape;941;p32"/>
          <p:cNvCxnSpPr/>
          <p:nvPr/>
        </p:nvCxnSpPr>
        <p:spPr>
          <a:xfrm>
            <a:off x="8321040" y="4343400"/>
            <a:ext cx="3063240" cy="0"/>
          </a:xfrm>
          <a:prstGeom prst="straightConnector1">
            <a:avLst/>
          </a:prstGeom>
          <a:noFill/>
          <a:ln w="9525" cap="flat" cmpd="sng">
            <a:solidFill>
              <a:srgbClr val="27505B"/>
            </a:solidFill>
            <a:prstDash val="solid"/>
            <a:round/>
            <a:headEnd type="none" w="sm" len="sm"/>
            <a:tailEnd type="none" w="sm" len="sm"/>
          </a:ln>
        </p:spPr>
      </p:cxnSp>
      <p:sp>
        <p:nvSpPr>
          <p:cNvPr id="942" name="Google Shape;942;p32"/>
          <p:cNvSpPr/>
          <p:nvPr/>
        </p:nvSpPr>
        <p:spPr>
          <a:xfrm>
            <a:off x="8321040" y="44805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9FBEC2"/>
              </a:buClr>
              <a:buSzPts val="1050"/>
              <a:buFont typeface="Arial"/>
              <a:buNone/>
            </a:pPr>
            <a:r>
              <a:rPr lang="en-US" sz="1050" b="0" i="1" u="none" strike="noStrike" cap="none">
                <a:solidFill>
                  <a:srgbClr val="9FBEC2"/>
                </a:solidFill>
                <a:latin typeface="Arial"/>
                <a:ea typeface="Arial"/>
                <a:cs typeface="Arial"/>
                <a:sym typeface="Arial"/>
              </a:rPr>
              <a:t>Đây là luồng cloud/eval của nhóm, không phải lỗi của pipeline local.</a:t>
            </a:r>
            <a:endParaRPr sz="1050" b="0" i="0" u="none" strike="noStrike" cap="none">
              <a:solidFill>
                <a:schemeClr val="dk1"/>
              </a:solidFill>
              <a:latin typeface="Calibri"/>
              <a:ea typeface="Calibri"/>
              <a:cs typeface="Calibri"/>
              <a:sym typeface="Calibri"/>
            </a:endParaRPr>
          </a:p>
        </p:txBody>
      </p:sp>
      <p:sp>
        <p:nvSpPr>
          <p:cNvPr id="943" name="Google Shape;943;p32"/>
          <p:cNvSpPr/>
          <p:nvPr/>
        </p:nvSpPr>
        <p:spPr>
          <a:xfrm>
            <a:off x="548640" y="5440680"/>
            <a:ext cx="11091672" cy="822960"/>
          </a:xfrm>
          <a:prstGeom prst="roundRect">
            <a:avLst>
              <a:gd name="adj" fmla="val 666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2"/>
          <p:cNvSpPr/>
          <p:nvPr/>
        </p:nvSpPr>
        <p:spPr>
          <a:xfrm>
            <a:off x="822960" y="5440680"/>
            <a:ext cx="10543032" cy="82296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Nhánh B (dual-system 7B) đã chạy end-to-end open-loop ngày 23/07 — sớm hơn dự kiến. Việc còn lại thuần tuý là closed-loop trên simulator, không phải lỗi pipeline.</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1004"/>
        <p:cNvGrpSpPr/>
        <p:nvPr/>
      </p:nvGrpSpPr>
      <p:grpSpPr>
        <a:xfrm>
          <a:off x="0" y="0"/>
          <a:ext cx="0" cy="0"/>
          <a:chOff x="0" y="0"/>
          <a:chExt cx="0" cy="0"/>
        </a:xfrm>
      </p:grpSpPr>
      <p:sp>
        <p:nvSpPr>
          <p:cNvPr id="1005" name="Google Shape;1005;p35"/>
          <p:cNvSpPr/>
          <p:nvPr/>
        </p:nvSpPr>
        <p:spPr>
          <a:xfrm>
            <a:off x="9692640" y="-1645920"/>
            <a:ext cx="4572000" cy="457200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5"/>
          <p:cNvSpPr/>
          <p:nvPr/>
        </p:nvSpPr>
        <p:spPr>
          <a:xfrm>
            <a:off x="-1463040" y="4206240"/>
            <a:ext cx="3840480" cy="3840480"/>
          </a:xfrm>
          <a:prstGeom prst="ellipse">
            <a:avLst/>
          </a:prstGeom>
          <a:solidFill>
            <a:srgbClr val="1733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5"/>
          <p:cNvSpPr/>
          <p:nvPr/>
        </p:nvSpPr>
        <p:spPr>
          <a:xfrm>
            <a:off x="914400" y="12344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50"/>
              <a:buFont typeface="Arial"/>
              <a:buNone/>
            </a:pPr>
            <a:r>
              <a:rPr lang="en-US" sz="1150" b="1" i="0" u="none" strike="noStrike" cap="none">
                <a:solidFill>
                  <a:srgbClr val="D98324"/>
                </a:solidFill>
                <a:latin typeface="Arial"/>
                <a:ea typeface="Arial"/>
                <a:cs typeface="Arial"/>
                <a:sym typeface="Arial"/>
              </a:rPr>
              <a:t>MỘT CÂU ĐỂ THUYẾT TRÌNH</a:t>
            </a:r>
            <a:endParaRPr sz="1150" b="0" i="0" u="none" strike="noStrike" cap="none">
              <a:solidFill>
                <a:schemeClr val="dk1"/>
              </a:solidFill>
              <a:latin typeface="Calibri"/>
              <a:ea typeface="Calibri"/>
              <a:cs typeface="Calibri"/>
              <a:sym typeface="Calibri"/>
            </a:endParaRPr>
          </a:p>
        </p:txBody>
      </p:sp>
      <p:sp>
        <p:nvSpPr>
          <p:cNvPr id="1008" name="Google Shape;1008;p35"/>
          <p:cNvSpPr/>
          <p:nvPr/>
        </p:nvSpPr>
        <p:spPr>
          <a:xfrm>
            <a:off x="914400" y="1664208"/>
            <a:ext cx="10241280" cy="1554480"/>
          </a:xfrm>
          <a:prstGeom prst="rect">
            <a:avLst/>
          </a:prstGeom>
          <a:noFill/>
          <a:ln>
            <a:noFill/>
          </a:ln>
        </p:spPr>
        <p:txBody>
          <a:bodyPr spcFirstLastPara="1" wrap="square" lIns="0" tIns="0" rIns="0" bIns="0" anchor="ctr" anchorCtr="0">
            <a:noAutofit/>
          </a:bodyPr>
          <a:lstStyle/>
          <a:p>
            <a:pPr marL="0" marR="0" lvl="0" indent="0" algn="l" rtl="0">
              <a:lnSpc>
                <a:spcPct val="157142"/>
              </a:lnSpc>
              <a:spcBef>
                <a:spcPts val="0"/>
              </a:spcBef>
              <a:spcAft>
                <a:spcPts val="0"/>
              </a:spcAft>
              <a:buClr>
                <a:srgbClr val="FFFFFF"/>
              </a:buClr>
              <a:buSzPts val="2100"/>
              <a:buFont typeface="Arial"/>
              <a:buNone/>
            </a:pPr>
            <a:r>
              <a:rPr lang="en-US" sz="2100" b="1" i="0" u="none" strike="noStrike" cap="none">
                <a:solidFill>
                  <a:srgbClr val="FFFFFF"/>
                </a:solidFill>
                <a:latin typeface="Arial"/>
                <a:ea typeface="Arial"/>
                <a:cs typeface="Arial"/>
                <a:sym typeface="Arial"/>
              </a:rPr>
              <a:t>System 2 dùng instruction và lịch sử ảnh để tạo waypoint cùng learned latent plan; System 1 nén latent đó thành goal token, kết hợp RGB-D lúc lập plan và RGB-D hiện tại, rồi dùng diffusion sinh nhiều local trajectory.</a:t>
            </a:r>
            <a:endParaRPr sz="2100" b="0" i="0" u="none" strike="noStrike" cap="none">
              <a:solidFill>
                <a:schemeClr val="dk1"/>
              </a:solidFill>
              <a:latin typeface="Calibri"/>
              <a:ea typeface="Calibri"/>
              <a:cs typeface="Calibri"/>
              <a:sym typeface="Calibri"/>
            </a:endParaRPr>
          </a:p>
        </p:txBody>
      </p:sp>
      <p:sp>
        <p:nvSpPr>
          <p:cNvPr id="1009" name="Google Shape;1009;p35"/>
          <p:cNvSpPr/>
          <p:nvPr/>
        </p:nvSpPr>
        <p:spPr>
          <a:xfrm>
            <a:off x="914400" y="3310128"/>
            <a:ext cx="10241280" cy="1005840"/>
          </a:xfrm>
          <a:prstGeom prst="rect">
            <a:avLst/>
          </a:prstGeom>
          <a:noFill/>
          <a:ln>
            <a:noFill/>
          </a:ln>
        </p:spPr>
        <p:txBody>
          <a:bodyPr spcFirstLastPara="1" wrap="square" lIns="0" tIns="0" rIns="0" bIns="0" anchor="ctr" anchorCtr="0">
            <a:noAutofit/>
          </a:bodyPr>
          <a:lstStyle/>
          <a:p>
            <a:pPr marL="0" marR="0" lvl="0" indent="0" algn="l" rtl="0">
              <a:lnSpc>
                <a:spcPct val="166666"/>
              </a:lnSpc>
              <a:spcBef>
                <a:spcPts val="0"/>
              </a:spcBef>
              <a:spcAft>
                <a:spcPts val="0"/>
              </a:spcAft>
              <a:buClr>
                <a:srgbClr val="9FBEC2"/>
              </a:buClr>
              <a:buSzPts val="1500"/>
              <a:buFont typeface="Arial"/>
              <a:buNone/>
            </a:pPr>
            <a:r>
              <a:rPr lang="en-US" sz="1500" b="0" i="0" u="none" strike="noStrike" cap="none">
                <a:solidFill>
                  <a:srgbClr val="9FBEC2"/>
                </a:solidFill>
                <a:latin typeface="Arial"/>
                <a:ea typeface="Arial"/>
                <a:cs typeface="Arial"/>
                <a:sym typeface="Arial"/>
              </a:rPr>
              <a:t>Trajectory được bỏ chuẩn hoá, tích phân và chuyển thành đường liên tục hoặc action rời rạc để robot thực thi. Nhờ partial async, một quyết định chậm của S2 có thể phục vụ nhiều vòng điều khiển nhanh của S1.</a:t>
            </a:r>
            <a:endParaRPr sz="1500" b="0" i="0" u="none" strike="noStrike" cap="none">
              <a:solidFill>
                <a:schemeClr val="dk1"/>
              </a:solidFill>
              <a:latin typeface="Calibri"/>
              <a:ea typeface="Calibri"/>
              <a:cs typeface="Calibri"/>
              <a:sym typeface="Calibri"/>
            </a:endParaRPr>
          </a:p>
        </p:txBody>
      </p:sp>
      <p:sp>
        <p:nvSpPr>
          <p:cNvPr id="1010" name="Google Shape;1010;p35"/>
          <p:cNvSpPr/>
          <p:nvPr/>
        </p:nvSpPr>
        <p:spPr>
          <a:xfrm>
            <a:off x="91440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5"/>
          <p:cNvSpPr/>
          <p:nvPr/>
        </p:nvSpPr>
        <p:spPr>
          <a:xfrm>
            <a:off x="1115568" y="4956048"/>
            <a:ext cx="146304" cy="14630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137160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chứng minh</a:t>
            </a:r>
            <a:endParaRPr sz="1150" b="0" i="0" u="none" strike="noStrike" cap="none">
              <a:solidFill>
                <a:schemeClr val="dk1"/>
              </a:solidFill>
              <a:latin typeface="Calibri"/>
              <a:ea typeface="Calibri"/>
              <a:cs typeface="Calibri"/>
              <a:sym typeface="Calibri"/>
            </a:endParaRPr>
          </a:p>
        </p:txBody>
      </p:sp>
      <p:sp>
        <p:nvSpPr>
          <p:cNvPr id="1013" name="Google Shape;1013;p35"/>
          <p:cNvSpPr/>
          <p:nvPr/>
        </p:nvSpPr>
        <p:spPr>
          <a:xfrm>
            <a:off x="137160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NavDP standalone + dual-system open-loop (S2→latent→S1) đều chạy thật</a:t>
            </a:r>
            <a:endParaRPr sz="950" b="0" i="0" u="none" strike="noStrike" cap="none">
              <a:solidFill>
                <a:schemeClr val="dk1"/>
              </a:solidFill>
              <a:latin typeface="Calibri"/>
              <a:ea typeface="Calibri"/>
              <a:cs typeface="Calibri"/>
              <a:sym typeface="Calibri"/>
            </a:endParaRPr>
          </a:p>
        </p:txBody>
      </p:sp>
      <p:sp>
        <p:nvSpPr>
          <p:cNvPr id="1014" name="Google Shape;1014;p35"/>
          <p:cNvSpPr/>
          <p:nvPr/>
        </p:nvSpPr>
        <p:spPr>
          <a:xfrm>
            <a:off x="438912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a:off x="4590288" y="495604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484632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đọc kỹ code</a:t>
            </a:r>
            <a:endParaRPr sz="1150" b="0" i="0" u="none" strike="noStrike" cap="none">
              <a:solidFill>
                <a:schemeClr val="dk1"/>
              </a:solidFill>
              <a:latin typeface="Calibri"/>
              <a:ea typeface="Calibri"/>
              <a:cs typeface="Calibri"/>
              <a:sym typeface="Calibri"/>
            </a:endParaRPr>
          </a:p>
        </p:txBody>
      </p:sp>
      <p:sp>
        <p:nvSpPr>
          <p:cNvPr id="1017" name="Google Shape;1017;p35"/>
          <p:cNvSpPr/>
          <p:nvPr/>
        </p:nvSpPr>
        <p:spPr>
          <a:xfrm>
            <a:off x="484632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Toàn bộ đường S2 → latent → S1 và post-processing</a:t>
            </a:r>
            <a:endParaRPr sz="950" b="0" i="0" u="none" strike="noStrike" cap="none">
              <a:solidFill>
                <a:schemeClr val="dk1"/>
              </a:solidFill>
              <a:latin typeface="Calibri"/>
              <a:ea typeface="Calibri"/>
              <a:cs typeface="Calibri"/>
              <a:sym typeface="Calibri"/>
            </a:endParaRPr>
          </a:p>
        </p:txBody>
      </p:sp>
      <p:sp>
        <p:nvSpPr>
          <p:cNvPr id="1018" name="Google Shape;1018;p35"/>
          <p:cNvSpPr/>
          <p:nvPr/>
        </p:nvSpPr>
        <p:spPr>
          <a:xfrm>
            <a:off x="786384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8065008" y="4956048"/>
            <a:ext cx="146304" cy="146304"/>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832104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Bước kế tiếp</a:t>
            </a:r>
            <a:endParaRPr sz="1150" b="0" i="0" u="none" strike="noStrike" cap="none">
              <a:solidFill>
                <a:schemeClr val="dk1"/>
              </a:solidFill>
              <a:latin typeface="Calibri"/>
              <a:ea typeface="Calibri"/>
              <a:cs typeface="Calibri"/>
              <a:sym typeface="Calibri"/>
            </a:endParaRPr>
          </a:p>
        </p:txBody>
      </p:sp>
      <p:sp>
        <p:nvSpPr>
          <p:cNvPr id="1021" name="Google Shape;1021;p35"/>
          <p:cNvSpPr/>
          <p:nvPr/>
        </p:nvSpPr>
        <p:spPr>
          <a:xfrm>
            <a:off x="832104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Chạy closed-loop trong Habitat/Isaac để có SR/SPL (open-loop đã xong 23/07)</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6960</Words>
  <Application>Microsoft Office PowerPoint</Application>
  <PresentationFormat>Widescreen</PresentationFormat>
  <Paragraphs>845</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Lam Nguyen Tung</cp:lastModifiedBy>
  <cp:revision>1</cp:revision>
  <dcterms:modified xsi:type="dcterms:W3CDTF">2026-07-27T08:02:58Z</dcterms:modified>
</cp:coreProperties>
</file>