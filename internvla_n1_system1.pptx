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8"/>
  </p:notesMasterIdLst>
  <p:sldIdLst>
    <p:sldId id="256" r:id="rId2"/>
    <p:sldId id="29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9" r:id="rId30"/>
    <p:sldId id="290" r:id="rId31"/>
    <p:sldId id="283" r:id="rId32"/>
    <p:sldId id="284" r:id="rId33"/>
    <p:sldId id="285" r:id="rId34"/>
    <p:sldId id="286" r:id="rId35"/>
    <p:sldId id="287" r:id="rId36"/>
    <p:sldId id="288" r:id="rId37"/>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D69EF9-3EB6-4A34-B587-486656E65251}">
  <a:tblStyle styleId="{F1D69EF9-3EB6-4A34-B587-486656E6525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Mở bài (10s). 'Tuần 2: setup InternNav + chạy inference dual-system VLN, cả 2 nhánh đã chạy thật.'</a:t>
            </a: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CORE — Ai làm gì (30s). A: local/S1 standalone. B (mình): cloud/S2/dual-system/eval + data contract. Để mentor chấm được đóng góp từng người.</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Google Shape;3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Agenda (10s, lướt). Nói nhanh 5 phần, không đọc từng dòng.</a:t>
            </a:r>
          </a:p>
        </p:txBody>
      </p:sp>
      <p:sp>
        <p:nvSpPr>
          <p:cNvPr id="38" name="Google Shape;3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Bối cảnh (45s). 1 lệnh → 2 loại khó: hiểu/plan (chậm) vs điều khiển realtime (nhanh). Lý do tách slow/fast.</a:t>
            </a:r>
          </a:p>
        </p:txBody>
      </p:sp>
      <p:sp>
        <p:nvSpPr>
          <p:cNvPr id="71" name="Google Shape;7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 CORE — </a:t>
            </a:r>
            <a:r>
              <a:rPr dirty="0" err="1"/>
              <a:t>Kiến</a:t>
            </a:r>
            <a:r>
              <a:rPr dirty="0"/>
              <a:t> </a:t>
            </a:r>
            <a:r>
              <a:rPr dirty="0" err="1"/>
              <a:t>trúc</a:t>
            </a:r>
            <a:r>
              <a:rPr dirty="0"/>
              <a:t> (60s). </a:t>
            </a:r>
            <a:r>
              <a:rPr dirty="0" err="1"/>
              <a:t>Sơ</a:t>
            </a:r>
            <a:r>
              <a:rPr dirty="0"/>
              <a:t> </a:t>
            </a:r>
            <a:r>
              <a:rPr dirty="0" err="1"/>
              <a:t>đồ</a:t>
            </a:r>
            <a:r>
              <a:rPr dirty="0"/>
              <a:t> S2→latent plan→S1→post-process→action. </a:t>
            </a:r>
            <a:r>
              <a:rPr dirty="0" err="1"/>
              <a:t>Điểm</a:t>
            </a:r>
            <a:r>
              <a:rPr dirty="0"/>
              <a:t> </a:t>
            </a:r>
            <a:r>
              <a:rPr dirty="0" err="1"/>
              <a:t>cốt</a:t>
            </a:r>
            <a:r>
              <a:rPr dirty="0"/>
              <a:t> </a:t>
            </a:r>
            <a:r>
              <a:rPr dirty="0" err="1"/>
              <a:t>lõi</a:t>
            </a:r>
            <a:r>
              <a:rPr dirty="0"/>
              <a:t>: S2 </a:t>
            </a:r>
            <a:r>
              <a:rPr dirty="0" err="1"/>
              <a:t>trả</a:t>
            </a:r>
            <a:r>
              <a:rPr dirty="0"/>
              <a:t> LATENT </a:t>
            </a:r>
            <a:r>
              <a:rPr dirty="0" err="1"/>
              <a:t>chứ</a:t>
            </a:r>
            <a:r>
              <a:rPr dirty="0"/>
              <a:t> </a:t>
            </a:r>
            <a:r>
              <a:rPr dirty="0" err="1"/>
              <a:t>không</a:t>
            </a:r>
            <a:r>
              <a:rPr dirty="0"/>
              <a:t> </a:t>
            </a:r>
            <a:r>
              <a:rPr dirty="0" err="1"/>
              <a:t>phải</a:t>
            </a:r>
            <a:r>
              <a:rPr dirty="0"/>
              <a:t> </a:t>
            </a:r>
            <a:r>
              <a:rPr dirty="0" err="1"/>
              <a:t>toạ</a:t>
            </a:r>
            <a:r>
              <a:rPr dirty="0"/>
              <a:t> </a:t>
            </a:r>
            <a:r>
              <a:rPr dirty="0" err="1"/>
              <a:t>độ</a:t>
            </a:r>
            <a:r>
              <a:rPr dirty="0"/>
              <a:t> </a:t>
            </a:r>
            <a:r>
              <a:rPr dirty="0" err="1"/>
              <a:t>số</a:t>
            </a:r>
            <a:r>
              <a:rPr dirty="0"/>
              <a:t>.</a:t>
            </a:r>
          </a:p>
        </p:txBody>
      </p:sp>
      <p:sp>
        <p:nvSpPr>
          <p:cNvPr id="95" name="Google Shape;9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Cảnh báo khái niệm (3 chỗ dễ nhầm). Mở khi được hỏi về history/pixel-vs-latent.</a:t>
            </a:r>
          </a:p>
        </p:txBody>
      </p:sp>
      <p:sp>
        <p:nvSpPr>
          <p:cNvPr id="138" name="Google Shape;13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So sánh standalone vs dual (45s). Bảng 1 slide: cùng tên NavDP, khác goal representation. Cả 2 cột đều 'đã chạy thật'.</a:t>
            </a:r>
          </a:p>
        </p:txBody>
      </p:sp>
      <p:sp>
        <p:nvSpPr>
          <p:cNvPr id="177" name="Google Shape;17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TRANSITION — Divider Phần 02. Lướt nhanh hoặc bỏ.</a:t>
            </a:r>
          </a:p>
        </p:txBody>
      </p:sp>
      <p:sp>
        <p:nvSpPr>
          <p:cNvPr id="186" name="Google Shape;18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Cấu trúc LeRobot chi tiết. Mở khi hỏi về schema data.</a:t>
            </a:r>
          </a:p>
        </p:txBody>
      </p:sp>
      <p:sp>
        <p:nvSpPr>
          <p:cNvPr id="195" name="Google Shape;19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(B) — Dữ liệu thật đã tải (45s). 3 nhánh vln_ce/vln_n1/vln_pe; vln_n1 là sample đủ RGB-D + camera → đã chạy. LƯU Ý: đã sửa, KHÔNG nói 'preview/'.</a:t>
            </a:r>
          </a:p>
        </p:txBody>
      </p:sp>
      <p:sp>
        <p:nvSpPr>
          <p:cNvPr id="227" name="Google Shape;22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Pipeline offline dataset→tensor. Mở khi hỏi cách tạo input NavDP.</a:t>
            </a:r>
          </a:p>
        </p:txBody>
      </p:sp>
      <p:sp>
        <p:nvSpPr>
          <p:cNvPr id="258" name="Google Shape;25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Tiền xử lý RGB 5 bước + chỗ ImageNet norm. Chi tiết kỹ thuật.</a:t>
            </a:r>
          </a:p>
        </p:txBody>
      </p:sp>
      <p:sp>
        <p:nvSpPr>
          <p:cNvPr id="327" name="Google Shape;32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Tiền xử lý depth 3 đường. Chi tiết kỹ thuật (điểm dễ sai đơn vị mét).</a:t>
            </a:r>
          </a:p>
        </p:txBody>
      </p:sp>
      <p:sp>
        <p:nvSpPr>
          <p:cNvPr id="375" name="Google Shape;37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Hình học transform 4×4 → robot-local. Chi tiết.</a:t>
            </a:r>
          </a:p>
        </p:txBody>
      </p:sp>
      <p:sp>
        <p:nvSpPr>
          <p:cNvPr id="393" name="Google Shape;39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 name="Google Shape;43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Chuẩn hoá delta/hệ số 4. Chi tiết.</a:t>
            </a:r>
          </a:p>
        </p:txBody>
      </p:sp>
      <p:sp>
        <p:nvSpPr>
          <p:cNvPr id="436" name="Google Shape;43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TRANSITION — Divider Phần 03. Lướt.</a:t>
            </a:r>
          </a:p>
        </p:txBody>
      </p:sp>
      <p:sp>
        <p:nvSpPr>
          <p:cNvPr id="458" name="Google Shape;45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(A) — System 1 I/O đã kiểm chứng (45s). Bảng shape/dtype/đơn vị input-output; NavDPNet episode-stateless.</a:t>
            </a:r>
          </a:p>
        </p:txBody>
      </p:sp>
      <p:sp>
        <p:nvSpPr>
          <p:cNvPr id="467" name="Google Shape;46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RGB-D backbone token count. Chi tiết.</a:t>
            </a:r>
          </a:p>
        </p:txBody>
      </p:sp>
      <p:sp>
        <p:nvSpPr>
          <p:cNvPr id="504" name="Google Shape;50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Diffusion sinh quỹ đạo. Chi tiết (vì sao nhiều ứng viên).</a:t>
            </a:r>
          </a:p>
        </p:txBody>
      </p:sp>
      <p:sp>
        <p:nvSpPr>
          <p:cNvPr id="556" name="Google Shape;556;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Critic ranking + output standalone. Chi tiết.</a:t>
            </a:r>
          </a:p>
        </p:txBody>
      </p:sp>
      <p:sp>
        <p:nvSpPr>
          <p:cNvPr id="611" name="Google Shape;61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5" name="Google Shape;64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TRANSITION — Divider Phần 04. Lướt.</a:t>
            </a:r>
          </a:p>
        </p:txBody>
      </p:sp>
      <p:sp>
        <p:nvSpPr>
          <p:cNvPr id="646" name="Google Shape;64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(B) — S2 input/prompt/2 nhánh output. Mở khi hỏi prompt format (đây là phần deep-dive của mình).</a:t>
            </a:r>
          </a:p>
        </p:txBody>
      </p:sp>
      <p:sp>
        <p:nvSpPr>
          <p:cNvPr id="655" name="Google Shape;65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(B) — Learned latent queries (60s). Latent plan = hidden của learned query đã attention; vì sao load Transformers thuần thì mất đường latent→NavDP.</a:t>
            </a:r>
          </a:p>
        </p:txBody>
      </p:sp>
      <p:sp>
        <p:nvSpPr>
          <p:cNvPr id="680" name="Google Shape;68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Latent → NavDP dual async (MLP + token compressor). Chi tiết.</a:t>
            </a:r>
          </a:p>
        </p:txBody>
      </p:sp>
      <p:sp>
        <p:nvSpPr>
          <p:cNvPr id="720" name="Google Shape;72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Đầu ra: quỹ đạo → action. Chi tiết (action vocabulary).</a:t>
            </a:r>
          </a:p>
        </p:txBody>
      </p:sp>
      <p:sp>
        <p:nvSpPr>
          <p:cNvPr id="774" name="Google Shape;774;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Điều phối S2 chậm/S1 nhanh + reset(). Mở khi hỏi vì sao reset bắt buộc.</a:t>
            </a:r>
          </a:p>
        </p:txBody>
      </p:sp>
      <p:sp>
        <p:nvSpPr>
          <p:cNvPr id="816" name="Google Shape;81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TRANSITION — Divider Phần 05 (Bằng chứng). Lướt.</a:t>
            </a:r>
          </a:p>
        </p:txBody>
      </p:sp>
      <p:sp>
        <p:nvSpPr>
          <p:cNvPr id="864" name="Google Shape;86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(A) — Bằng chứng standalone (45s). Chạy thật trên laptop GPU: latency 1.59s, input/output đã verify finite. ⚠️ XÁC NHẬN nhãn GPU (kế hoạch ghi RTX 3050 6GB, slide ghi RTX 4050) + đảm bảo MH_week2/logs đã push lên nhánh chung.</a:t>
            </a:r>
          </a:p>
        </p:txBody>
      </p:sp>
      <p:sp>
        <p:nvSpPr>
          <p:cNvPr id="873" name="Google Shape;87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CORE (B) — Bằng chứng dual-system 7B (60s, ĐIỂM NHẤN). Kaggle T4×2 23/07: 16.78GB, navdp 98.8M, 101/128 frame ra latent, GATE 1/2/3 PASS. Open-loop, KHÔNG phải SR/SPL.</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 CORE (B) — S2 chạy thật + look-down (60s). L2 median 20px (mean 41.8 nhạy scale, đừng để đứng 1 mình), action 37%=10/27 (10/17 lỗi là STOP sớm), 35.5s/frame, look-down 2 nhịp.</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Ranh giới bằng chứng notebook. Mở khi hỏi notebook chính thức chứng minh gì.</a:t>
            </a:r>
          </a:p>
        </p:txBody>
      </p:sp>
      <p:sp>
        <p:nvSpPr>
          <p:cNvPr id="900" name="Google Shape;90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Failure modes. Rất hữu ích khi bị hỏi 'gặp lỗi gì'.</a:t>
            </a:r>
          </a:p>
        </p:txBody>
      </p:sp>
      <p:sp>
        <p:nvSpPr>
          <p:cNvPr id="920" name="Google Shape;920;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Tiến độ &amp; bước kế tiếp (45s). Nhánh A+B đã đóng; còn lại closed-loop SR/SPL + habitat env + data contract nhóm SIM + PR docs. Nói THẲNG cái gì chưa làm.</a:t>
            </a:r>
          </a:p>
        </p:txBody>
      </p:sp>
      <p:sp>
        <p:nvSpPr>
          <p:cNvPr id="928" name="Google Shape;92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9 điểm đã xác minh trên 7B. Mở khi hỏi chi tiết gate.</a:t>
            </a:r>
          </a:p>
        </p:txBody>
      </p:sp>
      <p:sp>
        <p:nvSpPr>
          <p:cNvPr id="948" name="Google Shape;948;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BACKUP — Source map trong repo. Để tra cứu.</a:t>
            </a:r>
          </a:p>
        </p:txBody>
      </p:sp>
      <p:sp>
        <p:nvSpPr>
          <p:cNvPr id="994" name="Google Shape;99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CORE — Câu tổng kết (30s). 1 câu mô tả toàn pipeline + 'đã chứng minh / đã đọc kỹ code / bước kế tiếp'.</a:t>
            </a:r>
          </a:p>
        </p:txBody>
      </p:sp>
      <p:sp>
        <p:nvSpPr>
          <p:cNvPr id="1003" name="Google Shape;1003;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15"/>
        <p:cNvGrpSpPr/>
        <p:nvPr/>
      </p:nvGrpSpPr>
      <p:grpSpPr>
        <a:xfrm>
          <a:off x="0" y="0"/>
          <a:ext cx="0" cy="0"/>
          <a:chOff x="0" y="0"/>
          <a:chExt cx="0" cy="0"/>
        </a:xfrm>
      </p:grpSpPr>
      <p:sp>
        <p:nvSpPr>
          <p:cNvPr id="16" name="Google Shape;16;p3"/>
          <p:cNvSpPr/>
          <p:nvPr/>
        </p:nvSpPr>
        <p:spPr>
          <a:xfrm>
            <a:off x="9418320" y="-1371600"/>
            <a:ext cx="4754880" cy="475488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0607040" y="4023360"/>
            <a:ext cx="3108960" cy="3108960"/>
          </a:xfrm>
          <a:prstGeom prst="ellipse">
            <a:avLst/>
          </a:prstGeom>
          <a:solidFill>
            <a:srgbClr val="1733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548640" y="1417320"/>
            <a:ext cx="8229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00"/>
              <a:buFont typeface="Arial"/>
              <a:buNone/>
            </a:pPr>
            <a:r>
              <a:rPr lang="en-US" sz="1200" b="1" i="0" u="none" strike="noStrike" cap="none">
                <a:solidFill>
                  <a:srgbClr val="00A896"/>
                </a:solidFill>
                <a:latin typeface="Arial"/>
                <a:ea typeface="Arial"/>
                <a:cs typeface="Arial"/>
                <a:sym typeface="Arial"/>
              </a:rPr>
              <a:t>INTERNNAV · DUAL-SYSTEM VLN</a:t>
            </a:r>
            <a:endParaRPr sz="1200" b="0" i="0" u="none" strike="noStrike" cap="none">
              <a:solidFill>
                <a:schemeClr val="dk1"/>
              </a:solidFill>
              <a:latin typeface="Calibri"/>
              <a:ea typeface="Calibri"/>
              <a:cs typeface="Calibri"/>
              <a:sym typeface="Calibri"/>
            </a:endParaRPr>
          </a:p>
        </p:txBody>
      </p:sp>
      <p:sp>
        <p:nvSpPr>
          <p:cNvPr id="19" name="Google Shape;19;p3"/>
          <p:cNvSpPr/>
          <p:nvPr/>
        </p:nvSpPr>
        <p:spPr>
          <a:xfrm>
            <a:off x="548640" y="1828800"/>
            <a:ext cx="8778240" cy="1463040"/>
          </a:xfrm>
          <a:prstGeom prst="rect">
            <a:avLst/>
          </a:prstGeom>
          <a:noFill/>
          <a:ln>
            <a:noFill/>
          </a:ln>
        </p:spPr>
        <p:txBody>
          <a:bodyPr spcFirstLastPara="1" wrap="square" lIns="0" tIns="0" rIns="0" bIns="0" anchor="ctr" anchorCtr="0">
            <a:noAutofit/>
          </a:bodyPr>
          <a:lstStyle/>
          <a:p>
            <a:pPr marL="0" marR="0" lvl="0" indent="0" algn="l" rtl="0">
              <a:lnSpc>
                <a:spcPct val="118421"/>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InternVLA-N1: từ dữ liệu RGB-D</a:t>
            </a:r>
            <a:endParaRPr sz="3800" b="0" i="0" u="none" strike="noStrike" cap="none">
              <a:solidFill>
                <a:schemeClr val="dk1"/>
              </a:solidFill>
              <a:latin typeface="Calibri"/>
              <a:ea typeface="Calibri"/>
              <a:cs typeface="Calibri"/>
              <a:sym typeface="Calibri"/>
            </a:endParaRPr>
          </a:p>
          <a:p>
            <a:pPr marL="0" marR="0" lvl="0" indent="0" algn="l" rtl="0">
              <a:lnSpc>
                <a:spcPct val="118421"/>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đến hành động của robot</a:t>
            </a:r>
            <a:endParaRPr sz="3800" b="0" i="0" u="none" strike="noStrike" cap="none">
              <a:solidFill>
                <a:schemeClr val="dk1"/>
              </a:solidFill>
              <a:latin typeface="Calibri"/>
              <a:ea typeface="Calibri"/>
              <a:cs typeface="Calibri"/>
              <a:sym typeface="Calibri"/>
            </a:endParaRPr>
          </a:p>
        </p:txBody>
      </p:sp>
      <p:sp>
        <p:nvSpPr>
          <p:cNvPr id="20" name="Google Shape;20;p3"/>
          <p:cNvSpPr/>
          <p:nvPr/>
        </p:nvSpPr>
        <p:spPr>
          <a:xfrm>
            <a:off x="548640" y="3401568"/>
            <a:ext cx="85953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500"/>
              <a:buFont typeface="Arial"/>
              <a:buNone/>
            </a:pPr>
            <a:r>
              <a:rPr lang="en-US" sz="1500" b="0" i="0" u="none" strike="noStrike" cap="none">
                <a:solidFill>
                  <a:srgbClr val="9FBEC2"/>
                </a:solidFill>
                <a:latin typeface="Arial"/>
                <a:ea typeface="Arial"/>
                <a:cs typeface="Arial"/>
                <a:sym typeface="Arial"/>
              </a:rPr>
              <a:t>Dual-system đầy đủ: System 2 (VLM) → latent plan → System 1 (NavDP) — đã chạy end-to-end open-loop</a:t>
            </a:r>
            <a:endParaRPr sz="1500" b="0" i="0" u="none" strike="noStrike" cap="none">
              <a:solidFill>
                <a:schemeClr val="dk1"/>
              </a:solidFill>
              <a:latin typeface="Calibri"/>
              <a:ea typeface="Calibri"/>
              <a:cs typeface="Calibri"/>
              <a:sym typeface="Calibri"/>
            </a:endParaRPr>
          </a:p>
        </p:txBody>
      </p:sp>
      <p:cxnSp>
        <p:nvCxnSpPr>
          <p:cNvPr id="21" name="Google Shape;21;p3"/>
          <p:cNvCxnSpPr/>
          <p:nvPr/>
        </p:nvCxnSpPr>
        <p:spPr>
          <a:xfrm>
            <a:off x="548640" y="4069080"/>
            <a:ext cx="3108960" cy="0"/>
          </a:xfrm>
          <a:prstGeom prst="straightConnector1">
            <a:avLst/>
          </a:prstGeom>
          <a:noFill/>
          <a:ln w="25400" cap="flat" cmpd="sng">
            <a:solidFill>
              <a:srgbClr val="D98324"/>
            </a:solidFill>
            <a:prstDash val="solid"/>
            <a:round/>
            <a:headEnd type="none" w="sm" len="sm"/>
            <a:tailEnd type="none" w="sm" len="sm"/>
          </a:ln>
        </p:spPr>
      </p:cxnSp>
      <p:sp>
        <p:nvSpPr>
          <p:cNvPr id="22" name="Google Shape;22;p3"/>
          <p:cNvSpPr/>
          <p:nvPr/>
        </p:nvSpPr>
        <p:spPr>
          <a:xfrm>
            <a:off x="54864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713232" y="4681728"/>
            <a:ext cx="146304" cy="14630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95097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chạy thật</a:t>
            </a:r>
            <a:endParaRPr sz="1150" b="0" i="0" u="none" strike="noStrike" cap="none">
              <a:solidFill>
                <a:schemeClr val="dk1"/>
              </a:solidFill>
              <a:latin typeface="Calibri"/>
              <a:ea typeface="Calibri"/>
              <a:cs typeface="Calibri"/>
              <a:sym typeface="Calibri"/>
            </a:endParaRPr>
          </a:p>
        </p:txBody>
      </p:sp>
      <p:sp>
        <p:nvSpPr>
          <p:cNvPr id="25" name="Google Shape;25;p3"/>
          <p:cNvSpPr/>
          <p:nvPr/>
        </p:nvSpPr>
        <p:spPr>
          <a:xfrm>
            <a:off x="95097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NavDP standalone trên sample InternData-N1</a:t>
            </a:r>
            <a:endParaRPr sz="950" b="0" i="0" u="none" strike="noStrike" cap="none">
              <a:solidFill>
                <a:schemeClr val="dk1"/>
              </a:solidFill>
              <a:latin typeface="Calibri"/>
              <a:ea typeface="Calibri"/>
              <a:cs typeface="Calibri"/>
              <a:sym typeface="Calibri"/>
            </a:endParaRPr>
          </a:p>
        </p:txBody>
      </p:sp>
      <p:sp>
        <p:nvSpPr>
          <p:cNvPr id="26" name="Google Shape;26;p3"/>
          <p:cNvSpPr/>
          <p:nvPr/>
        </p:nvSpPr>
        <p:spPr>
          <a:xfrm>
            <a:off x="406908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4233672" y="468172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447141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đối chiếu code</a:t>
            </a:r>
            <a:endParaRPr sz="1150" b="0" i="0" u="none" strike="noStrike" cap="none">
              <a:solidFill>
                <a:schemeClr val="dk1"/>
              </a:solidFill>
              <a:latin typeface="Calibri"/>
              <a:ea typeface="Calibri"/>
              <a:cs typeface="Calibri"/>
              <a:sym typeface="Calibri"/>
            </a:endParaRPr>
          </a:p>
        </p:txBody>
      </p:sp>
      <p:sp>
        <p:nvSpPr>
          <p:cNvPr id="29" name="Google Shape;29;p3"/>
          <p:cNvSpPr/>
          <p:nvPr/>
        </p:nvSpPr>
        <p:spPr>
          <a:xfrm>
            <a:off x="447141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Pipeline dual-system, latent plan, post-processing</a:t>
            </a:r>
            <a:endParaRPr sz="950" b="0" i="0" u="none" strike="noStrike" cap="none">
              <a:solidFill>
                <a:schemeClr val="dk1"/>
              </a:solidFill>
              <a:latin typeface="Calibri"/>
              <a:ea typeface="Calibri"/>
              <a:cs typeface="Calibri"/>
              <a:sym typeface="Calibri"/>
            </a:endParaRPr>
          </a:p>
        </p:txBody>
      </p:sp>
      <p:sp>
        <p:nvSpPr>
          <p:cNvPr id="30" name="Google Shape;30;p3"/>
          <p:cNvSpPr/>
          <p:nvPr/>
        </p:nvSpPr>
        <p:spPr>
          <a:xfrm>
            <a:off x="7589520" y="4434840"/>
            <a:ext cx="3291840" cy="841248"/>
          </a:xfrm>
          <a:prstGeom prst="roundRect">
            <a:avLst>
              <a:gd name="adj" fmla="val 6522"/>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7754112" y="4681728"/>
            <a:ext cx="146304" cy="146304"/>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7991856" y="4590288"/>
            <a:ext cx="2743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chạy open-loop</a:t>
            </a:r>
            <a:endParaRPr sz="1150" b="0" i="0" u="none" strike="noStrike" cap="none">
              <a:solidFill>
                <a:schemeClr val="dk1"/>
              </a:solidFill>
              <a:latin typeface="Calibri"/>
              <a:ea typeface="Calibri"/>
              <a:cs typeface="Calibri"/>
              <a:sym typeface="Calibri"/>
            </a:endParaRPr>
          </a:p>
        </p:txBody>
      </p:sp>
      <p:sp>
        <p:nvSpPr>
          <p:cNvPr id="33" name="Google Shape;33;p3"/>
          <p:cNvSpPr/>
          <p:nvPr/>
        </p:nvSpPr>
        <p:spPr>
          <a:xfrm>
            <a:off x="7991856" y="4818888"/>
            <a:ext cx="2743200" cy="402336"/>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Dual-system 7B trên Kaggle T4×2 (23/07); còn lại closed-loop</a:t>
            </a:r>
            <a:endParaRPr sz="950" b="0" i="0" u="none" strike="noStrike" cap="none">
              <a:solidFill>
                <a:schemeClr val="dk1"/>
              </a:solidFill>
              <a:latin typeface="Calibri"/>
              <a:ea typeface="Calibri"/>
              <a:cs typeface="Calibri"/>
              <a:sym typeface="Calibri"/>
            </a:endParaRPr>
          </a:p>
        </p:txBody>
      </p:sp>
      <p:sp>
        <p:nvSpPr>
          <p:cNvPr id="34" name="Google Shape;34;p3"/>
          <p:cNvSpPr/>
          <p:nvPr/>
        </p:nvSpPr>
        <p:spPr>
          <a:xfrm>
            <a:off x="548640" y="5989320"/>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9199"/>
              </a:buClr>
              <a:buSzPts val="1000"/>
              <a:buFont typeface="Arial"/>
              <a:buNone/>
            </a:pPr>
            <a:r>
              <a:rPr lang="en-US" sz="1000" b="0" i="0" u="none" strike="noStrike" cap="none">
                <a:solidFill>
                  <a:srgbClr val="6E9199"/>
                </a:solidFill>
                <a:latin typeface="Arial"/>
                <a:ea typeface="Arial"/>
                <a:cs typeface="Arial"/>
                <a:sym typeface="Arial"/>
              </a:rPr>
              <a:t>Nguồn: docs/handbook 01–06 · results.json   |   Kiểm chứng real-data: 23-07-2026 (dual-system open-loop, Kaggle T4×2)</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 name="Google Shape;902;p30"/>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PHÂN CÔNG · 2 NGƯỜI</a:t>
            </a:r>
            <a:endParaRPr sz="1050" b="0" i="0" u="none" strike="noStrike" cap="none">
              <a:solidFill>
                <a:schemeClr val="dk1"/>
              </a:solidFill>
              <a:latin typeface="Calibri"/>
              <a:ea typeface="Calibri"/>
              <a:cs typeface="Calibri"/>
              <a:sym typeface="Calibri"/>
            </a:endParaRPr>
          </a:p>
        </p:txBody>
      </p:sp>
      <p:sp>
        <p:nvSpPr>
          <p:cNvPr id="903" name="Google Shape;903;p30"/>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Hai luồng song song, hội tụ ở dual-system</a:t>
            </a:r>
            <a:endParaRPr sz="2500" b="0" i="0" u="none" strike="noStrike" cap="none">
              <a:solidFill>
                <a:schemeClr val="dk1"/>
              </a:solidFill>
              <a:latin typeface="Calibri"/>
              <a:ea typeface="Calibri"/>
              <a:cs typeface="Calibri"/>
              <a:sym typeface="Calibri"/>
            </a:endParaRPr>
          </a:p>
        </p:txBody>
      </p:sp>
      <p:sp>
        <p:nvSpPr>
          <p:cNvPr id="904" name="Google Shape;904;p30"/>
          <p:cNvSpPr/>
          <p:nvPr/>
        </p:nvSpPr>
        <p:spPr>
          <a:xfrm>
            <a:off x="548640" y="1417320"/>
            <a:ext cx="5349240" cy="2743200"/>
          </a:xfrm>
          <a:prstGeom prst="roundRect">
            <a:avLst>
              <a:gd name="adj" fmla="val 2000"/>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0"/>
          <p:cNvSpPr/>
          <p:nvPr/>
        </p:nvSpPr>
        <p:spPr>
          <a:xfrm>
            <a:off x="822960" y="1627632"/>
            <a:ext cx="365760" cy="365760"/>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0"/>
          <p:cNvSpPr/>
          <p:nvPr/>
        </p:nvSpPr>
        <p:spPr>
          <a:xfrm>
            <a:off x="82296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A</a:t>
            </a:r>
            <a:endParaRPr sz="1300" b="0" i="0" u="none" strike="noStrike" cap="none">
              <a:solidFill>
                <a:schemeClr val="dk1"/>
              </a:solidFill>
              <a:latin typeface="Calibri"/>
              <a:ea typeface="Calibri"/>
              <a:cs typeface="Calibri"/>
              <a:sym typeface="Calibri"/>
            </a:endParaRPr>
          </a:p>
        </p:txBody>
      </p:sp>
      <p:sp>
        <p:nvSpPr>
          <p:cNvPr id="907" name="Google Shape;907;p30"/>
          <p:cNvSpPr/>
          <p:nvPr/>
        </p:nvSpPr>
        <p:spPr>
          <a:xfrm>
            <a:off x="1325880"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Người A · Model &amp; Local</a:t>
            </a:r>
            <a:endParaRPr sz="1350" b="0" i="0" u="none" strike="noStrike" cap="none">
              <a:solidFill>
                <a:schemeClr val="dk1"/>
              </a:solidFill>
              <a:latin typeface="Calibri"/>
              <a:ea typeface="Calibri"/>
              <a:cs typeface="Calibri"/>
              <a:sym typeface="Calibri"/>
            </a:endParaRPr>
          </a:p>
        </p:txBody>
      </p:sp>
      <p:sp>
        <p:nvSpPr>
          <p:cNvPr id="908" name="Google Shape;908;p30"/>
          <p:cNvSpPr/>
          <p:nvPr/>
        </p:nvSpPr>
        <p:spPr>
          <a:xfrm>
            <a:off x="841248"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WSL2 + env internnav-s1, submodule, checkpoint NavDP</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NavDP standalone: RGB-D backbone, diffusion, critic</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Đọc internvla_n1_agent.py: cơ chế ghép S2 → latent → S1</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Chạy real-data trên laptop GPU + tài liệu I/O System 1</a:t>
            </a:r>
            <a:endParaRPr sz="1150" b="0" i="0" u="none" strike="noStrike" cap="none">
              <a:solidFill>
                <a:schemeClr val="dk1"/>
              </a:solidFill>
              <a:latin typeface="Calibri"/>
              <a:ea typeface="Calibri"/>
              <a:cs typeface="Calibri"/>
              <a:sym typeface="Calibri"/>
            </a:endParaRPr>
          </a:p>
        </p:txBody>
      </p:sp>
      <p:sp>
        <p:nvSpPr>
          <p:cNvPr id="909" name="Google Shape;909;p30"/>
          <p:cNvSpPr/>
          <p:nvPr/>
        </p:nvSpPr>
        <p:spPr>
          <a:xfrm>
            <a:off x="6291072" y="1417320"/>
            <a:ext cx="5349240" cy="2743200"/>
          </a:xfrm>
          <a:prstGeom prst="roundRect">
            <a:avLst>
              <a:gd name="adj" fmla="val 2000"/>
            </a:avLst>
          </a:prstGeom>
          <a:solidFill>
            <a:srgbClr val="FFFFFF"/>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0"/>
          <p:cNvSpPr/>
          <p:nvPr/>
        </p:nvSpPr>
        <p:spPr>
          <a:xfrm>
            <a:off x="6565392" y="1627632"/>
            <a:ext cx="365760" cy="365760"/>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0"/>
          <p:cNvSpPr/>
          <p:nvPr/>
        </p:nvSpPr>
        <p:spPr>
          <a:xfrm>
            <a:off x="6565392"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B</a:t>
            </a:r>
            <a:endParaRPr sz="1400" b="0" i="0" u="none" strike="noStrike" cap="none">
              <a:solidFill>
                <a:schemeClr val="dk1"/>
              </a:solidFill>
              <a:latin typeface="Calibri"/>
              <a:ea typeface="Calibri"/>
              <a:cs typeface="Calibri"/>
              <a:sym typeface="Calibri"/>
            </a:endParaRPr>
          </a:p>
        </p:txBody>
      </p:sp>
      <p:sp>
        <p:nvSpPr>
          <p:cNvPr id="912" name="Google Shape;912;p30"/>
          <p:cNvSpPr/>
          <p:nvPr/>
        </p:nvSpPr>
        <p:spPr>
          <a:xfrm>
            <a:off x="7068312"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50"/>
              <a:buFont typeface="Arial"/>
              <a:buNone/>
            </a:pPr>
            <a:r>
              <a:rPr lang="en-US" sz="1350" b="1" i="0" u="none" strike="noStrike" cap="none">
                <a:solidFill>
                  <a:srgbClr val="D98324"/>
                </a:solidFill>
                <a:latin typeface="Arial"/>
                <a:ea typeface="Arial"/>
                <a:cs typeface="Arial"/>
                <a:sym typeface="Arial"/>
              </a:rPr>
              <a:t>Người B · Cloud &amp; Eval</a:t>
            </a:r>
            <a:endParaRPr sz="1350" b="0" i="0" u="none" strike="noStrike" cap="none">
              <a:solidFill>
                <a:schemeClr val="dk1"/>
              </a:solidFill>
              <a:latin typeface="Calibri"/>
              <a:ea typeface="Calibri"/>
              <a:cs typeface="Calibri"/>
              <a:sym typeface="Calibri"/>
            </a:endParaRPr>
          </a:p>
        </p:txBody>
      </p:sp>
      <p:sp>
        <p:nvSpPr>
          <p:cNvPr id="913" name="Google Shape;913;p30"/>
          <p:cNvSpPr/>
          <p:nvPr/>
        </p:nvSpPr>
        <p:spPr>
          <a:xfrm>
            <a:off x="6583680"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Kaggle T4×2: đóng gói checkpoint, chạy S2 (Qwen2.5-VL 7B)</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Dual-system 7B open-loop 23/07: GATE 1/2/3, metric S2, look-down 2 nhịp</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Prompt/parser S2 · data contract LeRobot · theo dõi yêu cầu server</a:t>
            </a:r>
            <a:endParaRPr sz="1150" b="0" i="0" u="none" strike="noStrike" cap="none">
              <a:solidFill>
                <a:schemeClr val="dk1"/>
              </a:solidFill>
              <a:latin typeface="Calibri"/>
              <a:ea typeface="Calibri"/>
              <a:cs typeface="Calibri"/>
              <a:sym typeface="Calibri"/>
            </a:endParaRPr>
          </a:p>
        </p:txBody>
      </p:sp>
      <p:sp>
        <p:nvSpPr>
          <p:cNvPr id="914" name="Google Shape;914;p30"/>
          <p:cNvSpPr/>
          <p:nvPr/>
        </p:nvSpPr>
        <p:spPr>
          <a:xfrm>
            <a:off x="548640" y="4434840"/>
            <a:ext cx="11091672" cy="1783080"/>
          </a:xfrm>
          <a:prstGeom prst="roundRect">
            <a:avLst>
              <a:gd name="adj" fmla="val 307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0"/>
          <p:cNvSpPr/>
          <p:nvPr/>
        </p:nvSpPr>
        <p:spPr>
          <a:xfrm>
            <a:off x="868680" y="4645152"/>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400"/>
              <a:buFont typeface="Arial"/>
              <a:buNone/>
            </a:pPr>
            <a:r>
              <a:rPr lang="en-US" sz="1400" b="1" i="0" u="none" strike="noStrike" cap="none">
                <a:solidFill>
                  <a:srgbClr val="00A896"/>
                </a:solidFill>
                <a:latin typeface="Arial"/>
                <a:ea typeface="Arial"/>
                <a:cs typeface="Arial"/>
                <a:sym typeface="Arial"/>
              </a:rPr>
              <a:t>Hội tụ (Ngày 4–5): ghép dual-system, chạy thử, sync nhóm SIM</a:t>
            </a:r>
            <a:endParaRPr sz="1400" b="0" i="0" u="none" strike="noStrike" cap="none">
              <a:solidFill>
                <a:schemeClr val="dk1"/>
              </a:solidFill>
              <a:latin typeface="Calibri"/>
              <a:ea typeface="Calibri"/>
              <a:cs typeface="Calibri"/>
              <a:sym typeface="Calibri"/>
            </a:endParaRPr>
          </a:p>
        </p:txBody>
      </p:sp>
      <p:sp>
        <p:nvSpPr>
          <p:cNvPr id="916" name="Google Shape;916;p30"/>
          <p:cNvSpPr/>
          <p:nvPr/>
        </p:nvSpPr>
        <p:spPr>
          <a:xfrm>
            <a:off x="868680" y="4983480"/>
            <a:ext cx="10424160" cy="82296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Bước kế tiếp chung: closed-loop SR/SPL trên Habitat/Isaac (server ≥24GB).</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4"/>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NỘI DUNG</a:t>
            </a:r>
            <a:endParaRPr sz="1050" b="0" i="0" u="none" strike="noStrike" cap="none">
              <a:solidFill>
                <a:schemeClr val="dk1"/>
              </a:solidFill>
              <a:latin typeface="Calibri"/>
              <a:ea typeface="Calibri"/>
              <a:cs typeface="Calibri"/>
              <a:sym typeface="Calibri"/>
            </a:endParaRPr>
          </a:p>
        </p:txBody>
      </p:sp>
      <p:sp>
        <p:nvSpPr>
          <p:cNvPr id="41" name="Google Shape;41;p4"/>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Năm phần</a:t>
            </a:r>
            <a:endParaRPr sz="2500" b="0" i="0" u="none" strike="noStrike" cap="none">
              <a:solidFill>
                <a:schemeClr val="dk1"/>
              </a:solidFill>
              <a:latin typeface="Calibri"/>
              <a:ea typeface="Calibri"/>
              <a:cs typeface="Calibri"/>
              <a:sym typeface="Calibri"/>
            </a:endParaRPr>
          </a:p>
        </p:txBody>
      </p:sp>
      <p:sp>
        <p:nvSpPr>
          <p:cNvPr id="42" name="Google Shape;42;p4"/>
          <p:cNvSpPr/>
          <p:nvPr/>
        </p:nvSpPr>
        <p:spPr>
          <a:xfrm>
            <a:off x="548640" y="1481328"/>
            <a:ext cx="11091672" cy="786384"/>
          </a:xfrm>
          <a:prstGeom prst="roundRect">
            <a:avLst>
              <a:gd name="adj" fmla="val 6977"/>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a:off x="804672" y="1664208"/>
            <a:ext cx="420624" cy="42062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a:off x="804672" y="1664208"/>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01</a:t>
            </a:r>
            <a:endParaRPr sz="1300" b="0" i="0" u="none" strike="noStrike" cap="none">
              <a:solidFill>
                <a:schemeClr val="dk1"/>
              </a:solidFill>
              <a:latin typeface="Calibri"/>
              <a:ea typeface="Calibri"/>
              <a:cs typeface="Calibri"/>
              <a:sym typeface="Calibri"/>
            </a:endParaRPr>
          </a:p>
        </p:txBody>
      </p:sp>
      <p:sp>
        <p:nvSpPr>
          <p:cNvPr id="45" name="Google Shape;45;p4"/>
          <p:cNvSpPr/>
          <p:nvPr/>
        </p:nvSpPr>
        <p:spPr>
          <a:xfrm>
            <a:off x="1417320" y="1627632"/>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50"/>
              <a:buFont typeface="Arial"/>
              <a:buNone/>
            </a:pPr>
            <a:r>
              <a:rPr lang="en-US" sz="1450" b="1" i="0" u="none" strike="noStrike" cap="none">
                <a:solidFill>
                  <a:srgbClr val="1B2B31"/>
                </a:solidFill>
                <a:latin typeface="Arial"/>
                <a:ea typeface="Arial"/>
                <a:cs typeface="Arial"/>
                <a:sym typeface="Arial"/>
              </a:rPr>
              <a:t>Bối cảnh &amp; kiến trúc</a:t>
            </a:r>
            <a:endParaRPr sz="1450" b="0" i="0" u="none" strike="noStrike" cap="none">
              <a:solidFill>
                <a:schemeClr val="dk1"/>
              </a:solidFill>
              <a:latin typeface="Calibri"/>
              <a:ea typeface="Calibri"/>
              <a:cs typeface="Calibri"/>
              <a:sym typeface="Calibri"/>
            </a:endParaRPr>
          </a:p>
        </p:txBody>
      </p:sp>
      <p:sp>
        <p:nvSpPr>
          <p:cNvPr id="46" name="Google Shape;46;p4"/>
          <p:cNvSpPr/>
          <p:nvPr/>
        </p:nvSpPr>
        <p:spPr>
          <a:xfrm>
            <a:off x="1417320" y="1911096"/>
            <a:ext cx="7772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Vì sao tách slow/fast; ba khái niệm dễ nhầm lẫn</a:t>
            </a:r>
            <a:endParaRPr sz="1100" b="0" i="0" u="none" strike="noStrike" cap="none">
              <a:solidFill>
                <a:schemeClr val="dk1"/>
              </a:solidFill>
              <a:latin typeface="Calibri"/>
              <a:ea typeface="Calibri"/>
              <a:cs typeface="Calibri"/>
              <a:sym typeface="Calibri"/>
            </a:endParaRPr>
          </a:p>
        </p:txBody>
      </p:sp>
      <p:sp>
        <p:nvSpPr>
          <p:cNvPr id="47" name="Google Shape;47;p4"/>
          <p:cNvSpPr/>
          <p:nvPr/>
        </p:nvSpPr>
        <p:spPr>
          <a:xfrm>
            <a:off x="548640" y="2414016"/>
            <a:ext cx="11091672" cy="786384"/>
          </a:xfrm>
          <a:prstGeom prst="roundRect">
            <a:avLst>
              <a:gd name="adj" fmla="val 6977"/>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804672" y="2596896"/>
            <a:ext cx="420624" cy="42062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804672" y="259689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02</a:t>
            </a:r>
            <a:endParaRPr sz="1300" b="0" i="0" u="none" strike="noStrike" cap="none">
              <a:solidFill>
                <a:schemeClr val="dk1"/>
              </a:solidFill>
              <a:latin typeface="Calibri"/>
              <a:ea typeface="Calibri"/>
              <a:cs typeface="Calibri"/>
              <a:sym typeface="Calibri"/>
            </a:endParaRPr>
          </a:p>
        </p:txBody>
      </p:sp>
      <p:sp>
        <p:nvSpPr>
          <p:cNvPr id="50" name="Google Shape;50;p4"/>
          <p:cNvSpPr/>
          <p:nvPr/>
        </p:nvSpPr>
        <p:spPr>
          <a:xfrm>
            <a:off x="1417320" y="2560320"/>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50"/>
              <a:buFont typeface="Arial"/>
              <a:buNone/>
            </a:pPr>
            <a:r>
              <a:rPr lang="en-US" sz="1450" b="1" i="0" u="none" strike="noStrike" cap="none">
                <a:solidFill>
                  <a:srgbClr val="1B2B31"/>
                </a:solidFill>
                <a:latin typeface="Arial"/>
                <a:ea typeface="Arial"/>
                <a:cs typeface="Arial"/>
                <a:sym typeface="Arial"/>
              </a:rPr>
              <a:t>Data contract InternData-N1</a:t>
            </a:r>
            <a:endParaRPr sz="1450" b="0" i="0" u="none" strike="noStrike" cap="none">
              <a:solidFill>
                <a:schemeClr val="dk1"/>
              </a:solidFill>
              <a:latin typeface="Calibri"/>
              <a:ea typeface="Calibri"/>
              <a:cs typeface="Calibri"/>
              <a:sym typeface="Calibri"/>
            </a:endParaRPr>
          </a:p>
        </p:txBody>
      </p:sp>
      <p:sp>
        <p:nvSpPr>
          <p:cNvPr id="51" name="Google Shape;51;p4"/>
          <p:cNvSpPr/>
          <p:nvPr/>
        </p:nvSpPr>
        <p:spPr>
          <a:xfrm>
            <a:off x="1417320" y="2843784"/>
            <a:ext cx="7772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Cấu trúc LeRobot, preview thật, tiền xử lý RGB-D-pose</a:t>
            </a:r>
            <a:endParaRPr sz="1100" b="0" i="0" u="none" strike="noStrike" cap="none">
              <a:solidFill>
                <a:schemeClr val="dk1"/>
              </a:solidFill>
              <a:latin typeface="Calibri"/>
              <a:ea typeface="Calibri"/>
              <a:cs typeface="Calibri"/>
              <a:sym typeface="Calibri"/>
            </a:endParaRPr>
          </a:p>
        </p:txBody>
      </p:sp>
      <p:sp>
        <p:nvSpPr>
          <p:cNvPr id="52" name="Google Shape;52;p4"/>
          <p:cNvSpPr/>
          <p:nvPr/>
        </p:nvSpPr>
        <p:spPr>
          <a:xfrm>
            <a:off x="548640" y="3346704"/>
            <a:ext cx="11091672" cy="786384"/>
          </a:xfrm>
          <a:prstGeom prst="roundRect">
            <a:avLst>
              <a:gd name="adj" fmla="val 697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804672" y="3529584"/>
            <a:ext cx="420624" cy="420624"/>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804672" y="3529584"/>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03</a:t>
            </a:r>
            <a:endParaRPr sz="1300" b="0" i="0" u="none" strike="noStrike" cap="none">
              <a:solidFill>
                <a:schemeClr val="dk1"/>
              </a:solidFill>
              <a:latin typeface="Calibri"/>
              <a:ea typeface="Calibri"/>
              <a:cs typeface="Calibri"/>
              <a:sym typeface="Calibri"/>
            </a:endParaRPr>
          </a:p>
        </p:txBody>
      </p:sp>
      <p:sp>
        <p:nvSpPr>
          <p:cNvPr id="55" name="Google Shape;55;p4"/>
          <p:cNvSpPr/>
          <p:nvPr/>
        </p:nvSpPr>
        <p:spPr>
          <a:xfrm>
            <a:off x="1417320" y="3493008"/>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50"/>
              <a:buFont typeface="Arial"/>
              <a:buNone/>
            </a:pPr>
            <a:r>
              <a:rPr lang="en-US" sz="1450" b="1" i="0" u="none" strike="noStrike" cap="none">
                <a:solidFill>
                  <a:srgbClr val="1B2B31"/>
                </a:solidFill>
                <a:latin typeface="Arial"/>
                <a:ea typeface="Arial"/>
                <a:cs typeface="Arial"/>
                <a:sym typeface="Arial"/>
              </a:rPr>
              <a:t>System 1 — NavDP standalone</a:t>
            </a:r>
            <a:endParaRPr sz="1450" b="0" i="0" u="none" strike="noStrike" cap="none">
              <a:solidFill>
                <a:schemeClr val="dk1"/>
              </a:solidFill>
              <a:latin typeface="Calibri"/>
              <a:ea typeface="Calibri"/>
              <a:cs typeface="Calibri"/>
              <a:sym typeface="Calibri"/>
            </a:endParaRPr>
          </a:p>
        </p:txBody>
      </p:sp>
      <p:sp>
        <p:nvSpPr>
          <p:cNvPr id="56" name="Google Shape;56;p4"/>
          <p:cNvSpPr/>
          <p:nvPr/>
        </p:nvSpPr>
        <p:spPr>
          <a:xfrm>
            <a:off x="1417320" y="3776472"/>
            <a:ext cx="7772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I/O contract, RGB-D backbone, diffusion, critic</a:t>
            </a:r>
            <a:endParaRPr sz="1100" b="0" i="0" u="none" strike="noStrike" cap="none">
              <a:solidFill>
                <a:schemeClr val="dk1"/>
              </a:solidFill>
              <a:latin typeface="Calibri"/>
              <a:ea typeface="Calibri"/>
              <a:cs typeface="Calibri"/>
              <a:sym typeface="Calibri"/>
            </a:endParaRPr>
          </a:p>
        </p:txBody>
      </p:sp>
      <p:sp>
        <p:nvSpPr>
          <p:cNvPr id="57" name="Google Shape;57;p4"/>
          <p:cNvSpPr/>
          <p:nvPr/>
        </p:nvSpPr>
        <p:spPr>
          <a:xfrm>
            <a:off x="548640" y="4279392"/>
            <a:ext cx="11091672" cy="786384"/>
          </a:xfrm>
          <a:prstGeom prst="roundRect">
            <a:avLst>
              <a:gd name="adj" fmla="val 6977"/>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804672" y="4462272"/>
            <a:ext cx="420624" cy="42062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804672" y="4462272"/>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04</a:t>
            </a:r>
            <a:endParaRPr sz="1300" b="0" i="0" u="none" strike="noStrike" cap="none">
              <a:solidFill>
                <a:schemeClr val="dk1"/>
              </a:solidFill>
              <a:latin typeface="Calibri"/>
              <a:ea typeface="Calibri"/>
              <a:cs typeface="Calibri"/>
              <a:sym typeface="Calibri"/>
            </a:endParaRPr>
          </a:p>
        </p:txBody>
      </p:sp>
      <p:sp>
        <p:nvSpPr>
          <p:cNvPr id="60" name="Google Shape;60;p4"/>
          <p:cNvSpPr/>
          <p:nvPr/>
        </p:nvSpPr>
        <p:spPr>
          <a:xfrm>
            <a:off x="1417320" y="4425696"/>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50"/>
              <a:buFont typeface="Arial"/>
              <a:buNone/>
            </a:pPr>
            <a:r>
              <a:rPr lang="en-US" sz="1450" b="1" i="0" u="none" strike="noStrike" cap="none">
                <a:solidFill>
                  <a:srgbClr val="1B2B31"/>
                </a:solidFill>
                <a:latin typeface="Arial"/>
                <a:ea typeface="Arial"/>
                <a:cs typeface="Arial"/>
                <a:sym typeface="Arial"/>
              </a:rPr>
              <a:t>Điểm ghép S2 → latent → S1</a:t>
            </a:r>
            <a:endParaRPr sz="1450" b="0" i="0" u="none" strike="noStrike" cap="none">
              <a:solidFill>
                <a:schemeClr val="dk1"/>
              </a:solidFill>
              <a:latin typeface="Calibri"/>
              <a:ea typeface="Calibri"/>
              <a:cs typeface="Calibri"/>
              <a:sym typeface="Calibri"/>
            </a:endParaRPr>
          </a:p>
        </p:txBody>
      </p:sp>
      <p:sp>
        <p:nvSpPr>
          <p:cNvPr id="61" name="Google Shape;61;p4"/>
          <p:cNvSpPr/>
          <p:nvPr/>
        </p:nvSpPr>
        <p:spPr>
          <a:xfrm>
            <a:off x="1417320" y="4709160"/>
            <a:ext cx="7772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Learned latent queries, token compressor, dual async</a:t>
            </a:r>
            <a:endParaRPr sz="1100" b="0" i="0" u="none" strike="noStrike" cap="none">
              <a:solidFill>
                <a:schemeClr val="dk1"/>
              </a:solidFill>
              <a:latin typeface="Calibri"/>
              <a:ea typeface="Calibri"/>
              <a:cs typeface="Calibri"/>
              <a:sym typeface="Calibri"/>
            </a:endParaRPr>
          </a:p>
        </p:txBody>
      </p:sp>
      <p:sp>
        <p:nvSpPr>
          <p:cNvPr id="62" name="Google Shape;62;p4"/>
          <p:cNvSpPr/>
          <p:nvPr/>
        </p:nvSpPr>
        <p:spPr>
          <a:xfrm>
            <a:off x="548640" y="5212080"/>
            <a:ext cx="11091672" cy="786384"/>
          </a:xfrm>
          <a:prstGeom prst="roundRect">
            <a:avLst>
              <a:gd name="adj" fmla="val 6977"/>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804672" y="5394960"/>
            <a:ext cx="420624" cy="42062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804672" y="5394960"/>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05</a:t>
            </a:r>
            <a:endParaRPr sz="1300" b="0" i="0" u="none" strike="noStrike" cap="none">
              <a:solidFill>
                <a:schemeClr val="dk1"/>
              </a:solidFill>
              <a:latin typeface="Calibri"/>
              <a:ea typeface="Calibri"/>
              <a:cs typeface="Calibri"/>
              <a:sym typeface="Calibri"/>
            </a:endParaRPr>
          </a:p>
        </p:txBody>
      </p:sp>
      <p:sp>
        <p:nvSpPr>
          <p:cNvPr id="65" name="Google Shape;65;p4"/>
          <p:cNvSpPr/>
          <p:nvPr/>
        </p:nvSpPr>
        <p:spPr>
          <a:xfrm>
            <a:off x="1417320" y="5358384"/>
            <a:ext cx="3931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50"/>
              <a:buFont typeface="Arial"/>
              <a:buNone/>
            </a:pPr>
            <a:r>
              <a:rPr lang="en-US" sz="1450" b="1" i="0" u="none" strike="noStrike" cap="none">
                <a:solidFill>
                  <a:srgbClr val="1B2B31"/>
                </a:solidFill>
                <a:latin typeface="Arial"/>
                <a:ea typeface="Arial"/>
                <a:cs typeface="Arial"/>
                <a:sym typeface="Arial"/>
              </a:rPr>
              <a:t>Bằng chứng, lỗi thường gặp &amp; tiến độ</a:t>
            </a:r>
            <a:endParaRPr sz="1450" b="0" i="0" u="none" strike="noStrike" cap="none">
              <a:solidFill>
                <a:schemeClr val="dk1"/>
              </a:solidFill>
              <a:latin typeface="Calibri"/>
              <a:ea typeface="Calibri"/>
              <a:cs typeface="Calibri"/>
              <a:sym typeface="Calibri"/>
            </a:endParaRPr>
          </a:p>
        </p:txBody>
      </p:sp>
      <p:sp>
        <p:nvSpPr>
          <p:cNvPr id="66" name="Google Shape;66;p4"/>
          <p:cNvSpPr/>
          <p:nvPr/>
        </p:nvSpPr>
        <p:spPr>
          <a:xfrm>
            <a:off x="1417320" y="5641848"/>
            <a:ext cx="7772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Kết quả real-data, failure modes, gate checkpoint 7B</a:t>
            </a:r>
            <a:endParaRPr sz="1100" b="0" i="0" u="none" strike="noStrike" cap="none">
              <a:solidFill>
                <a:schemeClr val="dk1"/>
              </a:solidFill>
              <a:latin typeface="Calibri"/>
              <a:ea typeface="Calibri"/>
              <a:cs typeface="Calibri"/>
              <a:sym typeface="Calibri"/>
            </a:endParaRPr>
          </a:p>
        </p:txBody>
      </p:sp>
      <p:sp>
        <p:nvSpPr>
          <p:cNvPr id="67" name="Google Shape;67;p4"/>
          <p:cNvSpPr/>
          <p:nvPr/>
        </p:nvSpPr>
        <p:spPr>
          <a:xfrm>
            <a:off x="8778240" y="3401568"/>
            <a:ext cx="2651760"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98324"/>
              </a:buClr>
              <a:buSzPts val="1050"/>
              <a:buFont typeface="Arial"/>
              <a:buNone/>
            </a:pPr>
            <a:r>
              <a:rPr lang="en-US" sz="1050" b="1" i="1" u="none" strike="noStrike" cap="none">
                <a:solidFill>
                  <a:srgbClr val="D98324"/>
                </a:solidFill>
                <a:latin typeface="Arial"/>
                <a:ea typeface="Arial"/>
                <a:cs typeface="Arial"/>
                <a:sym typeface="Arial"/>
              </a:rPr>
              <a:t>Phần 03 là trọng tâm</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5"/>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BỐI CẢNH</a:t>
            </a:r>
            <a:endParaRPr sz="1050" b="0" i="0" u="none" strike="noStrike" cap="none">
              <a:solidFill>
                <a:schemeClr val="dk1"/>
              </a:solidFill>
              <a:latin typeface="Calibri"/>
              <a:ea typeface="Calibri"/>
              <a:cs typeface="Calibri"/>
              <a:sym typeface="Calibri"/>
            </a:endParaRPr>
          </a:p>
        </p:txBody>
      </p:sp>
      <p:sp>
        <p:nvSpPr>
          <p:cNvPr id="74" name="Google Shape;74;p5"/>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Một lệnh, hai loại khó khăn khác nhau</a:t>
            </a:r>
            <a:endParaRPr sz="2500" b="0" i="0" u="none" strike="noStrike" cap="none">
              <a:solidFill>
                <a:schemeClr val="dk1"/>
              </a:solidFill>
              <a:latin typeface="Calibri"/>
              <a:ea typeface="Calibri"/>
              <a:cs typeface="Calibri"/>
              <a:sym typeface="Calibri"/>
            </a:endParaRPr>
          </a:p>
        </p:txBody>
      </p:sp>
      <p:sp>
        <p:nvSpPr>
          <p:cNvPr id="75" name="Google Shape;75;p5"/>
          <p:cNvSpPr/>
          <p:nvPr/>
        </p:nvSpPr>
        <p:spPr>
          <a:xfrm>
            <a:off x="548640" y="1371600"/>
            <a:ext cx="11091672" cy="658368"/>
          </a:xfrm>
          <a:prstGeom prst="roundRect">
            <a:avLst>
              <a:gd name="adj" fmla="val 8333"/>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822960" y="1371600"/>
            <a:ext cx="10543032"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700"/>
              <a:buFont typeface="Arial"/>
              <a:buNone/>
            </a:pPr>
            <a:r>
              <a:rPr lang="en-US" sz="1700" b="1" i="1" u="none" strike="noStrike" cap="none">
                <a:solidFill>
                  <a:srgbClr val="028090"/>
                </a:solidFill>
                <a:latin typeface="Arial"/>
                <a:ea typeface="Arial"/>
                <a:cs typeface="Arial"/>
                <a:sym typeface="Arial"/>
              </a:rPr>
              <a:t>“Đi qua cửa rồi rẽ trái tới ghế đỏ”</a:t>
            </a:r>
            <a:endParaRPr sz="1700" b="0" i="0" u="none" strike="noStrike" cap="none">
              <a:solidFill>
                <a:schemeClr val="dk1"/>
              </a:solidFill>
              <a:latin typeface="Calibri"/>
              <a:ea typeface="Calibri"/>
              <a:cs typeface="Calibri"/>
              <a:sym typeface="Calibri"/>
            </a:endParaRPr>
          </a:p>
        </p:txBody>
      </p:sp>
      <p:sp>
        <p:nvSpPr>
          <p:cNvPr id="77" name="Google Shape;77;p5"/>
          <p:cNvSpPr/>
          <p:nvPr/>
        </p:nvSpPr>
        <p:spPr>
          <a:xfrm>
            <a:off x="548640" y="2286000"/>
            <a:ext cx="5349240" cy="2286000"/>
          </a:xfrm>
          <a:prstGeom prst="roundRect">
            <a:avLst>
              <a:gd name="adj" fmla="val 2400"/>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804672" y="2487168"/>
            <a:ext cx="310896" cy="310896"/>
          </a:xfrm>
          <a:prstGeom prst="roundRect">
            <a:avLst>
              <a:gd name="adj" fmla="val 11765"/>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804672" y="2487168"/>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i="0" u="none" strike="noStrike" cap="none">
                <a:solidFill>
                  <a:srgbClr val="FFFFFF"/>
                </a:solidFill>
                <a:latin typeface="Arial"/>
                <a:ea typeface="Arial"/>
                <a:cs typeface="Arial"/>
                <a:sym typeface="Arial"/>
              </a:rPr>
              <a:t>1</a:t>
            </a:r>
            <a:endParaRPr sz="1200" b="0" i="0" u="none" strike="noStrike" cap="none">
              <a:solidFill>
                <a:schemeClr val="dk1"/>
              </a:solidFill>
              <a:latin typeface="Calibri"/>
              <a:ea typeface="Calibri"/>
              <a:cs typeface="Calibri"/>
              <a:sym typeface="Calibri"/>
            </a:endParaRPr>
          </a:p>
        </p:txBody>
      </p:sp>
      <p:sp>
        <p:nvSpPr>
          <p:cNvPr id="80" name="Google Shape;80;p5"/>
          <p:cNvSpPr/>
          <p:nvPr/>
        </p:nvSpPr>
        <p:spPr>
          <a:xfrm>
            <a:off x="1234440" y="2505456"/>
            <a:ext cx="43891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500"/>
              <a:buFont typeface="Arial"/>
              <a:buNone/>
            </a:pPr>
            <a:r>
              <a:rPr lang="en-US" sz="1500" b="1" i="0" u="none" strike="noStrike" cap="none">
                <a:solidFill>
                  <a:srgbClr val="1B2B31"/>
                </a:solidFill>
                <a:latin typeface="Arial"/>
                <a:ea typeface="Arial"/>
                <a:cs typeface="Arial"/>
                <a:sym typeface="Arial"/>
              </a:rPr>
              <a:t>Hiểu &amp; lập kế hoạch</a:t>
            </a:r>
            <a:endParaRPr sz="1500" b="0" i="0" u="none" strike="noStrike" cap="none">
              <a:solidFill>
                <a:schemeClr val="dk1"/>
              </a:solidFill>
              <a:latin typeface="Calibri"/>
              <a:ea typeface="Calibri"/>
              <a:cs typeface="Calibri"/>
              <a:sym typeface="Calibri"/>
            </a:endParaRPr>
          </a:p>
        </p:txBody>
      </p:sp>
      <p:sp>
        <p:nvSpPr>
          <p:cNvPr id="81" name="Google Shape;81;p5"/>
          <p:cNvSpPr/>
          <p:nvPr/>
        </p:nvSpPr>
        <p:spPr>
          <a:xfrm>
            <a:off x="841248" y="2926080"/>
            <a:ext cx="4754880" cy="1005840"/>
          </a:xfrm>
          <a:prstGeom prst="rect">
            <a:avLst/>
          </a:prstGeom>
          <a:noFill/>
          <a:ln>
            <a:noFill/>
          </a:ln>
        </p:spPr>
        <p:txBody>
          <a:bodyPr spcFirstLastPara="1" wrap="square" lIns="0" tIns="0" rIns="0" bIns="0" anchor="ctr" anchorCtr="0">
            <a:noAutofit/>
          </a:bodyPr>
          <a:lstStyle/>
          <a:p>
            <a:pPr marL="342900" marR="0" lvl="0" indent="-342900" algn="l" rtl="0">
              <a:lnSpc>
                <a:spcPct val="141666"/>
              </a:lnSpc>
              <a:spcBef>
                <a:spcPts val="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Hiểu ngôn ngữ tự nhiên dài</a:t>
            </a:r>
            <a:endParaRPr sz="1200" b="0" i="0" u="none" strike="noStrike" cap="none">
              <a:solidFill>
                <a:schemeClr val="dk1"/>
              </a:solidFill>
              <a:latin typeface="Calibri"/>
              <a:ea typeface="Calibri"/>
              <a:cs typeface="Calibri"/>
              <a:sym typeface="Calibri"/>
            </a:endParaRPr>
          </a:p>
          <a:p>
            <a:pPr marL="342900" marR="0" lvl="0" indent="-342900" algn="l" rtl="0">
              <a:lnSpc>
                <a:spcPct val="141666"/>
              </a:lnSpc>
              <a:spcBef>
                <a:spcPts val="70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Nhận diện đồ vật, giữ ngữ cảnh cả episode</a:t>
            </a:r>
            <a:endParaRPr sz="1200" b="0" i="0" u="none" strike="noStrike" cap="none">
              <a:solidFill>
                <a:schemeClr val="dk1"/>
              </a:solidFill>
              <a:latin typeface="Calibri"/>
              <a:ea typeface="Calibri"/>
              <a:cs typeface="Calibri"/>
              <a:sym typeface="Calibri"/>
            </a:endParaRPr>
          </a:p>
          <a:p>
            <a:pPr marL="342900" marR="0" lvl="0" indent="-342900" algn="l" rtl="0">
              <a:lnSpc>
                <a:spcPct val="141666"/>
              </a:lnSpc>
              <a:spcBef>
                <a:spcPts val="70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Chọn mục tiêu tiếp theo hợp lý</a:t>
            </a:r>
            <a:endParaRPr sz="1200" b="0" i="0" u="none" strike="noStrike" cap="none">
              <a:solidFill>
                <a:schemeClr val="dk1"/>
              </a:solidFill>
              <a:latin typeface="Calibri"/>
              <a:ea typeface="Calibri"/>
              <a:cs typeface="Calibri"/>
              <a:sym typeface="Calibri"/>
            </a:endParaRPr>
          </a:p>
        </p:txBody>
      </p:sp>
      <p:sp>
        <p:nvSpPr>
          <p:cNvPr id="82" name="Google Shape;82;p5"/>
          <p:cNvSpPr/>
          <p:nvPr/>
        </p:nvSpPr>
        <p:spPr>
          <a:xfrm>
            <a:off x="841248" y="416052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1" u="none" strike="noStrike" cap="none">
                <a:solidFill>
                  <a:srgbClr val="028090"/>
                </a:solidFill>
                <a:latin typeface="Arial"/>
                <a:ea typeface="Arial"/>
                <a:cs typeface="Arial"/>
                <a:sym typeface="Arial"/>
              </a:rPr>
              <a:t>Chậm · không cần chạy mọi frame</a:t>
            </a:r>
            <a:endParaRPr sz="1100" b="0" i="0" u="none" strike="noStrike" cap="none">
              <a:solidFill>
                <a:schemeClr val="dk1"/>
              </a:solidFill>
              <a:latin typeface="Calibri"/>
              <a:ea typeface="Calibri"/>
              <a:cs typeface="Calibri"/>
              <a:sym typeface="Calibri"/>
            </a:endParaRPr>
          </a:p>
        </p:txBody>
      </p:sp>
      <p:sp>
        <p:nvSpPr>
          <p:cNvPr id="83" name="Google Shape;83;p5"/>
          <p:cNvSpPr/>
          <p:nvPr/>
        </p:nvSpPr>
        <p:spPr>
          <a:xfrm>
            <a:off x="6291072" y="2286000"/>
            <a:ext cx="5349240" cy="2286000"/>
          </a:xfrm>
          <a:prstGeom prst="roundRect">
            <a:avLst>
              <a:gd name="adj" fmla="val 2400"/>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6547104" y="2487168"/>
            <a:ext cx="310896" cy="310896"/>
          </a:xfrm>
          <a:prstGeom prst="roundRect">
            <a:avLst>
              <a:gd name="adj" fmla="val 11765"/>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6547104" y="2487168"/>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i="0" u="none" strike="noStrike" cap="none">
                <a:solidFill>
                  <a:srgbClr val="FFFFFF"/>
                </a:solidFill>
                <a:latin typeface="Arial"/>
                <a:ea typeface="Arial"/>
                <a:cs typeface="Arial"/>
                <a:sym typeface="Arial"/>
              </a:rPr>
              <a:t>2</a:t>
            </a:r>
            <a:endParaRPr sz="1200" b="0" i="0" u="none" strike="noStrike" cap="none">
              <a:solidFill>
                <a:schemeClr val="dk1"/>
              </a:solidFill>
              <a:latin typeface="Calibri"/>
              <a:ea typeface="Calibri"/>
              <a:cs typeface="Calibri"/>
              <a:sym typeface="Calibri"/>
            </a:endParaRPr>
          </a:p>
        </p:txBody>
      </p:sp>
      <p:sp>
        <p:nvSpPr>
          <p:cNvPr id="86" name="Google Shape;86;p5"/>
          <p:cNvSpPr/>
          <p:nvPr/>
        </p:nvSpPr>
        <p:spPr>
          <a:xfrm>
            <a:off x="6976872" y="2505456"/>
            <a:ext cx="43891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500"/>
              <a:buFont typeface="Arial"/>
              <a:buNone/>
            </a:pPr>
            <a:r>
              <a:rPr lang="en-US" sz="1500" b="1" i="0" u="none" strike="noStrike" cap="none">
                <a:solidFill>
                  <a:srgbClr val="1B2B31"/>
                </a:solidFill>
                <a:latin typeface="Arial"/>
                <a:ea typeface="Arial"/>
                <a:cs typeface="Arial"/>
                <a:sym typeface="Arial"/>
              </a:rPr>
              <a:t>Điều khiển thời gian thực</a:t>
            </a:r>
            <a:endParaRPr sz="1500" b="0" i="0" u="none" strike="noStrike" cap="none">
              <a:solidFill>
                <a:schemeClr val="dk1"/>
              </a:solidFill>
              <a:latin typeface="Calibri"/>
              <a:ea typeface="Calibri"/>
              <a:cs typeface="Calibri"/>
              <a:sym typeface="Calibri"/>
            </a:endParaRPr>
          </a:p>
        </p:txBody>
      </p:sp>
      <p:sp>
        <p:nvSpPr>
          <p:cNvPr id="87" name="Google Shape;87;p5"/>
          <p:cNvSpPr/>
          <p:nvPr/>
        </p:nvSpPr>
        <p:spPr>
          <a:xfrm>
            <a:off x="6583680" y="2926080"/>
            <a:ext cx="4754880" cy="1005840"/>
          </a:xfrm>
          <a:prstGeom prst="rect">
            <a:avLst/>
          </a:prstGeom>
          <a:noFill/>
          <a:ln>
            <a:noFill/>
          </a:ln>
        </p:spPr>
        <p:txBody>
          <a:bodyPr spcFirstLastPara="1" wrap="square" lIns="0" tIns="0" rIns="0" bIns="0" anchor="ctr" anchorCtr="0">
            <a:noAutofit/>
          </a:bodyPr>
          <a:lstStyle/>
          <a:p>
            <a:pPr marL="342900" marR="0" lvl="0" indent="-342900" algn="l" rtl="0">
              <a:lnSpc>
                <a:spcPct val="141666"/>
              </a:lnSpc>
              <a:spcBef>
                <a:spcPts val="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Biến mục tiêu thành chuyển động ngắn hạn</a:t>
            </a:r>
            <a:endParaRPr sz="1200" b="0" i="0" u="none" strike="noStrike" cap="none">
              <a:solidFill>
                <a:schemeClr val="dk1"/>
              </a:solidFill>
              <a:latin typeface="Calibri"/>
              <a:ea typeface="Calibri"/>
              <a:cs typeface="Calibri"/>
              <a:sym typeface="Calibri"/>
            </a:endParaRPr>
          </a:p>
          <a:p>
            <a:pPr marL="342900" marR="0" lvl="0" indent="-342900" algn="l" rtl="0">
              <a:lnSpc>
                <a:spcPct val="141666"/>
              </a:lnSpc>
              <a:spcBef>
                <a:spcPts val="70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Tránh chướng ngại theo quan sát hiện tại</a:t>
            </a:r>
            <a:endParaRPr sz="1200" b="0" i="0" u="none" strike="noStrike" cap="none">
              <a:solidFill>
                <a:schemeClr val="dk1"/>
              </a:solidFill>
              <a:latin typeface="Calibri"/>
              <a:ea typeface="Calibri"/>
              <a:cs typeface="Calibri"/>
              <a:sym typeface="Calibri"/>
            </a:endParaRPr>
          </a:p>
          <a:p>
            <a:pPr marL="342900" marR="0" lvl="0" indent="-342900" algn="l" rtl="0">
              <a:lnSpc>
                <a:spcPct val="141666"/>
              </a:lnSpc>
              <a:spcBef>
                <a:spcPts val="700"/>
              </a:spcBef>
              <a:spcAft>
                <a:spcPts val="0"/>
              </a:spcAft>
              <a:buClr>
                <a:srgbClr val="1B2B31"/>
              </a:buClr>
              <a:buSzPts val="1200"/>
              <a:buFont typeface="Arial"/>
              <a:buChar char="•"/>
            </a:pPr>
            <a:r>
              <a:rPr lang="en-US" sz="1200" b="0" i="0" u="none" strike="noStrike" cap="none">
                <a:solidFill>
                  <a:srgbClr val="1B2B31"/>
                </a:solidFill>
                <a:latin typeface="Arial"/>
                <a:ea typeface="Arial"/>
                <a:cs typeface="Arial"/>
                <a:sym typeface="Arial"/>
              </a:rPr>
              <a:t>Phản ứng với thay đổi cục bộ</a:t>
            </a:r>
            <a:endParaRPr sz="1200" b="0" i="0" u="none" strike="noStrike" cap="none">
              <a:solidFill>
                <a:schemeClr val="dk1"/>
              </a:solidFill>
              <a:latin typeface="Calibri"/>
              <a:ea typeface="Calibri"/>
              <a:cs typeface="Calibri"/>
              <a:sym typeface="Calibri"/>
            </a:endParaRPr>
          </a:p>
        </p:txBody>
      </p:sp>
      <p:sp>
        <p:nvSpPr>
          <p:cNvPr id="88" name="Google Shape;88;p5"/>
          <p:cNvSpPr/>
          <p:nvPr/>
        </p:nvSpPr>
        <p:spPr>
          <a:xfrm>
            <a:off x="6583680" y="416052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00"/>
              <a:buFont typeface="Arial"/>
              <a:buNone/>
            </a:pPr>
            <a:r>
              <a:rPr lang="en-US" sz="1100" b="1" i="1" u="none" strike="noStrike" cap="none">
                <a:solidFill>
                  <a:srgbClr val="D98324"/>
                </a:solidFill>
                <a:latin typeface="Arial"/>
                <a:ea typeface="Arial"/>
                <a:cs typeface="Arial"/>
                <a:sym typeface="Arial"/>
              </a:rPr>
              <a:t>Nhanh · phải chạy liên tục</a:t>
            </a:r>
            <a:endParaRPr sz="1100" b="0" i="0" u="none" strike="noStrike" cap="none">
              <a:solidFill>
                <a:schemeClr val="dk1"/>
              </a:solidFill>
              <a:latin typeface="Calibri"/>
              <a:ea typeface="Calibri"/>
              <a:cs typeface="Calibri"/>
              <a:sym typeface="Calibri"/>
            </a:endParaRPr>
          </a:p>
        </p:txBody>
      </p:sp>
      <p:sp>
        <p:nvSpPr>
          <p:cNvPr id="89" name="Google Shape;89;p5"/>
          <p:cNvSpPr/>
          <p:nvPr/>
        </p:nvSpPr>
        <p:spPr>
          <a:xfrm>
            <a:off x="548640" y="4828032"/>
            <a:ext cx="11091672" cy="1234440"/>
          </a:xfrm>
          <a:prstGeom prst="roundRect">
            <a:avLst>
              <a:gd name="adj" fmla="val 4444"/>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868680" y="4992624"/>
            <a:ext cx="104241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Vì sao không dùng một model duy nhất cho mọi frame?</a:t>
            </a:r>
            <a:endParaRPr sz="1350" b="0" i="0" u="none" strike="noStrike" cap="none">
              <a:solidFill>
                <a:schemeClr val="dk1"/>
              </a:solidFill>
              <a:latin typeface="Calibri"/>
              <a:ea typeface="Calibri"/>
              <a:cs typeface="Calibri"/>
              <a:sym typeface="Calibri"/>
            </a:endParaRPr>
          </a:p>
        </p:txBody>
      </p:sp>
      <p:sp>
        <p:nvSpPr>
          <p:cNvPr id="91" name="Google Shape;91;p5"/>
          <p:cNvSpPr/>
          <p:nvPr/>
        </p:nvSpPr>
        <p:spPr>
          <a:xfrm>
            <a:off x="868680" y="5285232"/>
            <a:ext cx="10424160" cy="640080"/>
          </a:xfrm>
          <a:prstGeom prst="rect">
            <a:avLst/>
          </a:prstGeom>
          <a:noFill/>
          <a:ln>
            <a:noFill/>
          </a:ln>
        </p:spPr>
        <p:txBody>
          <a:bodyPr spcFirstLastPara="1" wrap="square" lIns="0" tIns="0" rIns="0" bIns="0" anchor="ctr" anchorCtr="0">
            <a:noAutofit/>
          </a:bodyPr>
          <a:lstStyle/>
          <a:p>
            <a:pPr marL="0" marR="0" lvl="0" indent="0" algn="l" rtl="0">
              <a:lnSpc>
                <a:spcPct val="128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VLM 7B quá chậm và quá đắt để chạy ở tần số điều khiển. InternVLA-N1 tách: System 2 suy luận thưa và tạo latent plan; System 1 sinh quỹ đạo cục bộ nhiều lần trong khi tái sử dụng chính latent plan đó.</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KIẾN TRÚC</a:t>
            </a:r>
            <a:endParaRPr sz="1050" b="0" i="0" u="none" strike="noStrike" cap="none">
              <a:solidFill>
                <a:schemeClr val="dk1"/>
              </a:solidFill>
              <a:latin typeface="Calibri"/>
              <a:ea typeface="Calibri"/>
              <a:cs typeface="Calibri"/>
              <a:sym typeface="Calibri"/>
            </a:endParaRPr>
          </a:p>
        </p:txBody>
      </p:sp>
      <p:sp>
        <p:nvSpPr>
          <p:cNvPr id="98" name="Google Shape;98;p6"/>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Dual-system: ground slow, move fast</a:t>
            </a:r>
            <a:endParaRPr sz="2500" b="0" i="0" u="none" strike="noStrike" cap="none">
              <a:solidFill>
                <a:schemeClr val="dk1"/>
              </a:solidFill>
              <a:latin typeface="Calibri"/>
              <a:ea typeface="Calibri"/>
              <a:cs typeface="Calibri"/>
              <a:sym typeface="Calibri"/>
            </a:endParaRPr>
          </a:p>
        </p:txBody>
      </p:sp>
      <p:sp>
        <p:nvSpPr>
          <p:cNvPr id="99" name="Google Shape;99;p6"/>
          <p:cNvSpPr/>
          <p:nvPr/>
        </p:nvSpPr>
        <p:spPr>
          <a:xfrm>
            <a:off x="548640" y="187452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603504" y="187452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Instruction</a:t>
            </a:r>
            <a:endParaRPr sz="1100" b="0" i="0" u="none" strike="noStrike" cap="none">
              <a:solidFill>
                <a:schemeClr val="dk1"/>
              </a:solidFill>
              <a:latin typeface="Calibri"/>
              <a:ea typeface="Calibri"/>
              <a:cs typeface="Calibri"/>
              <a:sym typeface="Calibri"/>
            </a:endParaRPr>
          </a:p>
        </p:txBody>
      </p:sp>
      <p:sp>
        <p:nvSpPr>
          <p:cNvPr id="101" name="Google Shape;101;p6"/>
          <p:cNvSpPr/>
          <p:nvPr/>
        </p:nvSpPr>
        <p:spPr>
          <a:xfrm>
            <a:off x="548640" y="269748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603504" y="269748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RGB history</a:t>
            </a:r>
            <a:endParaRPr sz="1100" b="0" i="0" u="none" strike="noStrike" cap="none">
              <a:solidFill>
                <a:schemeClr val="dk1"/>
              </a:solidFill>
              <a:latin typeface="Calibri"/>
              <a:ea typeface="Calibri"/>
              <a:cs typeface="Calibri"/>
              <a:sym typeface="Calibri"/>
            </a:endParaRPr>
          </a:p>
        </p:txBody>
      </p:sp>
      <p:sp>
        <p:nvSpPr>
          <p:cNvPr id="103" name="Google Shape;103;p6"/>
          <p:cNvSpPr/>
          <p:nvPr/>
        </p:nvSpPr>
        <p:spPr>
          <a:xfrm>
            <a:off x="548640" y="4160520"/>
            <a:ext cx="1600200" cy="566928"/>
          </a:xfrm>
          <a:prstGeom prst="roundRect">
            <a:avLst>
              <a:gd name="adj" fmla="val 8065"/>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603504" y="4160520"/>
            <a:ext cx="14904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RGB-D hiện tại</a:t>
            </a:r>
            <a:endParaRPr sz="1100" b="0" i="0" u="none" strike="noStrike" cap="none">
              <a:solidFill>
                <a:schemeClr val="dk1"/>
              </a:solidFill>
              <a:latin typeface="Calibri"/>
              <a:ea typeface="Calibri"/>
              <a:cs typeface="Calibri"/>
              <a:sym typeface="Calibri"/>
            </a:endParaRPr>
          </a:p>
        </p:txBody>
      </p:sp>
      <p:sp>
        <p:nvSpPr>
          <p:cNvPr id="105" name="Google Shape;105;p6"/>
          <p:cNvSpPr/>
          <p:nvPr/>
        </p:nvSpPr>
        <p:spPr>
          <a:xfrm>
            <a:off x="2834640" y="1993392"/>
            <a:ext cx="2514600" cy="1143000"/>
          </a:xfrm>
          <a:prstGeom prst="roundRect">
            <a:avLst>
              <a:gd name="adj" fmla="val 4000"/>
            </a:avLst>
          </a:prstGeom>
          <a:solidFill>
            <a:srgbClr val="EDF4F4"/>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2889504" y="2281428"/>
            <a:ext cx="24048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300"/>
              <a:buFont typeface="Arial"/>
              <a:buNone/>
            </a:pPr>
            <a:r>
              <a:rPr lang="en-US" sz="1300" b="1" i="0" u="none" strike="noStrike" cap="none">
                <a:solidFill>
                  <a:srgbClr val="1B2B31"/>
                </a:solidFill>
                <a:latin typeface="Arial"/>
                <a:ea typeface="Arial"/>
                <a:cs typeface="Arial"/>
                <a:sym typeface="Arial"/>
              </a:rPr>
              <a:t>System 2 — slow</a:t>
            </a:r>
            <a:endParaRPr sz="1300" b="0" i="0" u="none" strike="noStrike" cap="none">
              <a:solidFill>
                <a:schemeClr val="dk1"/>
              </a:solidFill>
              <a:latin typeface="Calibri"/>
              <a:ea typeface="Calibri"/>
              <a:cs typeface="Calibri"/>
              <a:sym typeface="Calibri"/>
            </a:endParaRPr>
          </a:p>
        </p:txBody>
      </p:sp>
      <p:sp>
        <p:nvSpPr>
          <p:cNvPr id="107" name="Google Shape;107;p6"/>
          <p:cNvSpPr/>
          <p:nvPr/>
        </p:nvSpPr>
        <p:spPr>
          <a:xfrm>
            <a:off x="2889504" y="2555748"/>
            <a:ext cx="24048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Qwen2.5-VL 7B</a:t>
            </a:r>
            <a:endParaRPr sz="1000" b="0" i="0" u="none" strike="noStrike" cap="none">
              <a:solidFill>
                <a:schemeClr val="dk1"/>
              </a:solidFill>
              <a:latin typeface="Calibri"/>
              <a:ea typeface="Calibri"/>
              <a:cs typeface="Calibri"/>
              <a:sym typeface="Calibri"/>
            </a:endParaRPr>
          </a:p>
        </p:txBody>
      </p:sp>
      <p:sp>
        <p:nvSpPr>
          <p:cNvPr id="108" name="Google Shape;108;p6"/>
          <p:cNvSpPr/>
          <p:nvPr/>
        </p:nvSpPr>
        <p:spPr>
          <a:xfrm>
            <a:off x="2834640" y="3913632"/>
            <a:ext cx="2514600" cy="1143000"/>
          </a:xfrm>
          <a:prstGeom prst="roundRect">
            <a:avLst>
              <a:gd name="adj" fmla="val 4000"/>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p:nvPr/>
        </p:nvSpPr>
        <p:spPr>
          <a:xfrm>
            <a:off x="2889504" y="4201668"/>
            <a:ext cx="24048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300"/>
              <a:buFont typeface="Arial"/>
              <a:buNone/>
            </a:pPr>
            <a:r>
              <a:rPr lang="en-US" sz="1300" b="1" i="0" u="none" strike="noStrike" cap="none">
                <a:solidFill>
                  <a:srgbClr val="1B2B31"/>
                </a:solidFill>
                <a:latin typeface="Arial"/>
                <a:ea typeface="Arial"/>
                <a:cs typeface="Arial"/>
                <a:sym typeface="Arial"/>
              </a:rPr>
              <a:t>System 1 — fast</a:t>
            </a:r>
            <a:endParaRPr sz="1300" b="0" i="0" u="none" strike="noStrike" cap="none">
              <a:solidFill>
                <a:schemeClr val="dk1"/>
              </a:solidFill>
              <a:latin typeface="Calibri"/>
              <a:ea typeface="Calibri"/>
              <a:cs typeface="Calibri"/>
              <a:sym typeface="Calibri"/>
            </a:endParaRPr>
          </a:p>
        </p:txBody>
      </p:sp>
      <p:sp>
        <p:nvSpPr>
          <p:cNvPr id="110" name="Google Shape;110;p6"/>
          <p:cNvSpPr/>
          <p:nvPr/>
        </p:nvSpPr>
        <p:spPr>
          <a:xfrm>
            <a:off x="2889504" y="4475988"/>
            <a:ext cx="24048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NavDP diffusion policy</a:t>
            </a:r>
            <a:endParaRPr sz="1000" b="0" i="0" u="none" strike="noStrike" cap="none">
              <a:solidFill>
                <a:schemeClr val="dk1"/>
              </a:solidFill>
              <a:latin typeface="Calibri"/>
              <a:ea typeface="Calibri"/>
              <a:cs typeface="Calibri"/>
              <a:sym typeface="Calibri"/>
            </a:endParaRPr>
          </a:p>
        </p:txBody>
      </p:sp>
      <p:cxnSp>
        <p:nvCxnSpPr>
          <p:cNvPr id="111" name="Google Shape;111;p6"/>
          <p:cNvCxnSpPr/>
          <p:nvPr/>
        </p:nvCxnSpPr>
        <p:spPr>
          <a:xfrm>
            <a:off x="2148840" y="215798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2" name="Google Shape;112;p6"/>
          <p:cNvCxnSpPr/>
          <p:nvPr/>
        </p:nvCxnSpPr>
        <p:spPr>
          <a:xfrm>
            <a:off x="2148840" y="298094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3" name="Google Shape;113;p6"/>
          <p:cNvCxnSpPr/>
          <p:nvPr/>
        </p:nvCxnSpPr>
        <p:spPr>
          <a:xfrm>
            <a:off x="2148840" y="4443984"/>
            <a:ext cx="640080" cy="0"/>
          </a:xfrm>
          <a:prstGeom prst="straightConnector1">
            <a:avLst/>
          </a:prstGeom>
          <a:noFill/>
          <a:ln w="15875" cap="flat" cmpd="sng">
            <a:solidFill>
              <a:srgbClr val="5C6E73"/>
            </a:solidFill>
            <a:prstDash val="solid"/>
            <a:round/>
            <a:headEnd type="none" w="sm" len="sm"/>
            <a:tailEnd type="triangle" w="med" len="med"/>
          </a:ln>
        </p:spPr>
      </p:cxnSp>
      <p:cxnSp>
        <p:nvCxnSpPr>
          <p:cNvPr id="114" name="Google Shape;114;p6"/>
          <p:cNvCxnSpPr/>
          <p:nvPr/>
        </p:nvCxnSpPr>
        <p:spPr>
          <a:xfrm>
            <a:off x="3310128" y="3136392"/>
            <a:ext cx="0" cy="749808"/>
          </a:xfrm>
          <a:prstGeom prst="straightConnector1">
            <a:avLst/>
          </a:prstGeom>
          <a:noFill/>
          <a:ln w="15875" cap="flat" cmpd="sng">
            <a:solidFill>
              <a:srgbClr val="028090"/>
            </a:solidFill>
            <a:prstDash val="solid"/>
            <a:round/>
            <a:headEnd type="none" w="sm" len="sm"/>
            <a:tailEnd type="triangle" w="med" len="med"/>
          </a:ln>
        </p:spPr>
      </p:cxnSp>
      <p:sp>
        <p:nvSpPr>
          <p:cNvPr id="115" name="Google Shape;115;p6"/>
          <p:cNvSpPr/>
          <p:nvPr/>
        </p:nvSpPr>
        <p:spPr>
          <a:xfrm>
            <a:off x="3520440" y="3364992"/>
            <a:ext cx="21031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900"/>
              <a:buFont typeface="Arial"/>
              <a:buNone/>
            </a:pPr>
            <a:r>
              <a:rPr lang="en-US" sz="900" b="1" i="0" u="none" strike="noStrike" cap="none">
                <a:solidFill>
                  <a:srgbClr val="028090"/>
                </a:solidFill>
                <a:latin typeface="Arial"/>
                <a:ea typeface="Arial"/>
                <a:cs typeface="Arial"/>
                <a:sym typeface="Arial"/>
              </a:rPr>
              <a:t>pixel goal + latent plan</a:t>
            </a:r>
            <a:endParaRPr sz="900" b="0" i="0" u="none" strike="noStrike" cap="none">
              <a:solidFill>
                <a:schemeClr val="dk1"/>
              </a:solidFill>
              <a:latin typeface="Calibri"/>
              <a:ea typeface="Calibri"/>
              <a:cs typeface="Calibri"/>
              <a:sym typeface="Calibri"/>
            </a:endParaRPr>
          </a:p>
        </p:txBody>
      </p:sp>
      <p:sp>
        <p:nvSpPr>
          <p:cNvPr id="116" name="Google Shape;116;p6"/>
          <p:cNvSpPr/>
          <p:nvPr/>
        </p:nvSpPr>
        <p:spPr>
          <a:xfrm>
            <a:off x="6035040" y="1993392"/>
            <a:ext cx="228600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6089904" y="199339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STOP / discrete action</a:t>
            </a:r>
            <a:endParaRPr sz="1000" b="0" i="0" u="none" strike="noStrike" cap="none">
              <a:solidFill>
                <a:schemeClr val="dk1"/>
              </a:solidFill>
              <a:latin typeface="Calibri"/>
              <a:ea typeface="Calibri"/>
              <a:cs typeface="Calibri"/>
              <a:sym typeface="Calibri"/>
            </a:endParaRPr>
          </a:p>
        </p:txBody>
      </p:sp>
      <p:cxnSp>
        <p:nvCxnSpPr>
          <p:cNvPr id="118" name="Google Shape;118;p6"/>
          <p:cNvCxnSpPr/>
          <p:nvPr/>
        </p:nvCxnSpPr>
        <p:spPr>
          <a:xfrm>
            <a:off x="5349240" y="2276856"/>
            <a:ext cx="640080" cy="0"/>
          </a:xfrm>
          <a:prstGeom prst="straightConnector1">
            <a:avLst/>
          </a:prstGeom>
          <a:noFill/>
          <a:ln w="15875" cap="flat" cmpd="sng">
            <a:solidFill>
              <a:srgbClr val="028090"/>
            </a:solidFill>
            <a:prstDash val="solid"/>
            <a:round/>
            <a:headEnd type="none" w="sm" len="sm"/>
            <a:tailEnd type="triangle" w="med" len="med"/>
          </a:ln>
        </p:spPr>
      </p:cxnSp>
      <p:sp>
        <p:nvSpPr>
          <p:cNvPr id="119" name="Google Shape;119;p6"/>
          <p:cNvSpPr/>
          <p:nvPr/>
        </p:nvSpPr>
        <p:spPr>
          <a:xfrm>
            <a:off x="6035040" y="3913632"/>
            <a:ext cx="2286000" cy="566928"/>
          </a:xfrm>
          <a:prstGeom prst="roundRect">
            <a:avLst>
              <a:gd name="adj" fmla="val 8065"/>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6089904" y="391363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K quỹ đạo ứng viên</a:t>
            </a:r>
            <a:endParaRPr sz="1000" b="0" i="0" u="none" strike="noStrike" cap="none">
              <a:solidFill>
                <a:schemeClr val="dk1"/>
              </a:solidFill>
              <a:latin typeface="Calibri"/>
              <a:ea typeface="Calibri"/>
              <a:cs typeface="Calibri"/>
              <a:sym typeface="Calibri"/>
            </a:endParaRPr>
          </a:p>
        </p:txBody>
      </p:sp>
      <p:sp>
        <p:nvSpPr>
          <p:cNvPr id="121" name="Google Shape;121;p6"/>
          <p:cNvSpPr/>
          <p:nvPr/>
        </p:nvSpPr>
        <p:spPr>
          <a:xfrm>
            <a:off x="6035040" y="4736592"/>
            <a:ext cx="2286000" cy="566928"/>
          </a:xfrm>
          <a:prstGeom prst="roundRect">
            <a:avLst>
              <a:gd name="adj" fmla="val 8065"/>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6089904" y="4736592"/>
            <a:ext cx="217627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Trajectory post-processing</a:t>
            </a:r>
            <a:endParaRPr sz="1000" b="0" i="0" u="none" strike="noStrike" cap="none">
              <a:solidFill>
                <a:schemeClr val="dk1"/>
              </a:solidFill>
              <a:latin typeface="Calibri"/>
              <a:ea typeface="Calibri"/>
              <a:cs typeface="Calibri"/>
              <a:sym typeface="Calibri"/>
            </a:endParaRPr>
          </a:p>
        </p:txBody>
      </p:sp>
      <p:cxnSp>
        <p:nvCxnSpPr>
          <p:cNvPr id="123" name="Google Shape;123;p6"/>
          <p:cNvCxnSpPr/>
          <p:nvPr/>
        </p:nvCxnSpPr>
        <p:spPr>
          <a:xfrm>
            <a:off x="5349240" y="4197096"/>
            <a:ext cx="640080" cy="0"/>
          </a:xfrm>
          <a:prstGeom prst="straightConnector1">
            <a:avLst/>
          </a:prstGeom>
          <a:noFill/>
          <a:ln w="15875" cap="flat" cmpd="sng">
            <a:solidFill>
              <a:srgbClr val="D98324"/>
            </a:solidFill>
            <a:prstDash val="solid"/>
            <a:round/>
            <a:headEnd type="none" w="sm" len="sm"/>
            <a:tailEnd type="triangle" w="med" len="med"/>
          </a:ln>
        </p:spPr>
      </p:cxnSp>
      <p:cxnSp>
        <p:nvCxnSpPr>
          <p:cNvPr id="124" name="Google Shape;124;p6"/>
          <p:cNvCxnSpPr/>
          <p:nvPr/>
        </p:nvCxnSpPr>
        <p:spPr>
          <a:xfrm>
            <a:off x="7178040" y="4480560"/>
            <a:ext cx="0" cy="219456"/>
          </a:xfrm>
          <a:prstGeom prst="straightConnector1">
            <a:avLst/>
          </a:prstGeom>
          <a:noFill/>
          <a:ln w="15875" cap="flat" cmpd="sng">
            <a:solidFill>
              <a:srgbClr val="D98324"/>
            </a:solidFill>
            <a:prstDash val="solid"/>
            <a:round/>
            <a:headEnd type="none" w="sm" len="sm"/>
            <a:tailEnd type="triangle" w="med" len="med"/>
          </a:ln>
        </p:spPr>
      </p:cxnSp>
      <p:sp>
        <p:nvSpPr>
          <p:cNvPr id="125" name="Google Shape;125;p6"/>
          <p:cNvSpPr/>
          <p:nvPr/>
        </p:nvSpPr>
        <p:spPr>
          <a:xfrm>
            <a:off x="9052560" y="3154680"/>
            <a:ext cx="2194560" cy="868680"/>
          </a:xfrm>
          <a:prstGeom prst="roundRect">
            <a:avLst>
              <a:gd name="adj" fmla="val 5263"/>
            </a:avLst>
          </a:prstGeom>
          <a:solidFill>
            <a:srgbClr val="12262D"/>
          </a:solidFill>
          <a:ln w="1395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6"/>
          <p:cNvSpPr/>
          <p:nvPr/>
        </p:nvSpPr>
        <p:spPr>
          <a:xfrm>
            <a:off x="9107424" y="3305556"/>
            <a:ext cx="208483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FFFFFF"/>
              </a:buClr>
              <a:buSzPts val="1200"/>
              <a:buFont typeface="Arial"/>
              <a:buNone/>
            </a:pPr>
            <a:r>
              <a:rPr lang="en-US" sz="1200" b="1" i="0" u="none" strike="noStrike" cap="none">
                <a:solidFill>
                  <a:srgbClr val="FFFFFF"/>
                </a:solidFill>
                <a:latin typeface="Arial"/>
                <a:ea typeface="Arial"/>
                <a:cs typeface="Arial"/>
                <a:sym typeface="Arial"/>
              </a:rPr>
              <a:t>Environment action</a:t>
            </a:r>
            <a:endParaRPr sz="1200" b="0" i="0" u="none" strike="noStrike" cap="none">
              <a:solidFill>
                <a:schemeClr val="dk1"/>
              </a:solidFill>
              <a:latin typeface="Calibri"/>
              <a:ea typeface="Calibri"/>
              <a:cs typeface="Calibri"/>
              <a:sym typeface="Calibri"/>
            </a:endParaRPr>
          </a:p>
        </p:txBody>
      </p:sp>
      <p:sp>
        <p:nvSpPr>
          <p:cNvPr id="127" name="Google Shape;127;p6"/>
          <p:cNvSpPr/>
          <p:nvPr/>
        </p:nvSpPr>
        <p:spPr>
          <a:xfrm>
            <a:off x="9107424" y="3579876"/>
            <a:ext cx="208483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9FBEC2"/>
              </a:buClr>
              <a:buSzPts val="900"/>
              <a:buFont typeface="Arial"/>
              <a:buNone/>
            </a:pPr>
            <a:r>
              <a:rPr lang="en-US" sz="900" b="0" i="0" u="none" strike="noStrike" cap="none">
                <a:solidFill>
                  <a:srgbClr val="9FBEC2"/>
                </a:solidFill>
                <a:latin typeface="Arial"/>
                <a:ea typeface="Arial"/>
                <a:cs typeface="Arial"/>
                <a:sym typeface="Arial"/>
              </a:rPr>
              <a:t>robot thực thi</a:t>
            </a:r>
            <a:endParaRPr sz="900" b="0" i="0" u="none" strike="noStrike" cap="none">
              <a:solidFill>
                <a:schemeClr val="dk1"/>
              </a:solidFill>
              <a:latin typeface="Calibri"/>
              <a:ea typeface="Calibri"/>
              <a:cs typeface="Calibri"/>
              <a:sym typeface="Calibri"/>
            </a:endParaRPr>
          </a:p>
        </p:txBody>
      </p:sp>
      <p:cxnSp>
        <p:nvCxnSpPr>
          <p:cNvPr id="128" name="Google Shape;128;p6"/>
          <p:cNvCxnSpPr/>
          <p:nvPr/>
        </p:nvCxnSpPr>
        <p:spPr>
          <a:xfrm>
            <a:off x="8321040" y="2276856"/>
            <a:ext cx="502920" cy="0"/>
          </a:xfrm>
          <a:prstGeom prst="straightConnector1">
            <a:avLst/>
          </a:prstGeom>
          <a:noFill/>
          <a:ln w="15875" cap="flat" cmpd="sng">
            <a:solidFill>
              <a:srgbClr val="028090"/>
            </a:solidFill>
            <a:prstDash val="solid"/>
            <a:round/>
            <a:headEnd type="none" w="sm" len="sm"/>
            <a:tailEnd type="none" w="sm" len="sm"/>
          </a:ln>
        </p:spPr>
      </p:cxnSp>
      <p:cxnSp>
        <p:nvCxnSpPr>
          <p:cNvPr id="129" name="Google Shape;129;p6"/>
          <p:cNvCxnSpPr/>
          <p:nvPr/>
        </p:nvCxnSpPr>
        <p:spPr>
          <a:xfrm>
            <a:off x="8823960" y="2276856"/>
            <a:ext cx="0" cy="1316736"/>
          </a:xfrm>
          <a:prstGeom prst="straightConnector1">
            <a:avLst/>
          </a:prstGeom>
          <a:noFill/>
          <a:ln w="15875" cap="flat" cmpd="sng">
            <a:solidFill>
              <a:srgbClr val="028090"/>
            </a:solidFill>
            <a:prstDash val="solid"/>
            <a:round/>
            <a:headEnd type="none" w="sm" len="sm"/>
            <a:tailEnd type="none" w="sm" len="sm"/>
          </a:ln>
        </p:spPr>
      </p:cxnSp>
      <p:cxnSp>
        <p:nvCxnSpPr>
          <p:cNvPr id="130" name="Google Shape;130;p6"/>
          <p:cNvCxnSpPr/>
          <p:nvPr/>
        </p:nvCxnSpPr>
        <p:spPr>
          <a:xfrm>
            <a:off x="8321040" y="5020056"/>
            <a:ext cx="502920" cy="0"/>
          </a:xfrm>
          <a:prstGeom prst="straightConnector1">
            <a:avLst/>
          </a:prstGeom>
          <a:noFill/>
          <a:ln w="15875" cap="flat" cmpd="sng">
            <a:solidFill>
              <a:srgbClr val="D98324"/>
            </a:solidFill>
            <a:prstDash val="solid"/>
            <a:round/>
            <a:headEnd type="none" w="sm" len="sm"/>
            <a:tailEnd type="none" w="sm" len="sm"/>
          </a:ln>
        </p:spPr>
      </p:cxnSp>
      <p:cxnSp>
        <p:nvCxnSpPr>
          <p:cNvPr id="131" name="Google Shape;131;p6"/>
          <p:cNvCxnSpPr/>
          <p:nvPr/>
        </p:nvCxnSpPr>
        <p:spPr>
          <a:xfrm>
            <a:off x="8823960" y="3593592"/>
            <a:ext cx="0" cy="1426464"/>
          </a:xfrm>
          <a:prstGeom prst="straightConnector1">
            <a:avLst/>
          </a:prstGeom>
          <a:noFill/>
          <a:ln w="15875" cap="flat" cmpd="sng">
            <a:solidFill>
              <a:srgbClr val="D98324"/>
            </a:solidFill>
            <a:prstDash val="solid"/>
            <a:round/>
            <a:headEnd type="none" w="sm" len="sm"/>
            <a:tailEnd type="none" w="sm" len="sm"/>
          </a:ln>
        </p:spPr>
      </p:cxnSp>
      <p:cxnSp>
        <p:nvCxnSpPr>
          <p:cNvPr id="132" name="Google Shape;132;p6"/>
          <p:cNvCxnSpPr/>
          <p:nvPr/>
        </p:nvCxnSpPr>
        <p:spPr>
          <a:xfrm>
            <a:off x="8823960" y="3593592"/>
            <a:ext cx="228600" cy="0"/>
          </a:xfrm>
          <a:prstGeom prst="straightConnector1">
            <a:avLst/>
          </a:prstGeom>
          <a:noFill/>
          <a:ln w="15875" cap="flat" cmpd="sng">
            <a:solidFill>
              <a:srgbClr val="12262D"/>
            </a:solidFill>
            <a:prstDash val="solid"/>
            <a:round/>
            <a:headEnd type="none" w="sm" len="sm"/>
            <a:tailEnd type="triangle" w="med" len="med"/>
          </a:ln>
        </p:spPr>
      </p:cxnSp>
      <p:sp>
        <p:nvSpPr>
          <p:cNvPr id="133" name="Google Shape;133;p6"/>
          <p:cNvSpPr/>
          <p:nvPr/>
        </p:nvSpPr>
        <p:spPr>
          <a:xfrm>
            <a:off x="548640" y="5623560"/>
            <a:ext cx="11091672" cy="777240"/>
          </a:xfrm>
          <a:prstGeom prst="roundRect">
            <a:avLst>
              <a:gd name="adj" fmla="val 705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6"/>
          <p:cNvSpPr/>
          <p:nvPr/>
        </p:nvSpPr>
        <p:spPr>
          <a:xfrm>
            <a:off x="822960" y="5623560"/>
            <a:ext cx="10543032" cy="77724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028090"/>
              </a:buClr>
              <a:buSzPts val="1200"/>
              <a:buFont typeface="Arial"/>
              <a:buNone/>
            </a:pPr>
            <a:r>
              <a:rPr lang="en-US" sz="1200" b="1" i="0" u="none" strike="noStrike" cap="none">
                <a:solidFill>
                  <a:srgbClr val="028090"/>
                </a:solidFill>
                <a:latin typeface="Arial"/>
                <a:ea typeface="Arial"/>
                <a:cs typeface="Arial"/>
                <a:sym typeface="Arial"/>
              </a:rPr>
              <a:t>Điểm cốt lõi:  </a:t>
            </a:r>
            <a:r>
              <a:rPr lang="en-US" sz="1200" b="0" i="0" u="none" strike="noStrike" cap="none">
                <a:solidFill>
                  <a:srgbClr val="1B2B31"/>
                </a:solidFill>
                <a:latin typeface="Arial"/>
                <a:ea typeface="Arial"/>
                <a:cs typeface="Arial"/>
                <a:sym typeface="Arial"/>
              </a:rPr>
              <a:t>trong dual-system, S2 không chỉ trả về một câu chữ hay một toạ độ pixel. Nó sinh ra latent plan — biểu diễn học được của “đi đâu tiếp theo”. NavDP nhận latent đó làm goal condition, chứ không phải một điểm (x, y, theta) dạng số.</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7"/>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CẢNH BÁO KHÁI NIỆM</a:t>
            </a:r>
            <a:endParaRPr sz="1050" b="0" i="0" u="none" strike="noStrike" cap="none">
              <a:solidFill>
                <a:schemeClr val="dk1"/>
              </a:solidFill>
              <a:latin typeface="Calibri"/>
              <a:ea typeface="Calibri"/>
              <a:cs typeface="Calibri"/>
              <a:sym typeface="Calibri"/>
            </a:endParaRPr>
          </a:p>
        </p:txBody>
      </p:sp>
      <p:sp>
        <p:nvSpPr>
          <p:cNvPr id="141" name="Google Shape;141;p7"/>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Ba chỗ rất dễ nhầm lẫn</a:t>
            </a:r>
            <a:endParaRPr sz="2500" b="0" i="0" u="none" strike="noStrike" cap="none">
              <a:solidFill>
                <a:schemeClr val="dk1"/>
              </a:solidFill>
              <a:latin typeface="Calibri"/>
              <a:ea typeface="Calibri"/>
              <a:cs typeface="Calibri"/>
              <a:sym typeface="Calibri"/>
            </a:endParaRPr>
          </a:p>
        </p:txBody>
      </p:sp>
      <p:sp>
        <p:nvSpPr>
          <p:cNvPr id="142" name="Google Shape;142;p7"/>
          <p:cNvSpPr/>
          <p:nvPr/>
        </p:nvSpPr>
        <p:spPr>
          <a:xfrm>
            <a:off x="548640" y="1371600"/>
            <a:ext cx="5349240" cy="3703320"/>
          </a:xfrm>
          <a:prstGeom prst="roundRect">
            <a:avLst>
              <a:gd name="adj" fmla="val 148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822960" y="1572768"/>
            <a:ext cx="365760" cy="365760"/>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7"/>
          <p:cNvSpPr/>
          <p:nvPr/>
        </p:nvSpPr>
        <p:spPr>
          <a:xfrm>
            <a:off x="822960" y="15727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1</a:t>
            </a:r>
            <a:endParaRPr sz="1050" b="0" i="0" u="none" strike="noStrike" cap="none">
              <a:solidFill>
                <a:schemeClr val="dk1"/>
              </a:solidFill>
              <a:latin typeface="Calibri"/>
              <a:ea typeface="Calibri"/>
              <a:cs typeface="Calibri"/>
              <a:sym typeface="Calibri"/>
            </a:endParaRPr>
          </a:p>
        </p:txBody>
      </p:sp>
      <p:sp>
        <p:nvSpPr>
          <p:cNvPr id="145" name="Google Shape;145;p7"/>
          <p:cNvSpPr/>
          <p:nvPr/>
        </p:nvSpPr>
        <p:spPr>
          <a:xfrm>
            <a:off x="1298448" y="1600200"/>
            <a:ext cx="4434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50"/>
              <a:buFont typeface="Arial"/>
              <a:buNone/>
            </a:pPr>
            <a:r>
              <a:rPr lang="en-US" sz="1350" b="1" i="0" u="none" strike="noStrike" cap="none">
                <a:solidFill>
                  <a:srgbClr val="1B2B31"/>
                </a:solidFill>
                <a:latin typeface="Arial"/>
                <a:ea typeface="Arial"/>
                <a:cs typeface="Arial"/>
                <a:sym typeface="Arial"/>
              </a:rPr>
              <a:t>S2 image history ≠ S1 RGB-D memory</a:t>
            </a:r>
            <a:endParaRPr sz="1350" b="0" i="0" u="none" strike="noStrike" cap="none">
              <a:solidFill>
                <a:schemeClr val="dk1"/>
              </a:solidFill>
              <a:latin typeface="Calibri"/>
              <a:ea typeface="Calibri"/>
              <a:cs typeface="Calibri"/>
              <a:sym typeface="Calibri"/>
            </a:endParaRPr>
          </a:p>
        </p:txBody>
      </p:sp>
      <p:sp>
        <p:nvSpPr>
          <p:cNvPr id="146" name="Google Shape;146;p7"/>
          <p:cNvSpPr/>
          <p:nvPr/>
        </p:nvSpPr>
        <p:spPr>
          <a:xfrm>
            <a:off x="822960" y="2121408"/>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p:nvPr/>
        </p:nvSpPr>
        <p:spPr>
          <a:xfrm>
            <a:off x="960120" y="2194560"/>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S2</a:t>
            </a:r>
            <a:endParaRPr sz="1100" b="0" i="0" u="none" strike="noStrike" cap="none">
              <a:solidFill>
                <a:schemeClr val="dk1"/>
              </a:solidFill>
              <a:latin typeface="Calibri"/>
              <a:ea typeface="Calibri"/>
              <a:cs typeface="Calibri"/>
              <a:sym typeface="Calibri"/>
            </a:endParaRPr>
          </a:p>
        </p:txBody>
      </p:sp>
      <p:sp>
        <p:nvSpPr>
          <p:cNvPr id="148" name="Google Shape;148;p7"/>
          <p:cNvSpPr/>
          <p:nvPr/>
        </p:nvSpPr>
        <p:spPr>
          <a:xfrm>
            <a:off x="960120" y="2414016"/>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tối đa num_history = 8 ảnh lịch sử + ảnh hiện tại, resize 384×384</a:t>
            </a:r>
            <a:endParaRPr sz="1050" b="0" i="0" u="none" strike="noStrike" cap="none">
              <a:solidFill>
                <a:schemeClr val="dk1"/>
              </a:solidFill>
              <a:latin typeface="Calibri"/>
              <a:ea typeface="Calibri"/>
              <a:cs typeface="Calibri"/>
              <a:sym typeface="Calibri"/>
            </a:endParaRPr>
          </a:p>
        </p:txBody>
      </p:sp>
      <p:sp>
        <p:nvSpPr>
          <p:cNvPr id="149" name="Google Shape;149;p7"/>
          <p:cNvSpPr/>
          <p:nvPr/>
        </p:nvSpPr>
        <p:spPr>
          <a:xfrm>
            <a:off x="822960" y="2962656"/>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960120" y="3035808"/>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S1 standalone</a:t>
            </a:r>
            <a:endParaRPr sz="1100" b="0" i="0" u="none" strike="noStrike" cap="none">
              <a:solidFill>
                <a:schemeClr val="dk1"/>
              </a:solidFill>
              <a:latin typeface="Calibri"/>
              <a:ea typeface="Calibri"/>
              <a:cs typeface="Calibri"/>
              <a:sym typeface="Calibri"/>
            </a:endParaRPr>
          </a:p>
        </p:txBody>
      </p:sp>
      <p:sp>
        <p:nvSpPr>
          <p:cNvPr id="151" name="Google Shape;151;p7"/>
          <p:cNvSpPr/>
          <p:nvPr/>
        </p:nvSpPr>
        <p:spPr>
          <a:xfrm>
            <a:off x="960120" y="3255264"/>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memory_size = 8 RGB ở 224×224, nhưng chỉ 1 depth hiện tại</a:t>
            </a:r>
            <a:endParaRPr sz="1050" b="0" i="0" u="none" strike="noStrike" cap="none">
              <a:solidFill>
                <a:schemeClr val="dk1"/>
              </a:solidFill>
              <a:latin typeface="Calibri"/>
              <a:ea typeface="Calibri"/>
              <a:cs typeface="Calibri"/>
              <a:sym typeface="Calibri"/>
            </a:endParaRPr>
          </a:p>
        </p:txBody>
      </p:sp>
      <p:sp>
        <p:nvSpPr>
          <p:cNvPr id="152" name="Google Shape;152;p7"/>
          <p:cNvSpPr/>
          <p:nvPr/>
        </p:nvSpPr>
        <p:spPr>
          <a:xfrm>
            <a:off x="822960" y="3803904"/>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7"/>
          <p:cNvSpPr/>
          <p:nvPr/>
        </p:nvSpPr>
        <p:spPr>
          <a:xfrm>
            <a:off x="960120" y="3877056"/>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S1 dual async</a:t>
            </a:r>
            <a:endParaRPr sz="1100" b="0" i="0" u="none" strike="noStrike" cap="none">
              <a:solidFill>
                <a:schemeClr val="dk1"/>
              </a:solidFill>
              <a:latin typeface="Calibri"/>
              <a:ea typeface="Calibri"/>
              <a:cs typeface="Calibri"/>
              <a:sym typeface="Calibri"/>
            </a:endParaRPr>
          </a:p>
        </p:txBody>
      </p:sp>
      <p:sp>
        <p:nvSpPr>
          <p:cNvPr id="154" name="Google Shape;154;p7"/>
          <p:cNvSpPr/>
          <p:nvPr/>
        </p:nvSpPr>
        <p:spPr>
          <a:xfrm>
            <a:off x="960120" y="4096512"/>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memory_size = 2: cặp RGB-D lúc lập plan + cặp hiện tại</a:t>
            </a:r>
            <a:endParaRPr sz="1050" b="0" i="0" u="none" strike="noStrike" cap="none">
              <a:solidFill>
                <a:schemeClr val="dk1"/>
              </a:solidFill>
              <a:latin typeface="Calibri"/>
              <a:ea typeface="Calibri"/>
              <a:cs typeface="Calibri"/>
              <a:sym typeface="Calibri"/>
            </a:endParaRPr>
          </a:p>
        </p:txBody>
      </p:sp>
      <p:sp>
        <p:nvSpPr>
          <p:cNvPr id="155" name="Google Shape;155;p7"/>
          <p:cNvSpPr/>
          <p:nvPr/>
        </p:nvSpPr>
        <p:spPr>
          <a:xfrm>
            <a:off x="822960" y="5138928"/>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00"/>
              <a:buFont typeface="Arial"/>
              <a:buNone/>
            </a:pPr>
            <a:r>
              <a:rPr lang="en-US" sz="1100" b="1" i="1" u="none" strike="noStrike" cap="none">
                <a:solidFill>
                  <a:srgbClr val="D98324"/>
                </a:solidFill>
                <a:latin typeface="Arial"/>
                <a:ea typeface="Arial"/>
                <a:cs typeface="Arial"/>
                <a:sym typeface="Arial"/>
              </a:rPr>
              <a:t>Số 8 của S2 không đồng nghĩa với số 2 của S1 dual async.</a:t>
            </a:r>
            <a:endParaRPr sz="1100" b="0" i="0" u="none" strike="noStrike" cap="none">
              <a:solidFill>
                <a:schemeClr val="dk1"/>
              </a:solidFill>
              <a:latin typeface="Calibri"/>
              <a:ea typeface="Calibri"/>
              <a:cs typeface="Calibri"/>
              <a:sym typeface="Calibri"/>
            </a:endParaRPr>
          </a:p>
        </p:txBody>
      </p:sp>
      <p:sp>
        <p:nvSpPr>
          <p:cNvPr id="156" name="Google Shape;156;p7"/>
          <p:cNvSpPr/>
          <p:nvPr/>
        </p:nvSpPr>
        <p:spPr>
          <a:xfrm>
            <a:off x="6291072" y="1371600"/>
            <a:ext cx="5349240" cy="3703320"/>
          </a:xfrm>
          <a:prstGeom prst="roundRect">
            <a:avLst>
              <a:gd name="adj" fmla="val 148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7"/>
          <p:cNvSpPr/>
          <p:nvPr/>
        </p:nvSpPr>
        <p:spPr>
          <a:xfrm>
            <a:off x="6565392" y="1572768"/>
            <a:ext cx="365760" cy="365760"/>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7"/>
          <p:cNvSpPr/>
          <p:nvPr/>
        </p:nvSpPr>
        <p:spPr>
          <a:xfrm>
            <a:off x="6565392" y="1572768"/>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2</a:t>
            </a:r>
            <a:endParaRPr sz="1050" b="0" i="0" u="none" strike="noStrike" cap="none">
              <a:solidFill>
                <a:schemeClr val="dk1"/>
              </a:solidFill>
              <a:latin typeface="Calibri"/>
              <a:ea typeface="Calibri"/>
              <a:cs typeface="Calibri"/>
              <a:sym typeface="Calibri"/>
            </a:endParaRPr>
          </a:p>
        </p:txBody>
      </p:sp>
      <p:sp>
        <p:nvSpPr>
          <p:cNvPr id="159" name="Google Shape;159;p7"/>
          <p:cNvSpPr/>
          <p:nvPr/>
        </p:nvSpPr>
        <p:spPr>
          <a:xfrm>
            <a:off x="7040880" y="1600200"/>
            <a:ext cx="44348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50"/>
              <a:buFont typeface="Arial"/>
              <a:buNone/>
            </a:pPr>
            <a:r>
              <a:rPr lang="en-US" sz="1350" b="1" i="0" u="none" strike="noStrike" cap="none">
                <a:solidFill>
                  <a:srgbClr val="1B2B31"/>
                </a:solidFill>
                <a:latin typeface="Arial"/>
                <a:ea typeface="Arial"/>
                <a:cs typeface="Arial"/>
                <a:sym typeface="Arial"/>
              </a:rPr>
              <a:t>Pixel goal ≠ latent plan</a:t>
            </a:r>
            <a:endParaRPr sz="1350" b="0" i="0" u="none" strike="noStrike" cap="none">
              <a:solidFill>
                <a:schemeClr val="dk1"/>
              </a:solidFill>
              <a:latin typeface="Calibri"/>
              <a:ea typeface="Calibri"/>
              <a:cs typeface="Calibri"/>
              <a:sym typeface="Calibri"/>
            </a:endParaRPr>
          </a:p>
        </p:txBody>
      </p:sp>
      <p:sp>
        <p:nvSpPr>
          <p:cNvPr id="160" name="Google Shape;160;p7"/>
          <p:cNvSpPr/>
          <p:nvPr/>
        </p:nvSpPr>
        <p:spPr>
          <a:xfrm>
            <a:off x="6565392" y="2121408"/>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7"/>
          <p:cNvSpPr/>
          <p:nvPr/>
        </p:nvSpPr>
        <p:spPr>
          <a:xfrm>
            <a:off x="6702552" y="2194560"/>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100"/>
              <a:buFont typeface="Arial"/>
              <a:buNone/>
            </a:pPr>
            <a:r>
              <a:rPr lang="en-US" sz="1100" b="1" i="0" u="none" strike="noStrike" cap="none">
                <a:solidFill>
                  <a:srgbClr val="00A896"/>
                </a:solidFill>
                <a:latin typeface="Arial"/>
                <a:ea typeface="Arial"/>
                <a:cs typeface="Arial"/>
                <a:sym typeface="Arial"/>
              </a:rPr>
              <a:t>Pixel goal</a:t>
            </a:r>
            <a:endParaRPr sz="1100" b="0" i="0" u="none" strike="noStrike" cap="none">
              <a:solidFill>
                <a:schemeClr val="dk1"/>
              </a:solidFill>
              <a:latin typeface="Calibri"/>
              <a:ea typeface="Calibri"/>
              <a:cs typeface="Calibri"/>
              <a:sym typeface="Calibri"/>
            </a:endParaRPr>
          </a:p>
        </p:txBody>
      </p:sp>
      <p:sp>
        <p:nvSpPr>
          <p:cNvPr id="162" name="Google Shape;162;p7"/>
          <p:cNvSpPr/>
          <p:nvPr/>
        </p:nvSpPr>
        <p:spPr>
          <a:xfrm>
            <a:off x="6702552" y="2414016"/>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toạ độ quan sát được, lưu theo thứ tự [y, x] — dùng để log/visualize</a:t>
            </a:r>
            <a:endParaRPr sz="1050" b="0" i="0" u="none" strike="noStrike" cap="none">
              <a:solidFill>
                <a:schemeClr val="dk1"/>
              </a:solidFill>
              <a:latin typeface="Calibri"/>
              <a:ea typeface="Calibri"/>
              <a:cs typeface="Calibri"/>
              <a:sym typeface="Calibri"/>
            </a:endParaRPr>
          </a:p>
        </p:txBody>
      </p:sp>
      <p:sp>
        <p:nvSpPr>
          <p:cNvPr id="163" name="Google Shape;163;p7"/>
          <p:cNvSpPr/>
          <p:nvPr/>
        </p:nvSpPr>
        <p:spPr>
          <a:xfrm>
            <a:off x="6565392" y="2962656"/>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7"/>
          <p:cNvSpPr/>
          <p:nvPr/>
        </p:nvSpPr>
        <p:spPr>
          <a:xfrm>
            <a:off x="6702552" y="3035808"/>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100"/>
              <a:buFont typeface="Arial"/>
              <a:buNone/>
            </a:pPr>
            <a:r>
              <a:rPr lang="en-US" sz="1100" b="1" i="0" u="none" strike="noStrike" cap="none">
                <a:solidFill>
                  <a:srgbClr val="00A896"/>
                </a:solidFill>
                <a:latin typeface="Arial"/>
                <a:ea typeface="Arial"/>
                <a:cs typeface="Arial"/>
                <a:sym typeface="Arial"/>
              </a:rPr>
              <a:t>Latent plan</a:t>
            </a:r>
            <a:endParaRPr sz="1100" b="0" i="0" u="none" strike="noStrike" cap="none">
              <a:solidFill>
                <a:schemeClr val="dk1"/>
              </a:solidFill>
              <a:latin typeface="Calibri"/>
              <a:ea typeface="Calibri"/>
              <a:cs typeface="Calibri"/>
              <a:sym typeface="Calibri"/>
            </a:endParaRPr>
          </a:p>
        </p:txBody>
      </p:sp>
      <p:sp>
        <p:nvSpPr>
          <p:cNvPr id="165" name="Google Shape;165;p7"/>
          <p:cNvSpPr/>
          <p:nvPr/>
        </p:nvSpPr>
        <p:spPr>
          <a:xfrm>
            <a:off x="6702552" y="3255264"/>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tensor hidden-state, không mang ý nghĩa toạ độ trực tiếp</a:t>
            </a:r>
            <a:endParaRPr sz="1050" b="0" i="0" u="none" strike="noStrike" cap="none">
              <a:solidFill>
                <a:schemeClr val="dk1"/>
              </a:solidFill>
              <a:latin typeface="Calibri"/>
              <a:ea typeface="Calibri"/>
              <a:cs typeface="Calibri"/>
              <a:sym typeface="Calibri"/>
            </a:endParaRPr>
          </a:p>
        </p:txBody>
      </p:sp>
      <p:sp>
        <p:nvSpPr>
          <p:cNvPr id="166" name="Google Shape;166;p7"/>
          <p:cNvSpPr/>
          <p:nvPr/>
        </p:nvSpPr>
        <p:spPr>
          <a:xfrm>
            <a:off x="6565392" y="3803904"/>
            <a:ext cx="4800600" cy="713232"/>
          </a:xfrm>
          <a:prstGeom prst="roundRect">
            <a:avLst>
              <a:gd name="adj" fmla="val 5128"/>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7"/>
          <p:cNvSpPr/>
          <p:nvPr/>
        </p:nvSpPr>
        <p:spPr>
          <a:xfrm>
            <a:off x="6702552" y="3877056"/>
            <a:ext cx="4480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100"/>
              <a:buFont typeface="Arial"/>
              <a:buNone/>
            </a:pPr>
            <a:r>
              <a:rPr lang="en-US" sz="1100" b="1" i="0" u="none" strike="noStrike" cap="none">
                <a:solidFill>
                  <a:srgbClr val="00A896"/>
                </a:solidFill>
                <a:latin typeface="Arial"/>
                <a:ea typeface="Arial"/>
                <a:cs typeface="Arial"/>
                <a:sym typeface="Arial"/>
              </a:rPr>
              <a:t>Trong code</a:t>
            </a:r>
            <a:endParaRPr sz="1100" b="0" i="0" u="none" strike="noStrike" cap="none">
              <a:solidFill>
                <a:schemeClr val="dk1"/>
              </a:solidFill>
              <a:latin typeface="Calibri"/>
              <a:ea typeface="Calibri"/>
              <a:cs typeface="Calibri"/>
              <a:sym typeface="Calibri"/>
            </a:endParaRPr>
          </a:p>
        </p:txBody>
      </p:sp>
      <p:sp>
        <p:nvSpPr>
          <p:cNvPr id="168" name="Google Shape;168;p7"/>
          <p:cNvSpPr/>
          <p:nvPr/>
        </p:nvSpPr>
        <p:spPr>
          <a:xfrm>
            <a:off x="6702552" y="4096512"/>
            <a:ext cx="4526280" cy="384048"/>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latent điều kiện hoá diffusion; pixel goal giữ frame “lúc lập plan”</a:t>
            </a:r>
            <a:endParaRPr sz="1050" b="0" i="0" u="none" strike="noStrike" cap="none">
              <a:solidFill>
                <a:schemeClr val="dk1"/>
              </a:solidFill>
              <a:latin typeface="Calibri"/>
              <a:ea typeface="Calibri"/>
              <a:cs typeface="Calibri"/>
              <a:sym typeface="Calibri"/>
            </a:endParaRPr>
          </a:p>
        </p:txBody>
      </p:sp>
      <p:sp>
        <p:nvSpPr>
          <p:cNvPr id="169" name="Google Shape;169;p7"/>
          <p:cNvSpPr/>
          <p:nvPr/>
        </p:nvSpPr>
        <p:spPr>
          <a:xfrm>
            <a:off x="6565392" y="5138928"/>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00"/>
              <a:buFont typeface="Arial"/>
              <a:buNone/>
            </a:pPr>
            <a:r>
              <a:rPr lang="en-US" sz="1100" b="1" i="1" u="none" strike="noStrike" cap="none">
                <a:solidFill>
                  <a:srgbClr val="D98324"/>
                </a:solidFill>
                <a:latin typeface="Arial"/>
                <a:ea typeface="Arial"/>
                <a:cs typeface="Arial"/>
                <a:sym typeface="Arial"/>
              </a:rPr>
              <a:t>Vẽ nhầm [x,y] ↔ [y,x] là lỗi visualize phổ biến.</a:t>
            </a:r>
            <a:endParaRPr sz="1100" b="0" i="0" u="none" strike="noStrike" cap="none">
              <a:solidFill>
                <a:schemeClr val="dk1"/>
              </a:solidFill>
              <a:latin typeface="Calibri"/>
              <a:ea typeface="Calibri"/>
              <a:cs typeface="Calibri"/>
              <a:sym typeface="Calibri"/>
            </a:endParaRPr>
          </a:p>
        </p:txBody>
      </p:sp>
      <p:sp>
        <p:nvSpPr>
          <p:cNvPr id="170" name="Google Shape;170;p7"/>
          <p:cNvSpPr/>
          <p:nvPr/>
        </p:nvSpPr>
        <p:spPr>
          <a:xfrm>
            <a:off x="548640" y="5623560"/>
            <a:ext cx="11091672" cy="777240"/>
          </a:xfrm>
          <a:prstGeom prst="roundRect">
            <a:avLst>
              <a:gd name="adj" fmla="val 7059"/>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7"/>
          <p:cNvSpPr/>
          <p:nvPr/>
        </p:nvSpPr>
        <p:spPr>
          <a:xfrm>
            <a:off x="822960" y="57424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1300"/>
              <a:buFont typeface="Arial"/>
              <a:buNone/>
            </a:pPr>
            <a:r>
              <a:rPr lang="en-US" sz="1300" b="1" i="0" u="none" strike="noStrike" cap="none">
                <a:solidFill>
                  <a:srgbClr val="D98324"/>
                </a:solidFill>
                <a:latin typeface="Arial"/>
                <a:ea typeface="Arial"/>
                <a:cs typeface="Arial"/>
                <a:sym typeface="Arial"/>
              </a:rPr>
              <a:t>3</a:t>
            </a:r>
            <a:endParaRPr sz="1300" b="0" i="0" u="none" strike="noStrike" cap="none">
              <a:solidFill>
                <a:schemeClr val="dk1"/>
              </a:solidFill>
              <a:latin typeface="Calibri"/>
              <a:ea typeface="Calibri"/>
              <a:cs typeface="Calibri"/>
              <a:sym typeface="Calibri"/>
            </a:endParaRPr>
          </a:p>
        </p:txBody>
      </p:sp>
      <p:sp>
        <p:nvSpPr>
          <p:cNvPr id="172" name="Google Shape;172;p7"/>
          <p:cNvSpPr/>
          <p:nvPr/>
        </p:nvSpPr>
        <p:spPr>
          <a:xfrm>
            <a:off x="1325880" y="571500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NavDP standalone ≠ NavDP nhúng trong InternVLA-N1</a:t>
            </a:r>
            <a:endParaRPr sz="1300" b="0" i="0" u="none" strike="noStrike" cap="none">
              <a:solidFill>
                <a:schemeClr val="dk1"/>
              </a:solidFill>
              <a:latin typeface="Calibri"/>
              <a:ea typeface="Calibri"/>
              <a:cs typeface="Calibri"/>
              <a:sym typeface="Calibri"/>
            </a:endParaRPr>
          </a:p>
        </p:txBody>
      </p:sp>
      <p:sp>
        <p:nvSpPr>
          <p:cNvPr id="173" name="Google Shape;173;p7"/>
          <p:cNvSpPr/>
          <p:nvPr/>
        </p:nvSpPr>
        <p:spPr>
          <a:xfrm>
            <a:off x="1325880" y="5989320"/>
            <a:ext cx="9875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150"/>
              <a:buFont typeface="Arial"/>
              <a:buNone/>
            </a:pPr>
            <a:r>
              <a:rPr lang="en-US" sz="1150" b="0" i="0" u="none" strike="noStrike" cap="none">
                <a:solidFill>
                  <a:srgbClr val="9FBEC2"/>
                </a:solidFill>
                <a:latin typeface="Arial"/>
                <a:ea typeface="Arial"/>
                <a:cs typeface="Arial"/>
                <a:sym typeface="Arial"/>
              </a:rPr>
              <a:t>Hai đường dùng chung khái niệm quỹ đạo nhưng KHÔNG nhận cùng một biểu diễn goal → xem slide sau.</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SO SÁNH</a:t>
            </a:r>
            <a:endParaRPr sz="1050" b="0" i="0" u="none" strike="noStrike" cap="none">
              <a:solidFill>
                <a:schemeClr val="dk1"/>
              </a:solidFill>
              <a:latin typeface="Calibri"/>
              <a:ea typeface="Calibri"/>
              <a:cs typeface="Calibri"/>
              <a:sym typeface="Calibri"/>
            </a:endParaRPr>
          </a:p>
        </p:txBody>
      </p:sp>
      <p:sp>
        <p:nvSpPr>
          <p:cNvPr id="180" name="Google Shape;180;p8"/>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NavDP standalone và NavDP trong dual-system</a:t>
            </a:r>
            <a:endParaRPr sz="2500" b="0" i="0" u="none" strike="noStrike" cap="none">
              <a:solidFill>
                <a:schemeClr val="dk1"/>
              </a:solidFill>
              <a:latin typeface="Calibri"/>
              <a:ea typeface="Calibri"/>
              <a:cs typeface="Calibri"/>
              <a:sym typeface="Calibri"/>
            </a:endParaRPr>
          </a:p>
        </p:txBody>
      </p:sp>
      <p:graphicFrame>
        <p:nvGraphicFramePr>
          <p:cNvPr id="181" name="Google Shape;181;p8"/>
          <p:cNvGraphicFramePr/>
          <p:nvPr/>
        </p:nvGraphicFramePr>
        <p:xfrm>
          <a:off x="550165" y="1746500"/>
          <a:ext cx="3000000" cy="3000000"/>
        </p:xfrm>
        <a:graphic>
          <a:graphicData uri="http://schemas.openxmlformats.org/drawingml/2006/table">
            <a:tbl>
              <a:tblPr>
                <a:noFill/>
                <a:tableStyleId>{F1D69EF9-3EB6-4A34-B587-486656E65251}</a:tableStyleId>
              </a:tblPr>
              <a:tblGrid>
                <a:gridCol w="1618175">
                  <a:extLst>
                    <a:ext uri="{9D8B030D-6E8A-4147-A177-3AD203B41FA5}">
                      <a16:colId xmlns:a16="http://schemas.microsoft.com/office/drawing/2014/main" val="20000"/>
                    </a:ext>
                  </a:extLst>
                </a:gridCol>
                <a:gridCol w="4345525">
                  <a:extLst>
                    <a:ext uri="{9D8B030D-6E8A-4147-A177-3AD203B41FA5}">
                      <a16:colId xmlns:a16="http://schemas.microsoft.com/office/drawing/2014/main" val="20001"/>
                    </a:ext>
                  </a:extLst>
                </a:gridCol>
                <a:gridCol w="5127975">
                  <a:extLst>
                    <a:ext uri="{9D8B030D-6E8A-4147-A177-3AD203B41FA5}">
                      <a16:colId xmlns:a16="http://schemas.microsoft.com/office/drawing/2014/main" val="20002"/>
                    </a:ext>
                  </a:extLst>
                </a:gridCol>
              </a:tblGrid>
              <a:tr h="420625">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Thuộc tính</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NavDP standalone (đã chạy thật)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NavDP trong dual-system (đã chạy thật)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Goal condition</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Numeric point goal (x, y, theta)</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Latent plan sinh bởi System 2</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Goal encoder</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Linear(3 → 384)</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MLP 3584 → 384, rồi token compressor</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RGB-D contract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8 RGB history + 1 depth hiện tại</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2 RGB + 2 depth (async path)</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Prediction horizon</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24 bước</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32 bước (predict_size=32, đo thật: s1_traj (33,2))</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4"/>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Diffusion steps</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10 timestep</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20 timestep</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Critic ranking</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Có, trong API standalone đã gọi</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generate_traj() trả toàn bộ sample; post-process lấy mean</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6"/>
                  </a:ext>
                </a:extLst>
              </a:tr>
              <a:tr h="420625">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Trạng thái local</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Đã chạy trên RTX 4050 Laptop</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Đã chạy open-loop trên Kaggle T4×2 (23/07) — 101/128 frame ra latent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bl>
          </a:graphicData>
        </a:graphic>
      </p:graphicFrame>
      <p:sp>
        <p:nvSpPr>
          <p:cNvPr id="182" name="Google Shape;182;p8"/>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Cùng tên “NavDP” nhưng khác goal representation — không thể thay thế lẫn nhau ở tầng API.</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187"/>
        <p:cNvGrpSpPr/>
        <p:nvPr/>
      </p:nvGrpSpPr>
      <p:grpSpPr>
        <a:xfrm>
          <a:off x="0" y="0"/>
          <a:ext cx="0" cy="0"/>
          <a:chOff x="0" y="0"/>
          <a:chExt cx="0" cy="0"/>
        </a:xfrm>
      </p:grpSpPr>
      <p:sp>
        <p:nvSpPr>
          <p:cNvPr id="188" name="Google Shape;188;p9"/>
          <p:cNvSpPr/>
          <p:nvPr/>
        </p:nvSpPr>
        <p:spPr>
          <a:xfrm>
            <a:off x="-1097280" y="3840480"/>
            <a:ext cx="4206240" cy="420624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9"/>
          <p:cNvSpPr/>
          <p:nvPr/>
        </p:nvSpPr>
        <p:spPr>
          <a:xfrm>
            <a:off x="1280160" y="246888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Arial"/>
              <a:buNone/>
            </a:pPr>
            <a:r>
              <a:rPr lang="en-US" sz="1200" b="1" i="0" u="none" strike="noStrike" cap="none">
                <a:solidFill>
                  <a:srgbClr val="D98324"/>
                </a:solidFill>
                <a:latin typeface="Arial"/>
                <a:ea typeface="Arial"/>
                <a:cs typeface="Arial"/>
                <a:sym typeface="Arial"/>
              </a:rPr>
              <a:t>PHẦN 02</a:t>
            </a:r>
            <a:endParaRPr sz="1200" b="0" i="0" u="none" strike="noStrike" cap="none">
              <a:solidFill>
                <a:schemeClr val="dk1"/>
              </a:solidFill>
              <a:latin typeface="Calibri"/>
              <a:ea typeface="Calibri"/>
              <a:cs typeface="Calibri"/>
              <a:sym typeface="Calibri"/>
            </a:endParaRPr>
          </a:p>
        </p:txBody>
      </p:sp>
      <p:sp>
        <p:nvSpPr>
          <p:cNvPr id="190" name="Google Shape;190;p9"/>
          <p:cNvSpPr/>
          <p:nvPr/>
        </p:nvSpPr>
        <p:spPr>
          <a:xfrm>
            <a:off x="1280160" y="2834640"/>
            <a:ext cx="7315200" cy="1371600"/>
          </a:xfrm>
          <a:prstGeom prst="rect">
            <a:avLst/>
          </a:prstGeom>
          <a:noFill/>
          <a:ln>
            <a:noFill/>
          </a:ln>
        </p:spPr>
        <p:txBody>
          <a:bodyPr spcFirstLastPara="1" wrap="square" lIns="0" tIns="0" rIns="0" bIns="0" anchor="ctr" anchorCtr="0">
            <a:noAutofit/>
          </a:bodyPr>
          <a:lstStyle/>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Data contract</a:t>
            </a:r>
            <a:endParaRPr sz="3600" b="0" i="0" u="none" strike="noStrike" cap="none">
              <a:solidFill>
                <a:schemeClr val="dk1"/>
              </a:solidFill>
              <a:latin typeface="Calibri"/>
              <a:ea typeface="Calibri"/>
              <a:cs typeface="Calibri"/>
              <a:sym typeface="Calibri"/>
            </a:endParaRPr>
          </a:p>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InternData-N1</a:t>
            </a:r>
            <a:endParaRPr sz="3600" b="0" i="0" u="none" strike="noStrike" cap="none">
              <a:solidFill>
                <a:schemeClr val="dk1"/>
              </a:solidFill>
              <a:latin typeface="Calibri"/>
              <a:ea typeface="Calibri"/>
              <a:cs typeface="Calibri"/>
              <a:sym typeface="Calibri"/>
            </a:endParaRPr>
          </a:p>
        </p:txBody>
      </p:sp>
      <p:sp>
        <p:nvSpPr>
          <p:cNvPr id="191" name="Google Shape;191;p9"/>
          <p:cNvSpPr/>
          <p:nvPr/>
        </p:nvSpPr>
        <p:spPr>
          <a:xfrm>
            <a:off x="1280160" y="4315968"/>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400"/>
              <a:buFont typeface="Arial"/>
              <a:buNone/>
            </a:pPr>
            <a:r>
              <a:rPr lang="en-US" sz="1400" b="0" i="0" u="none" strike="noStrike" cap="none">
                <a:solidFill>
                  <a:srgbClr val="9FBEC2"/>
                </a:solidFill>
                <a:latin typeface="Arial"/>
                <a:ea typeface="Arial"/>
                <a:cs typeface="Arial"/>
                <a:sym typeface="Arial"/>
              </a:rPr>
              <a:t>Từ file trên đĩa đến tensor mà NavDP thực sự nhận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0"/>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DATA CONTRACT</a:t>
            </a:r>
            <a:endParaRPr sz="1050" b="0" i="0" u="none" strike="noStrike" cap="none">
              <a:solidFill>
                <a:schemeClr val="dk1"/>
              </a:solidFill>
              <a:latin typeface="Calibri"/>
              <a:ea typeface="Calibri"/>
              <a:cs typeface="Calibri"/>
              <a:sym typeface="Calibri"/>
            </a:endParaRPr>
          </a:p>
        </p:txBody>
      </p:sp>
      <p:sp>
        <p:nvSpPr>
          <p:cNvPr id="198" name="Google Shape;198;p10"/>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Cấu trúc một trajectory theo chuẩn LeRobot</a:t>
            </a:r>
            <a:endParaRPr sz="2500" b="0" i="0" u="none" strike="noStrike" cap="none">
              <a:solidFill>
                <a:schemeClr val="dk1"/>
              </a:solidFill>
              <a:latin typeface="Calibri"/>
              <a:ea typeface="Calibri"/>
              <a:cs typeface="Calibri"/>
              <a:sym typeface="Calibri"/>
            </a:endParaRPr>
          </a:p>
        </p:txBody>
      </p:sp>
      <p:sp>
        <p:nvSpPr>
          <p:cNvPr id="199" name="Google Shape;199;p10"/>
          <p:cNvSpPr/>
          <p:nvPr/>
        </p:nvSpPr>
        <p:spPr>
          <a:xfrm>
            <a:off x="548640" y="1371600"/>
            <a:ext cx="5029200" cy="3794760"/>
          </a:xfrm>
          <a:prstGeom prst="roundRect">
            <a:avLst>
              <a:gd name="adj" fmla="val 1446"/>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0"/>
          <p:cNvSpPr/>
          <p:nvPr/>
        </p:nvSpPr>
        <p:spPr>
          <a:xfrm>
            <a:off x="822960" y="1600200"/>
            <a:ext cx="4572000" cy="3108960"/>
          </a:xfrm>
          <a:prstGeom prst="rect">
            <a:avLst/>
          </a:prstGeom>
          <a:noFill/>
          <a:ln>
            <a:noFill/>
          </a:ln>
        </p:spPr>
        <p:txBody>
          <a:bodyPr spcFirstLastPara="1" wrap="square" lIns="0" tIns="0" rIns="0" bIns="0" anchor="ctr" anchorCtr="0">
            <a:noAutofit/>
          </a:bodyPr>
          <a:lstStyle/>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&lt;root&gt;/&lt;sub_dataset&gt;/&lt;scene&gt;/&lt;trajectory&gt;/</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data/chunk-000/</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episode_000000.parquet</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meta/</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episodes_stats.jsonl</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episodes.jsonl</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info.json</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tasks.jsonl</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videos/chunk-000/</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observation.images.rgb/  0.jpg …</a:t>
            </a:r>
            <a:endParaRPr sz="1050" b="0" i="0" u="none" strike="noStrike" cap="none">
              <a:solidFill>
                <a:schemeClr val="dk1"/>
              </a:solidFill>
              <a:latin typeface="Calibri"/>
              <a:ea typeface="Calibri"/>
              <a:cs typeface="Calibri"/>
              <a:sym typeface="Calibri"/>
            </a:endParaRPr>
          </a:p>
          <a:p>
            <a:pPr marL="0" marR="0" lvl="0" indent="0" algn="l" rtl="0">
              <a:lnSpc>
                <a:spcPct val="161904"/>
              </a:lnSpc>
              <a:spcBef>
                <a:spcPts val="0"/>
              </a:spcBef>
              <a:spcAft>
                <a:spcPts val="0"/>
              </a:spcAft>
              <a:buClr>
                <a:srgbClr val="AFD2D6"/>
              </a:buClr>
              <a:buSzPts val="1050"/>
              <a:buFont typeface="Courier New"/>
              <a:buNone/>
            </a:pPr>
            <a:r>
              <a:rPr lang="en-US" sz="1050" b="0" i="0" u="none" strike="noStrike" cap="none">
                <a:solidFill>
                  <a:srgbClr val="AFD2D6"/>
                </a:solidFill>
                <a:latin typeface="Courier New"/>
                <a:ea typeface="Courier New"/>
                <a:cs typeface="Courier New"/>
                <a:sym typeface="Courier New"/>
              </a:rPr>
              <a:t>      └── observation.images.depth/ 0.png …</a:t>
            </a:r>
            <a:endParaRPr sz="1050" b="0" i="0" u="none" strike="noStrike" cap="none">
              <a:solidFill>
                <a:schemeClr val="dk1"/>
              </a:solidFill>
              <a:latin typeface="Calibri"/>
              <a:ea typeface="Calibri"/>
              <a:cs typeface="Calibri"/>
              <a:sym typeface="Calibri"/>
            </a:endParaRPr>
          </a:p>
        </p:txBody>
      </p:sp>
      <p:sp>
        <p:nvSpPr>
          <p:cNvPr id="201" name="Google Shape;201;p10"/>
          <p:cNvSpPr/>
          <p:nvPr/>
        </p:nvSpPr>
        <p:spPr>
          <a:xfrm>
            <a:off x="5943600" y="1371600"/>
            <a:ext cx="5696712" cy="512064"/>
          </a:xfrm>
          <a:prstGeom prst="roundRect">
            <a:avLst>
              <a:gd name="adj" fmla="val 71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0"/>
          <p:cNvSpPr/>
          <p:nvPr/>
        </p:nvSpPr>
        <p:spPr>
          <a:xfrm>
            <a:off x="6108192" y="1371600"/>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RGB</a:t>
            </a:r>
            <a:endParaRPr sz="1050" b="0" i="0" u="none" strike="noStrike" cap="none">
              <a:solidFill>
                <a:schemeClr val="dk1"/>
              </a:solidFill>
              <a:latin typeface="Calibri"/>
              <a:ea typeface="Calibri"/>
              <a:cs typeface="Calibri"/>
              <a:sym typeface="Calibri"/>
            </a:endParaRPr>
          </a:p>
        </p:txBody>
      </p:sp>
      <p:sp>
        <p:nvSpPr>
          <p:cNvPr id="203" name="Google Shape;203;p10"/>
          <p:cNvSpPr/>
          <p:nvPr/>
        </p:nvSpPr>
        <p:spPr>
          <a:xfrm>
            <a:off x="7818120" y="1371600"/>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Ngữ nghĩa cảnh cho S2; visual context cho S1</a:t>
            </a:r>
            <a:endParaRPr sz="1000" b="0" i="0" u="none" strike="noStrike" cap="none">
              <a:solidFill>
                <a:schemeClr val="dk1"/>
              </a:solidFill>
              <a:latin typeface="Calibri"/>
              <a:ea typeface="Calibri"/>
              <a:cs typeface="Calibri"/>
              <a:sym typeface="Calibri"/>
            </a:endParaRPr>
          </a:p>
        </p:txBody>
      </p:sp>
      <p:sp>
        <p:nvSpPr>
          <p:cNvPr id="204" name="Google Shape;204;p10"/>
          <p:cNvSpPr/>
          <p:nvPr/>
        </p:nvSpPr>
        <p:spPr>
          <a:xfrm>
            <a:off x="5943600" y="1938528"/>
            <a:ext cx="5696712" cy="512064"/>
          </a:xfrm>
          <a:prstGeom prst="roundRect">
            <a:avLst>
              <a:gd name="adj" fmla="val 714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0"/>
          <p:cNvSpPr/>
          <p:nvPr/>
        </p:nvSpPr>
        <p:spPr>
          <a:xfrm>
            <a:off x="6108192" y="1938528"/>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Depth</a:t>
            </a:r>
            <a:endParaRPr sz="1050" b="0" i="0" u="none" strike="noStrike" cap="none">
              <a:solidFill>
                <a:schemeClr val="dk1"/>
              </a:solidFill>
              <a:latin typeface="Calibri"/>
              <a:ea typeface="Calibri"/>
              <a:cs typeface="Calibri"/>
              <a:sym typeface="Calibri"/>
            </a:endParaRPr>
          </a:p>
        </p:txBody>
      </p:sp>
      <p:sp>
        <p:nvSpPr>
          <p:cNvPr id="206" name="Google Shape;206;p10"/>
          <p:cNvSpPr/>
          <p:nvPr/>
        </p:nvSpPr>
        <p:spPr>
          <a:xfrm>
            <a:off x="7818120" y="1938528"/>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Hình học gần robot: chướng ngại, khoảng cách</a:t>
            </a:r>
            <a:endParaRPr sz="1000" b="0" i="0" u="none" strike="noStrike" cap="none">
              <a:solidFill>
                <a:schemeClr val="dk1"/>
              </a:solidFill>
              <a:latin typeface="Calibri"/>
              <a:ea typeface="Calibri"/>
              <a:cs typeface="Calibri"/>
              <a:sym typeface="Calibri"/>
            </a:endParaRPr>
          </a:p>
        </p:txBody>
      </p:sp>
      <p:sp>
        <p:nvSpPr>
          <p:cNvPr id="207" name="Google Shape;207;p10"/>
          <p:cNvSpPr/>
          <p:nvPr/>
        </p:nvSpPr>
        <p:spPr>
          <a:xfrm>
            <a:off x="5943600" y="2505456"/>
            <a:ext cx="5696712" cy="512064"/>
          </a:xfrm>
          <a:prstGeom prst="roundRect">
            <a:avLst>
              <a:gd name="adj" fmla="val 71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0"/>
          <p:cNvSpPr/>
          <p:nvPr/>
        </p:nvSpPr>
        <p:spPr>
          <a:xfrm>
            <a:off x="6108192" y="2505456"/>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Camera intrinsic</a:t>
            </a:r>
            <a:endParaRPr sz="1050" b="0" i="0" u="none" strike="noStrike" cap="none">
              <a:solidFill>
                <a:schemeClr val="dk1"/>
              </a:solidFill>
              <a:latin typeface="Calibri"/>
              <a:ea typeface="Calibri"/>
              <a:cs typeface="Calibri"/>
              <a:sym typeface="Calibri"/>
            </a:endParaRPr>
          </a:p>
        </p:txBody>
      </p:sp>
      <p:sp>
        <p:nvSpPr>
          <p:cNvPr id="209" name="Google Shape;209;p10"/>
          <p:cNvSpPr/>
          <p:nvPr/>
        </p:nvSpPr>
        <p:spPr>
          <a:xfrm>
            <a:off x="7818120" y="2505456"/>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Chiếu điểm 3D/camera thành pixel</a:t>
            </a:r>
            <a:endParaRPr sz="1000" b="0" i="0" u="none" strike="noStrike" cap="none">
              <a:solidFill>
                <a:schemeClr val="dk1"/>
              </a:solidFill>
              <a:latin typeface="Calibri"/>
              <a:ea typeface="Calibri"/>
              <a:cs typeface="Calibri"/>
              <a:sym typeface="Calibri"/>
            </a:endParaRPr>
          </a:p>
        </p:txBody>
      </p:sp>
      <p:sp>
        <p:nvSpPr>
          <p:cNvPr id="210" name="Google Shape;210;p10"/>
          <p:cNvSpPr/>
          <p:nvPr/>
        </p:nvSpPr>
        <p:spPr>
          <a:xfrm>
            <a:off x="5943600" y="3072384"/>
            <a:ext cx="5696712" cy="512064"/>
          </a:xfrm>
          <a:prstGeom prst="roundRect">
            <a:avLst>
              <a:gd name="adj" fmla="val 714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0"/>
          <p:cNvSpPr/>
          <p:nvPr/>
        </p:nvSpPr>
        <p:spPr>
          <a:xfrm>
            <a:off x="6108192" y="3072384"/>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Camera extrinsic</a:t>
            </a:r>
            <a:endParaRPr sz="1050" b="0" i="0" u="none" strike="noStrike" cap="none">
              <a:solidFill>
                <a:schemeClr val="dk1"/>
              </a:solidFill>
              <a:latin typeface="Calibri"/>
              <a:ea typeface="Calibri"/>
              <a:cs typeface="Calibri"/>
              <a:sym typeface="Calibri"/>
            </a:endParaRPr>
          </a:p>
        </p:txBody>
      </p:sp>
      <p:sp>
        <p:nvSpPr>
          <p:cNvPr id="212" name="Google Shape;212;p10"/>
          <p:cNvSpPr/>
          <p:nvPr/>
        </p:nvSpPr>
        <p:spPr>
          <a:xfrm>
            <a:off x="7818120" y="3072384"/>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Pose camera → đổi world sang local trajectory</a:t>
            </a:r>
            <a:endParaRPr sz="1000" b="0" i="0" u="none" strike="noStrike" cap="none">
              <a:solidFill>
                <a:schemeClr val="dk1"/>
              </a:solidFill>
              <a:latin typeface="Calibri"/>
              <a:ea typeface="Calibri"/>
              <a:cs typeface="Calibri"/>
              <a:sym typeface="Calibri"/>
            </a:endParaRPr>
          </a:p>
        </p:txBody>
      </p:sp>
      <p:sp>
        <p:nvSpPr>
          <p:cNvPr id="213" name="Google Shape;213;p10"/>
          <p:cNvSpPr/>
          <p:nvPr/>
        </p:nvSpPr>
        <p:spPr>
          <a:xfrm>
            <a:off x="5943600" y="3639312"/>
            <a:ext cx="5696712" cy="512064"/>
          </a:xfrm>
          <a:prstGeom prst="roundRect">
            <a:avLst>
              <a:gd name="adj" fmla="val 71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0"/>
          <p:cNvSpPr/>
          <p:nvPr/>
        </p:nvSpPr>
        <p:spPr>
          <a:xfrm>
            <a:off x="6108192" y="3639312"/>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action (Parquet)</a:t>
            </a:r>
            <a:endParaRPr sz="1050" b="0" i="0" u="none" strike="noStrike" cap="none">
              <a:solidFill>
                <a:schemeClr val="dk1"/>
              </a:solidFill>
              <a:latin typeface="Calibri"/>
              <a:ea typeface="Calibri"/>
              <a:cs typeface="Calibri"/>
              <a:sym typeface="Calibri"/>
            </a:endParaRPr>
          </a:p>
        </p:txBody>
      </p:sp>
      <p:sp>
        <p:nvSpPr>
          <p:cNvPr id="215" name="Google Shape;215;p10"/>
          <p:cNvSpPr/>
          <p:nvPr/>
        </p:nvSpPr>
        <p:spPr>
          <a:xfrm>
            <a:off x="7818120" y="3639312"/>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Ở vln_n1 là chuỗi transform 4×4, KHÔNG phải [v, w]</a:t>
            </a:r>
            <a:endParaRPr sz="1000" b="0" i="0" u="none" strike="noStrike" cap="none">
              <a:solidFill>
                <a:schemeClr val="dk1"/>
              </a:solidFill>
              <a:latin typeface="Calibri"/>
              <a:ea typeface="Calibri"/>
              <a:cs typeface="Calibri"/>
              <a:sym typeface="Calibri"/>
            </a:endParaRPr>
          </a:p>
        </p:txBody>
      </p:sp>
      <p:sp>
        <p:nvSpPr>
          <p:cNvPr id="216" name="Google Shape;216;p10"/>
          <p:cNvSpPr/>
          <p:nvPr/>
        </p:nvSpPr>
        <p:spPr>
          <a:xfrm>
            <a:off x="5943600" y="4206240"/>
            <a:ext cx="5696712" cy="512064"/>
          </a:xfrm>
          <a:prstGeom prst="roundRect">
            <a:avLst>
              <a:gd name="adj" fmla="val 714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6108192" y="4206240"/>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Task / instruction</a:t>
            </a:r>
            <a:endParaRPr sz="1050" b="0" i="0" u="none" strike="noStrike" cap="none">
              <a:solidFill>
                <a:schemeClr val="dk1"/>
              </a:solidFill>
              <a:latin typeface="Calibri"/>
              <a:ea typeface="Calibri"/>
              <a:cs typeface="Calibri"/>
              <a:sym typeface="Calibri"/>
            </a:endParaRPr>
          </a:p>
        </p:txBody>
      </p:sp>
      <p:sp>
        <p:nvSpPr>
          <p:cNvPr id="218" name="Google Shape;218;p10"/>
          <p:cNvSpPr/>
          <p:nvPr/>
        </p:nvSpPr>
        <p:spPr>
          <a:xfrm>
            <a:off x="7818120" y="4206240"/>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Input ngôn ngữ của System 2</a:t>
            </a:r>
            <a:endParaRPr sz="1000" b="0" i="0" u="none" strike="noStrike" cap="none">
              <a:solidFill>
                <a:schemeClr val="dk1"/>
              </a:solidFill>
              <a:latin typeface="Calibri"/>
              <a:ea typeface="Calibri"/>
              <a:cs typeface="Calibri"/>
              <a:sym typeface="Calibri"/>
            </a:endParaRPr>
          </a:p>
        </p:txBody>
      </p:sp>
      <p:sp>
        <p:nvSpPr>
          <p:cNvPr id="219" name="Google Shape;219;p10"/>
          <p:cNvSpPr/>
          <p:nvPr/>
        </p:nvSpPr>
        <p:spPr>
          <a:xfrm>
            <a:off x="5943600" y="4773168"/>
            <a:ext cx="5696712" cy="512064"/>
          </a:xfrm>
          <a:prstGeom prst="roundRect">
            <a:avLst>
              <a:gd name="adj" fmla="val 71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0"/>
          <p:cNvSpPr/>
          <p:nvPr/>
        </p:nvSpPr>
        <p:spPr>
          <a:xfrm>
            <a:off x="6108192" y="4773168"/>
            <a:ext cx="1645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Point cloud</a:t>
            </a:r>
            <a:endParaRPr sz="1050" b="0" i="0" u="none" strike="noStrike" cap="none">
              <a:solidFill>
                <a:schemeClr val="dk1"/>
              </a:solidFill>
              <a:latin typeface="Calibri"/>
              <a:ea typeface="Calibri"/>
              <a:cs typeface="Calibri"/>
              <a:sym typeface="Calibri"/>
            </a:endParaRPr>
          </a:p>
        </p:txBody>
      </p:sp>
      <p:sp>
        <p:nvSpPr>
          <p:cNvPr id="221" name="Google Shape;221;p10"/>
          <p:cNvSpPr/>
          <p:nvPr/>
        </p:nvSpPr>
        <p:spPr>
          <a:xfrm>
            <a:off x="7818120" y="4773168"/>
            <a:ext cx="3703320" cy="51206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1B2B31"/>
              </a:buClr>
              <a:buSzPts val="1000"/>
              <a:buFont typeface="Arial"/>
              <a:buNone/>
            </a:pPr>
            <a:r>
              <a:rPr lang="en-US" sz="1000" b="0" i="0" u="none" strike="noStrike" cap="none">
                <a:solidFill>
                  <a:srgbClr val="1B2B31"/>
                </a:solidFill>
                <a:latin typeface="Arial"/>
                <a:ea typeface="Arial"/>
                <a:cs typeface="Arial"/>
                <a:sym typeface="Arial"/>
              </a:rPr>
              <a:t>Chỉ dùng cho obstacle critic khi huấn luyện/đánh giá</a:t>
            </a:r>
            <a:endParaRPr sz="1000" b="0" i="0" u="none" strike="noStrike" cap="none">
              <a:solidFill>
                <a:schemeClr val="dk1"/>
              </a:solidFill>
              <a:latin typeface="Calibri"/>
              <a:ea typeface="Calibri"/>
              <a:cs typeface="Calibri"/>
              <a:sym typeface="Calibri"/>
            </a:endParaRPr>
          </a:p>
        </p:txBody>
      </p:sp>
      <p:sp>
        <p:nvSpPr>
          <p:cNvPr id="222" name="Google Shape;222;p10"/>
          <p:cNvSpPr/>
          <p:nvPr/>
        </p:nvSpPr>
        <p:spPr>
          <a:xfrm>
            <a:off x="548640" y="5349240"/>
            <a:ext cx="5029200" cy="960120"/>
          </a:xfrm>
          <a:prstGeom prst="roundRect">
            <a:avLst>
              <a:gd name="adj" fmla="val 5714"/>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0"/>
          <p:cNvSpPr/>
          <p:nvPr/>
        </p:nvSpPr>
        <p:spPr>
          <a:xfrm>
            <a:off x="804672" y="5349240"/>
            <a:ext cx="4526280" cy="9601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“Có RGB và depth” là chưa đủ. Để tạo point goal và trajectory label đúng, bắt buộc phải có camera geometry / pose.</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1"/>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DỮ LIỆU THẬT ĐÃ TẢI</a:t>
            </a:r>
            <a:endParaRPr sz="1050" b="0" i="0" u="none" strike="noStrike" cap="none">
              <a:solidFill>
                <a:schemeClr val="dk1"/>
              </a:solidFill>
              <a:latin typeface="Calibri"/>
              <a:ea typeface="Calibri"/>
              <a:cs typeface="Calibri"/>
              <a:sym typeface="Calibri"/>
            </a:endParaRPr>
          </a:p>
        </p:txBody>
      </p:sp>
      <p:sp>
        <p:nvSpPr>
          <p:cNvPr id="230" name="Google Shape;230;p11"/>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Sample InternData-N1: ba nhánh vln_ce / vln_n1 / vln_pe, định dạng khác nhau</a:t>
            </a:r>
            <a:endParaRPr sz="2500" b="0" i="0" u="none" strike="noStrike" cap="none">
              <a:solidFill>
                <a:schemeClr val="dk1"/>
              </a:solidFill>
              <a:latin typeface="Calibri"/>
              <a:ea typeface="Calibri"/>
              <a:cs typeface="Calibri"/>
              <a:sym typeface="Calibri"/>
            </a:endParaRPr>
          </a:p>
        </p:txBody>
      </p:sp>
      <p:sp>
        <p:nvSpPr>
          <p:cNvPr id="231" name="Google Shape;231;p11"/>
          <p:cNvSpPr/>
          <p:nvPr/>
        </p:nvSpPr>
        <p:spPr>
          <a:xfrm>
            <a:off x="548640" y="1371600"/>
            <a:ext cx="3456432" cy="2651760"/>
          </a:xfrm>
          <a:prstGeom prst="roundRect">
            <a:avLst>
              <a:gd name="adj" fmla="val 2069"/>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a:off x="804672" y="1600200"/>
            <a:ext cx="384048" cy="384048"/>
          </a:xfrm>
          <a:prstGeom prst="ellipse">
            <a:avLst/>
          </a:prstGeom>
          <a:solidFill>
            <a:srgbClr val="DD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804672" y="16002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1300"/>
              <a:buFont typeface="Arial"/>
              <a:buNone/>
            </a:pPr>
            <a:r>
              <a:rPr lang="en-US" sz="1300" b="1" i="0" u="none" strike="noStrike" cap="none">
                <a:solidFill>
                  <a:srgbClr val="5C6E73"/>
                </a:solidFill>
                <a:latin typeface="Arial"/>
                <a:ea typeface="Arial"/>
                <a:cs typeface="Arial"/>
                <a:sym typeface="Arial"/>
              </a:rPr>
              <a:t>✕</a:t>
            </a:r>
            <a:endParaRPr sz="1300" b="0" i="0" u="none" strike="noStrike" cap="none">
              <a:solidFill>
                <a:schemeClr val="dk1"/>
              </a:solidFill>
              <a:latin typeface="Calibri"/>
              <a:ea typeface="Calibri"/>
              <a:cs typeface="Calibri"/>
              <a:sym typeface="Calibri"/>
            </a:endParaRPr>
          </a:p>
        </p:txBody>
      </p:sp>
      <p:sp>
        <p:nvSpPr>
          <p:cNvPr id="234" name="Google Shape;234;p11"/>
          <p:cNvSpPr/>
          <p:nvPr/>
        </p:nvSpPr>
        <p:spPr>
          <a:xfrm>
            <a:off x="1325880" y="16459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500"/>
              <a:buFont typeface="Courier New"/>
              <a:buNone/>
            </a:pPr>
            <a:r>
              <a:rPr lang="en-US" sz="1500" b="1" i="0" u="none" strike="noStrike" cap="none">
                <a:solidFill>
                  <a:srgbClr val="1B2B31"/>
                </a:solidFill>
                <a:latin typeface="Courier New"/>
                <a:ea typeface="Courier New"/>
                <a:cs typeface="Courier New"/>
                <a:sym typeface="Courier New"/>
              </a:rPr>
              <a:t>vln_ce</a:t>
            </a:r>
            <a:endParaRPr sz="1500" b="0" i="0" u="none" strike="noStrike" cap="none">
              <a:solidFill>
                <a:schemeClr val="dk1"/>
              </a:solidFill>
              <a:latin typeface="Calibri"/>
              <a:ea typeface="Calibri"/>
              <a:cs typeface="Calibri"/>
              <a:sym typeface="Calibri"/>
            </a:endParaRPr>
          </a:p>
        </p:txBody>
      </p:sp>
      <p:sp>
        <p:nvSpPr>
          <p:cNvPr id="235" name="Google Shape;235;p11"/>
          <p:cNvSpPr/>
          <p:nvPr/>
        </p:nvSpPr>
        <p:spPr>
          <a:xfrm>
            <a:off x="822960" y="2148840"/>
            <a:ext cx="2926080" cy="91440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Có RGB, nhưng thiếu depth và cột camera-pose</a:t>
            </a:r>
            <a:endParaRPr sz="1150" b="0" i="0" u="none" strike="noStrike" cap="none">
              <a:solidFill>
                <a:schemeClr val="dk1"/>
              </a:solidFill>
              <a:latin typeface="Calibri"/>
              <a:ea typeface="Calibri"/>
              <a:cs typeface="Calibri"/>
              <a:sym typeface="Calibri"/>
            </a:endParaRPr>
          </a:p>
        </p:txBody>
      </p:sp>
      <p:cxnSp>
        <p:nvCxnSpPr>
          <p:cNvPr id="236" name="Google Shape;236;p11"/>
          <p:cNvCxnSpPr/>
          <p:nvPr/>
        </p:nvCxnSpPr>
        <p:spPr>
          <a:xfrm>
            <a:off x="822960" y="3200400"/>
            <a:ext cx="2907792" cy="0"/>
          </a:xfrm>
          <a:prstGeom prst="straightConnector1">
            <a:avLst/>
          </a:prstGeom>
          <a:noFill/>
          <a:ln w="9525" cap="flat" cmpd="sng">
            <a:solidFill>
              <a:srgbClr val="CFDEDF"/>
            </a:solidFill>
            <a:prstDash val="solid"/>
            <a:round/>
            <a:headEnd type="none" w="sm" len="sm"/>
            <a:tailEnd type="none" w="sm" len="sm"/>
          </a:ln>
        </p:spPr>
      </p:cxnSp>
      <p:sp>
        <p:nvSpPr>
          <p:cNvPr id="237" name="Google Shape;237;p11"/>
          <p:cNvSpPr/>
          <p:nvPr/>
        </p:nvSpPr>
        <p:spPr>
          <a:xfrm>
            <a:off x="822960" y="3310128"/>
            <a:ext cx="2926080" cy="548640"/>
          </a:xfrm>
          <a:prstGeom prst="rect">
            <a:avLst/>
          </a:prstGeom>
          <a:noFill/>
          <a:ln>
            <a:noFill/>
          </a:ln>
        </p:spPr>
        <p:txBody>
          <a:bodyPr spcFirstLastPara="1" wrap="square" lIns="0" tIns="0" rIns="0" bIns="0" anchor="ctr" anchorCtr="0">
            <a:noAutofit/>
          </a:bodyPr>
          <a:lstStyle/>
          <a:p>
            <a:pPr marL="0" marR="0" lvl="0" indent="0" algn="l" rtl="0">
              <a:lnSpc>
                <a:spcPct val="121739"/>
              </a:lnSpc>
              <a:spcBef>
                <a:spcPts val="0"/>
              </a:spcBef>
              <a:spcAft>
                <a:spcPts val="0"/>
              </a:spcAft>
              <a:buClr>
                <a:srgbClr val="5C6E73"/>
              </a:buClr>
              <a:buSzPts val="1150"/>
              <a:buFont typeface="Arial"/>
              <a:buNone/>
            </a:pPr>
            <a:r>
              <a:rPr lang="en-US" sz="1150" b="1" i="0" u="none" strike="noStrike" cap="none">
                <a:solidFill>
                  <a:srgbClr val="5C6E73"/>
                </a:solidFill>
                <a:latin typeface="Arial"/>
                <a:ea typeface="Arial"/>
                <a:cs typeface="Arial"/>
                <a:sym typeface="Arial"/>
              </a:rPr>
              <a:t>Không dùng được cho adapter S1</a:t>
            </a:r>
            <a:endParaRPr sz="1150" b="0" i="0" u="none" strike="noStrike" cap="none">
              <a:solidFill>
                <a:schemeClr val="dk1"/>
              </a:solidFill>
              <a:latin typeface="Calibri"/>
              <a:ea typeface="Calibri"/>
              <a:cs typeface="Calibri"/>
              <a:sym typeface="Calibri"/>
            </a:endParaRPr>
          </a:p>
        </p:txBody>
      </p:sp>
      <p:sp>
        <p:nvSpPr>
          <p:cNvPr id="238" name="Google Shape;238;p11"/>
          <p:cNvSpPr/>
          <p:nvPr/>
        </p:nvSpPr>
        <p:spPr>
          <a:xfrm>
            <a:off x="4370832" y="1371600"/>
            <a:ext cx="3456432" cy="2651760"/>
          </a:xfrm>
          <a:prstGeom prst="roundRect">
            <a:avLst>
              <a:gd name="adj" fmla="val 2069"/>
            </a:avLst>
          </a:prstGeom>
          <a:solidFill>
            <a:srgbClr val="EDF4F4"/>
          </a:solidFill>
          <a:ln w="203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a:off x="4626864" y="1600200"/>
            <a:ext cx="384048" cy="384048"/>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1"/>
          <p:cNvSpPr/>
          <p:nvPr/>
        </p:nvSpPr>
        <p:spPr>
          <a:xfrm>
            <a:off x="4626864" y="16002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a:t>
            </a:r>
            <a:endParaRPr sz="1300" b="0" i="0" u="none" strike="noStrike" cap="none">
              <a:solidFill>
                <a:schemeClr val="dk1"/>
              </a:solidFill>
              <a:latin typeface="Calibri"/>
              <a:ea typeface="Calibri"/>
              <a:cs typeface="Calibri"/>
              <a:sym typeface="Calibri"/>
            </a:endParaRPr>
          </a:p>
        </p:txBody>
      </p:sp>
      <p:sp>
        <p:nvSpPr>
          <p:cNvPr id="241" name="Google Shape;241;p11"/>
          <p:cNvSpPr/>
          <p:nvPr/>
        </p:nvSpPr>
        <p:spPr>
          <a:xfrm>
            <a:off x="5148072" y="16459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500"/>
              <a:buFont typeface="Courier New"/>
              <a:buNone/>
            </a:pPr>
            <a:r>
              <a:rPr lang="en-US" sz="1500" b="1" i="0" u="none" strike="noStrike" cap="none">
                <a:solidFill>
                  <a:srgbClr val="028090"/>
                </a:solidFill>
                <a:latin typeface="Courier New"/>
                <a:ea typeface="Courier New"/>
                <a:cs typeface="Courier New"/>
                <a:sym typeface="Courier New"/>
              </a:rPr>
              <a:t>vln_n1</a:t>
            </a:r>
            <a:endParaRPr sz="1500" b="0" i="0" u="none" strike="noStrike" cap="none">
              <a:solidFill>
                <a:schemeClr val="dk1"/>
              </a:solidFill>
              <a:latin typeface="Calibri"/>
              <a:ea typeface="Calibri"/>
              <a:cs typeface="Calibri"/>
              <a:sym typeface="Calibri"/>
            </a:endParaRPr>
          </a:p>
        </p:txBody>
      </p:sp>
      <p:sp>
        <p:nvSpPr>
          <p:cNvPr id="242" name="Google Shape;242;p11"/>
          <p:cNvSpPr/>
          <p:nvPr/>
        </p:nvSpPr>
        <p:spPr>
          <a:xfrm>
            <a:off x="4645152" y="2148840"/>
            <a:ext cx="2926080" cy="91440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122 RGB JPG · 122 depth PNG · intrinsic · extrinsic · action</a:t>
            </a:r>
            <a:endParaRPr sz="1150" b="0" i="0" u="none" strike="noStrike" cap="none">
              <a:solidFill>
                <a:schemeClr val="dk1"/>
              </a:solidFill>
              <a:latin typeface="Calibri"/>
              <a:ea typeface="Calibri"/>
              <a:cs typeface="Calibri"/>
              <a:sym typeface="Calibri"/>
            </a:endParaRPr>
          </a:p>
        </p:txBody>
      </p:sp>
      <p:cxnSp>
        <p:nvCxnSpPr>
          <p:cNvPr id="243" name="Google Shape;243;p11"/>
          <p:cNvCxnSpPr/>
          <p:nvPr/>
        </p:nvCxnSpPr>
        <p:spPr>
          <a:xfrm>
            <a:off x="4645152" y="3200400"/>
            <a:ext cx="2907792" cy="0"/>
          </a:xfrm>
          <a:prstGeom prst="straightConnector1">
            <a:avLst/>
          </a:prstGeom>
          <a:noFill/>
          <a:ln w="9525" cap="flat" cmpd="sng">
            <a:solidFill>
              <a:srgbClr val="CFDEDF"/>
            </a:solidFill>
            <a:prstDash val="solid"/>
            <a:round/>
            <a:headEnd type="none" w="sm" len="sm"/>
            <a:tailEnd type="none" w="sm" len="sm"/>
          </a:ln>
        </p:spPr>
      </p:cxnSp>
      <p:sp>
        <p:nvSpPr>
          <p:cNvPr id="244" name="Google Shape;244;p11"/>
          <p:cNvSpPr/>
          <p:nvPr/>
        </p:nvSpPr>
        <p:spPr>
          <a:xfrm>
            <a:off x="4645152" y="3310128"/>
            <a:ext cx="2926080" cy="548640"/>
          </a:xfrm>
          <a:prstGeom prst="rect">
            <a:avLst/>
          </a:prstGeom>
          <a:noFill/>
          <a:ln>
            <a:noFill/>
          </a:ln>
        </p:spPr>
        <p:txBody>
          <a:bodyPr spcFirstLastPara="1" wrap="square" lIns="0" tIns="0" rIns="0" bIns="0" anchor="ctr" anchorCtr="0">
            <a:noAutofit/>
          </a:bodyPr>
          <a:lstStyle/>
          <a:p>
            <a:pPr marL="0" marR="0" lvl="0" indent="0" algn="l" rtl="0">
              <a:lnSpc>
                <a:spcPct val="121739"/>
              </a:lnSpc>
              <a:spcBef>
                <a:spcPts val="0"/>
              </a:spcBef>
              <a:spcAft>
                <a:spcPts val="0"/>
              </a:spcAft>
              <a:buClr>
                <a:srgbClr val="00A896"/>
              </a:buClr>
              <a:buSzPts val="1150"/>
              <a:buFont typeface="Arial"/>
              <a:buNone/>
            </a:pPr>
            <a:r>
              <a:rPr lang="en-US" sz="1150" b="1" i="0" u="none" strike="noStrike" cap="none">
                <a:solidFill>
                  <a:srgbClr val="00A896"/>
                </a:solidFill>
                <a:latin typeface="Arial"/>
                <a:ea typeface="Arial"/>
                <a:cs typeface="Arial"/>
                <a:sym typeface="Arial"/>
              </a:rPr>
              <a:t>Sample phù hợp — đã chạy thật</a:t>
            </a:r>
            <a:endParaRPr sz="1150" b="0" i="0" u="none" strike="noStrike" cap="none">
              <a:solidFill>
                <a:schemeClr val="dk1"/>
              </a:solidFill>
              <a:latin typeface="Calibri"/>
              <a:ea typeface="Calibri"/>
              <a:cs typeface="Calibri"/>
              <a:sym typeface="Calibri"/>
            </a:endParaRPr>
          </a:p>
        </p:txBody>
      </p:sp>
      <p:sp>
        <p:nvSpPr>
          <p:cNvPr id="245" name="Google Shape;245;p11"/>
          <p:cNvSpPr/>
          <p:nvPr/>
        </p:nvSpPr>
        <p:spPr>
          <a:xfrm>
            <a:off x="8193024" y="1371600"/>
            <a:ext cx="3456432" cy="2651760"/>
          </a:xfrm>
          <a:prstGeom prst="roundRect">
            <a:avLst>
              <a:gd name="adj" fmla="val 2069"/>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a:off x="8449056" y="1600200"/>
            <a:ext cx="384048" cy="384048"/>
          </a:xfrm>
          <a:prstGeom prst="ellipse">
            <a:avLst/>
          </a:prstGeom>
          <a:solidFill>
            <a:srgbClr val="DDE6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a:off x="8449056" y="1600200"/>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1300"/>
              <a:buFont typeface="Arial"/>
              <a:buNone/>
            </a:pPr>
            <a:r>
              <a:rPr lang="en-US" sz="1300" b="1" i="0" u="none" strike="noStrike" cap="none">
                <a:solidFill>
                  <a:srgbClr val="5C6E73"/>
                </a:solidFill>
                <a:latin typeface="Arial"/>
                <a:ea typeface="Arial"/>
                <a:cs typeface="Arial"/>
                <a:sym typeface="Arial"/>
              </a:rPr>
              <a:t>✕</a:t>
            </a:r>
            <a:endParaRPr sz="1300" b="0" i="0" u="none" strike="noStrike" cap="none">
              <a:solidFill>
                <a:schemeClr val="dk1"/>
              </a:solidFill>
              <a:latin typeface="Calibri"/>
              <a:ea typeface="Calibri"/>
              <a:cs typeface="Calibri"/>
              <a:sym typeface="Calibri"/>
            </a:endParaRPr>
          </a:p>
        </p:txBody>
      </p:sp>
      <p:sp>
        <p:nvSpPr>
          <p:cNvPr id="248" name="Google Shape;248;p11"/>
          <p:cNvSpPr/>
          <p:nvPr/>
        </p:nvSpPr>
        <p:spPr>
          <a:xfrm>
            <a:off x="8970264" y="1645920"/>
            <a:ext cx="24688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500"/>
              <a:buFont typeface="Courier New"/>
              <a:buNone/>
            </a:pPr>
            <a:r>
              <a:rPr lang="en-US" sz="1500" b="1" i="0" u="none" strike="noStrike" cap="none">
                <a:solidFill>
                  <a:srgbClr val="1B2B31"/>
                </a:solidFill>
                <a:latin typeface="Courier New"/>
                <a:ea typeface="Courier New"/>
                <a:cs typeface="Courier New"/>
                <a:sym typeface="Courier New"/>
              </a:rPr>
              <a:t>vln_pe</a:t>
            </a:r>
            <a:endParaRPr sz="1500" b="0" i="0" u="none" strike="noStrike" cap="none">
              <a:solidFill>
                <a:schemeClr val="dk1"/>
              </a:solidFill>
              <a:latin typeface="Calibri"/>
              <a:ea typeface="Calibri"/>
              <a:cs typeface="Calibri"/>
              <a:sym typeface="Calibri"/>
            </a:endParaRPr>
          </a:p>
        </p:txBody>
      </p:sp>
      <p:sp>
        <p:nvSpPr>
          <p:cNvPr id="249" name="Google Shape;249;p11"/>
          <p:cNvSpPr/>
          <p:nvPr/>
        </p:nvSpPr>
        <p:spPr>
          <a:xfrm>
            <a:off x="8467344" y="2148840"/>
            <a:ext cx="2926080" cy="91440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RGB/depth trong .npy, nhưng parquet không lộ camera matrices</a:t>
            </a:r>
            <a:endParaRPr sz="1150" b="0" i="0" u="none" strike="noStrike" cap="none">
              <a:solidFill>
                <a:schemeClr val="dk1"/>
              </a:solidFill>
              <a:latin typeface="Calibri"/>
              <a:ea typeface="Calibri"/>
              <a:cs typeface="Calibri"/>
              <a:sym typeface="Calibri"/>
            </a:endParaRPr>
          </a:p>
        </p:txBody>
      </p:sp>
      <p:cxnSp>
        <p:nvCxnSpPr>
          <p:cNvPr id="250" name="Google Shape;250;p11"/>
          <p:cNvCxnSpPr/>
          <p:nvPr/>
        </p:nvCxnSpPr>
        <p:spPr>
          <a:xfrm>
            <a:off x="8467344" y="3200400"/>
            <a:ext cx="2907792" cy="0"/>
          </a:xfrm>
          <a:prstGeom prst="straightConnector1">
            <a:avLst/>
          </a:prstGeom>
          <a:noFill/>
          <a:ln w="9525" cap="flat" cmpd="sng">
            <a:solidFill>
              <a:srgbClr val="CFDEDF"/>
            </a:solidFill>
            <a:prstDash val="solid"/>
            <a:round/>
            <a:headEnd type="none" w="sm" len="sm"/>
            <a:tailEnd type="none" w="sm" len="sm"/>
          </a:ln>
        </p:spPr>
      </p:cxnSp>
      <p:sp>
        <p:nvSpPr>
          <p:cNvPr id="251" name="Google Shape;251;p11"/>
          <p:cNvSpPr/>
          <p:nvPr/>
        </p:nvSpPr>
        <p:spPr>
          <a:xfrm>
            <a:off x="8467344" y="3310128"/>
            <a:ext cx="2926080" cy="548640"/>
          </a:xfrm>
          <a:prstGeom prst="rect">
            <a:avLst/>
          </a:prstGeom>
          <a:noFill/>
          <a:ln>
            <a:noFill/>
          </a:ln>
        </p:spPr>
        <p:txBody>
          <a:bodyPr spcFirstLastPara="1" wrap="square" lIns="0" tIns="0" rIns="0" bIns="0" anchor="ctr" anchorCtr="0">
            <a:noAutofit/>
          </a:bodyPr>
          <a:lstStyle/>
          <a:p>
            <a:pPr marL="0" marR="0" lvl="0" indent="0" algn="l" rtl="0">
              <a:lnSpc>
                <a:spcPct val="121739"/>
              </a:lnSpc>
              <a:spcBef>
                <a:spcPts val="0"/>
              </a:spcBef>
              <a:spcAft>
                <a:spcPts val="0"/>
              </a:spcAft>
              <a:buClr>
                <a:srgbClr val="5C6E73"/>
              </a:buClr>
              <a:buSzPts val="1150"/>
              <a:buFont typeface="Arial"/>
              <a:buNone/>
            </a:pPr>
            <a:r>
              <a:rPr lang="en-US" sz="1150" b="1" i="0" u="none" strike="noStrike" cap="none">
                <a:solidFill>
                  <a:srgbClr val="5C6E73"/>
                </a:solidFill>
                <a:latin typeface="Arial"/>
                <a:ea typeface="Arial"/>
                <a:cs typeface="Arial"/>
                <a:sym typeface="Arial"/>
              </a:rPr>
              <a:t>Chưa dùng trực tiếp</a:t>
            </a:r>
            <a:endParaRPr sz="1150" b="0" i="0" u="none" strike="noStrike" cap="none">
              <a:solidFill>
                <a:schemeClr val="dk1"/>
              </a:solidFill>
              <a:latin typeface="Calibri"/>
              <a:ea typeface="Calibri"/>
              <a:cs typeface="Calibri"/>
              <a:sym typeface="Calibri"/>
            </a:endParaRPr>
          </a:p>
        </p:txBody>
      </p:sp>
      <p:sp>
        <p:nvSpPr>
          <p:cNvPr id="252" name="Google Shape;252;p11"/>
          <p:cNvSpPr/>
          <p:nvPr/>
        </p:nvSpPr>
        <p:spPr>
          <a:xfrm>
            <a:off x="548640" y="4279392"/>
            <a:ext cx="11091672" cy="1874520"/>
          </a:xfrm>
          <a:prstGeom prst="roundRect">
            <a:avLst>
              <a:gd name="adj" fmla="val 2927"/>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868680" y="4462272"/>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00"/>
              <a:buFont typeface="Arial"/>
              <a:buNone/>
            </a:pPr>
            <a:r>
              <a:rPr lang="en-US" sz="1400" b="1" i="0" u="none" strike="noStrike" cap="none">
                <a:solidFill>
                  <a:srgbClr val="1B2B31"/>
                </a:solidFill>
                <a:latin typeface="Arial"/>
                <a:ea typeface="Arial"/>
                <a:cs typeface="Arial"/>
                <a:sym typeface="Arial"/>
              </a:rPr>
              <a:t>Vì sao phải viết adapter riêng?</a:t>
            </a:r>
            <a:endParaRPr sz="1400" b="0" i="0" u="none" strike="noStrike" cap="none">
              <a:solidFill>
                <a:schemeClr val="dk1"/>
              </a:solidFill>
              <a:latin typeface="Calibri"/>
              <a:ea typeface="Calibri"/>
              <a:cs typeface="Calibri"/>
              <a:sym typeface="Calibri"/>
            </a:endParaRPr>
          </a:p>
        </p:txBody>
      </p:sp>
      <p:sp>
        <p:nvSpPr>
          <p:cNvPr id="254" name="Google Shape;254;p11"/>
          <p:cNvSpPr/>
          <p:nvPr/>
        </p:nvSpPr>
        <p:spPr>
          <a:xfrm>
            <a:off x="868680" y="4846320"/>
            <a:ext cx="10451592" cy="118872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Metadata preview dùng schema lồng dưới stats và thiếu meta/pointcloud.ply → không mở được bằng constructor directory-discovery của loader gốc.</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Adapter cung cấp compatibility view một episode: sắp tên frame theo số (2 trước 10), tái dùng nguyên các phép biến đổi image / depth / pose / point-goal / pixel-goal / action của upstream.</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Cấp obstacle set rỗng → kích hoạt neutral critic fallback sẵn có, không làm thay đổi tensor dùng cho inference.</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2"/>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PIPELINE OFFLINE</a:t>
            </a:r>
            <a:endParaRPr sz="1050" b="0" i="0" u="none" strike="noStrike" cap="none">
              <a:solidFill>
                <a:schemeClr val="dk1"/>
              </a:solidFill>
              <a:latin typeface="Calibri"/>
              <a:ea typeface="Calibri"/>
              <a:cs typeface="Calibri"/>
              <a:sym typeface="Calibri"/>
            </a:endParaRPr>
          </a:p>
        </p:txBody>
      </p:sp>
      <p:sp>
        <p:nvSpPr>
          <p:cNvPr id="261" name="Google Shape;261;p12"/>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Dataset được chuyển thành input NavDP như thế nào</a:t>
            </a:r>
            <a:endParaRPr sz="2500" b="0" i="0" u="none" strike="noStrike" cap="none">
              <a:solidFill>
                <a:schemeClr val="dk1"/>
              </a:solidFill>
              <a:latin typeface="Calibri"/>
              <a:ea typeface="Calibri"/>
              <a:cs typeface="Calibri"/>
              <a:sym typeface="Calibri"/>
            </a:endParaRPr>
          </a:p>
        </p:txBody>
      </p:sp>
      <p:sp>
        <p:nvSpPr>
          <p:cNvPr id="262" name="Google Shape;262;p12"/>
          <p:cNvSpPr/>
          <p:nvPr/>
        </p:nvSpPr>
        <p:spPr>
          <a:xfrm>
            <a:off x="548640" y="1417320"/>
            <a:ext cx="2286000" cy="603504"/>
          </a:xfrm>
          <a:prstGeom prst="roundRect">
            <a:avLst>
              <a:gd name="adj" fmla="val 7576"/>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2"/>
          <p:cNvSpPr/>
          <p:nvPr/>
        </p:nvSpPr>
        <p:spPr>
          <a:xfrm>
            <a:off x="603504" y="1417320"/>
            <a:ext cx="217627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RGB JPG + depth PNG</a:t>
            </a:r>
            <a:endParaRPr sz="1050" b="0" i="0" u="none" strike="noStrike" cap="none">
              <a:solidFill>
                <a:schemeClr val="dk1"/>
              </a:solidFill>
              <a:latin typeface="Calibri"/>
              <a:ea typeface="Calibri"/>
              <a:cs typeface="Calibri"/>
              <a:sym typeface="Calibri"/>
            </a:endParaRPr>
          </a:p>
        </p:txBody>
      </p:sp>
      <p:sp>
        <p:nvSpPr>
          <p:cNvPr id="264" name="Google Shape;264;p12"/>
          <p:cNvSpPr/>
          <p:nvPr/>
        </p:nvSpPr>
        <p:spPr>
          <a:xfrm>
            <a:off x="3200400" y="1417320"/>
            <a:ext cx="2651760" cy="603504"/>
          </a:xfrm>
          <a:prstGeom prst="roundRect">
            <a:avLst>
              <a:gd name="adj" fmla="val 7576"/>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2"/>
          <p:cNvSpPr/>
          <p:nvPr/>
        </p:nvSpPr>
        <p:spPr>
          <a:xfrm>
            <a:off x="3255264" y="1417320"/>
            <a:ext cx="254203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Parquet: intrinsic, extrinsic, action pose</a:t>
            </a:r>
            <a:endParaRPr sz="1000" b="0" i="0" u="none" strike="noStrike" cap="none">
              <a:solidFill>
                <a:schemeClr val="dk1"/>
              </a:solidFill>
              <a:latin typeface="Calibri"/>
              <a:ea typeface="Calibri"/>
              <a:cs typeface="Calibri"/>
              <a:sym typeface="Calibri"/>
            </a:endParaRPr>
          </a:p>
        </p:txBody>
      </p:sp>
      <p:cxnSp>
        <p:nvCxnSpPr>
          <p:cNvPr id="266" name="Google Shape;266;p12"/>
          <p:cNvCxnSpPr/>
          <p:nvPr/>
        </p:nvCxnSpPr>
        <p:spPr>
          <a:xfrm>
            <a:off x="1691640" y="2020824"/>
            <a:ext cx="0" cy="384048"/>
          </a:xfrm>
          <a:prstGeom prst="straightConnector1">
            <a:avLst/>
          </a:prstGeom>
          <a:noFill/>
          <a:ln w="15875" cap="flat" cmpd="sng">
            <a:solidFill>
              <a:srgbClr val="5C6E73"/>
            </a:solidFill>
            <a:prstDash val="solid"/>
            <a:round/>
            <a:headEnd type="none" w="sm" len="sm"/>
            <a:tailEnd type="triangle" w="med" len="med"/>
          </a:ln>
        </p:spPr>
      </p:cxnSp>
      <p:cxnSp>
        <p:nvCxnSpPr>
          <p:cNvPr id="267" name="Google Shape;267;p12"/>
          <p:cNvCxnSpPr/>
          <p:nvPr/>
        </p:nvCxnSpPr>
        <p:spPr>
          <a:xfrm>
            <a:off x="4526280" y="2020824"/>
            <a:ext cx="0" cy="384048"/>
          </a:xfrm>
          <a:prstGeom prst="straightConnector1">
            <a:avLst/>
          </a:prstGeom>
          <a:noFill/>
          <a:ln w="15875" cap="flat" cmpd="sng">
            <a:solidFill>
              <a:srgbClr val="5C6E73"/>
            </a:solidFill>
            <a:prstDash val="solid"/>
            <a:round/>
            <a:headEnd type="none" w="sm" len="sm"/>
            <a:tailEnd type="triangle" w="med" len="med"/>
          </a:ln>
        </p:spPr>
      </p:cxnSp>
      <p:sp>
        <p:nvSpPr>
          <p:cNvPr id="268" name="Google Shape;268;p12"/>
          <p:cNvSpPr/>
          <p:nvPr/>
        </p:nvSpPr>
        <p:spPr>
          <a:xfrm>
            <a:off x="548640" y="2404872"/>
            <a:ext cx="2286000" cy="548640"/>
          </a:xfrm>
          <a:prstGeom prst="roundRect">
            <a:avLst>
              <a:gd name="adj" fmla="val 8333"/>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2"/>
          <p:cNvSpPr/>
          <p:nvPr/>
        </p:nvSpPr>
        <p:spPr>
          <a:xfrm>
            <a:off x="603504" y="2404872"/>
            <a:ext cx="217627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Sort frame theo số</a:t>
            </a:r>
            <a:endParaRPr sz="1050" b="0" i="0" u="none" strike="noStrike" cap="none">
              <a:solidFill>
                <a:schemeClr val="dk1"/>
              </a:solidFill>
              <a:latin typeface="Calibri"/>
              <a:ea typeface="Calibri"/>
              <a:cs typeface="Calibri"/>
              <a:sym typeface="Calibri"/>
            </a:endParaRPr>
          </a:p>
        </p:txBody>
      </p:sp>
      <p:sp>
        <p:nvSpPr>
          <p:cNvPr id="270" name="Google Shape;270;p12"/>
          <p:cNvSpPr/>
          <p:nvPr/>
        </p:nvSpPr>
        <p:spPr>
          <a:xfrm>
            <a:off x="3200400" y="2404872"/>
            <a:ext cx="2651760" cy="548640"/>
          </a:xfrm>
          <a:prstGeom prst="roundRect">
            <a:avLst>
              <a:gd name="adj" fmla="val 8333"/>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2"/>
          <p:cNvSpPr/>
          <p:nvPr/>
        </p:nvSpPr>
        <p:spPr>
          <a:xfrm>
            <a:off x="3255264" y="2404872"/>
            <a:ext cx="254203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Chọn start + future target</a:t>
            </a:r>
            <a:endParaRPr sz="1050" b="0" i="0" u="none" strike="noStrike" cap="none">
              <a:solidFill>
                <a:schemeClr val="dk1"/>
              </a:solidFill>
              <a:latin typeface="Calibri"/>
              <a:ea typeface="Calibri"/>
              <a:cs typeface="Calibri"/>
              <a:sym typeface="Calibri"/>
            </a:endParaRPr>
          </a:p>
        </p:txBody>
      </p:sp>
      <p:cxnSp>
        <p:nvCxnSpPr>
          <p:cNvPr id="272" name="Google Shape;272;p12"/>
          <p:cNvCxnSpPr/>
          <p:nvPr/>
        </p:nvCxnSpPr>
        <p:spPr>
          <a:xfrm>
            <a:off x="1691640" y="2953512"/>
            <a:ext cx="0" cy="274320"/>
          </a:xfrm>
          <a:prstGeom prst="straightConnector1">
            <a:avLst/>
          </a:prstGeom>
          <a:noFill/>
          <a:ln w="15875" cap="flat" cmpd="sng">
            <a:solidFill>
              <a:srgbClr val="5C6E73"/>
            </a:solidFill>
            <a:prstDash val="solid"/>
            <a:round/>
            <a:headEnd type="none" w="sm" len="sm"/>
            <a:tailEnd type="none" w="sm" len="sm"/>
          </a:ln>
        </p:spPr>
      </p:cxnSp>
      <p:cxnSp>
        <p:nvCxnSpPr>
          <p:cNvPr id="273" name="Google Shape;273;p12"/>
          <p:cNvCxnSpPr/>
          <p:nvPr/>
        </p:nvCxnSpPr>
        <p:spPr>
          <a:xfrm>
            <a:off x="914400" y="3227832"/>
            <a:ext cx="1600200" cy="0"/>
          </a:xfrm>
          <a:prstGeom prst="straightConnector1">
            <a:avLst/>
          </a:prstGeom>
          <a:noFill/>
          <a:ln w="15875" cap="flat" cmpd="sng">
            <a:solidFill>
              <a:srgbClr val="5C6E73"/>
            </a:solidFill>
            <a:prstDash val="solid"/>
            <a:round/>
            <a:headEnd type="none" w="sm" len="sm"/>
            <a:tailEnd type="none" w="sm" len="sm"/>
          </a:ln>
        </p:spPr>
      </p:cxnSp>
      <p:cxnSp>
        <p:nvCxnSpPr>
          <p:cNvPr id="274" name="Google Shape;274;p12"/>
          <p:cNvCxnSpPr/>
          <p:nvPr/>
        </p:nvCxnSpPr>
        <p:spPr>
          <a:xfrm>
            <a:off x="914400" y="3227832"/>
            <a:ext cx="0" cy="320040"/>
          </a:xfrm>
          <a:prstGeom prst="straightConnector1">
            <a:avLst/>
          </a:prstGeom>
          <a:noFill/>
          <a:ln w="15875" cap="flat" cmpd="sng">
            <a:solidFill>
              <a:srgbClr val="5C6E73"/>
            </a:solidFill>
            <a:prstDash val="solid"/>
            <a:round/>
            <a:headEnd type="none" w="sm" len="sm"/>
            <a:tailEnd type="triangle" w="med" len="med"/>
          </a:ln>
        </p:spPr>
      </p:cxnSp>
      <p:cxnSp>
        <p:nvCxnSpPr>
          <p:cNvPr id="275" name="Google Shape;275;p12"/>
          <p:cNvCxnSpPr/>
          <p:nvPr/>
        </p:nvCxnSpPr>
        <p:spPr>
          <a:xfrm>
            <a:off x="2514600" y="3227832"/>
            <a:ext cx="0" cy="320040"/>
          </a:xfrm>
          <a:prstGeom prst="straightConnector1">
            <a:avLst/>
          </a:prstGeom>
          <a:noFill/>
          <a:ln w="15875" cap="flat" cmpd="sng">
            <a:solidFill>
              <a:srgbClr val="5C6E73"/>
            </a:solidFill>
            <a:prstDash val="solid"/>
            <a:round/>
            <a:headEnd type="none" w="sm" len="sm"/>
            <a:tailEnd type="triangle" w="med" len="med"/>
          </a:ln>
        </p:spPr>
      </p:cxnSp>
      <p:sp>
        <p:nvSpPr>
          <p:cNvPr id="276" name="Google Shape;276;p12"/>
          <p:cNvSpPr/>
          <p:nvPr/>
        </p:nvSpPr>
        <p:spPr>
          <a:xfrm>
            <a:off x="548640" y="3547872"/>
            <a:ext cx="128016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2"/>
          <p:cNvSpPr/>
          <p:nvPr/>
        </p:nvSpPr>
        <p:spPr>
          <a:xfrm>
            <a:off x="603504" y="3547872"/>
            <a:ext cx="117043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8 RGB memory</a:t>
            </a:r>
            <a:endParaRPr sz="1000" b="0" i="0" u="none" strike="noStrike" cap="none">
              <a:solidFill>
                <a:schemeClr val="dk1"/>
              </a:solidFill>
              <a:latin typeface="Calibri"/>
              <a:ea typeface="Calibri"/>
              <a:cs typeface="Calibri"/>
              <a:sym typeface="Calibri"/>
            </a:endParaRPr>
          </a:p>
        </p:txBody>
      </p:sp>
      <p:sp>
        <p:nvSpPr>
          <p:cNvPr id="278" name="Google Shape;278;p12"/>
          <p:cNvSpPr/>
          <p:nvPr/>
        </p:nvSpPr>
        <p:spPr>
          <a:xfrm>
            <a:off x="1965960" y="3547872"/>
            <a:ext cx="132588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2"/>
          <p:cNvSpPr/>
          <p:nvPr/>
        </p:nvSpPr>
        <p:spPr>
          <a:xfrm>
            <a:off x="2020824" y="3547872"/>
            <a:ext cx="121615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1 depth hiện tại</a:t>
            </a:r>
            <a:endParaRPr sz="1000" b="0" i="0" u="none" strike="noStrike" cap="none">
              <a:solidFill>
                <a:schemeClr val="dk1"/>
              </a:solidFill>
              <a:latin typeface="Calibri"/>
              <a:ea typeface="Calibri"/>
              <a:cs typeface="Calibri"/>
              <a:sym typeface="Calibri"/>
            </a:endParaRPr>
          </a:p>
        </p:txBody>
      </p:sp>
      <p:cxnSp>
        <p:nvCxnSpPr>
          <p:cNvPr id="280" name="Google Shape;280;p12"/>
          <p:cNvCxnSpPr/>
          <p:nvPr/>
        </p:nvCxnSpPr>
        <p:spPr>
          <a:xfrm>
            <a:off x="4526280" y="2953512"/>
            <a:ext cx="0" cy="594360"/>
          </a:xfrm>
          <a:prstGeom prst="straightConnector1">
            <a:avLst/>
          </a:prstGeom>
          <a:noFill/>
          <a:ln w="15875" cap="flat" cmpd="sng">
            <a:solidFill>
              <a:srgbClr val="028090"/>
            </a:solidFill>
            <a:prstDash val="solid"/>
            <a:round/>
            <a:headEnd type="none" w="sm" len="sm"/>
            <a:tailEnd type="triangle" w="med" len="med"/>
          </a:ln>
        </p:spPr>
      </p:cxnSp>
      <p:sp>
        <p:nvSpPr>
          <p:cNvPr id="281" name="Google Shape;281;p12"/>
          <p:cNvSpPr/>
          <p:nvPr/>
        </p:nvSpPr>
        <p:spPr>
          <a:xfrm>
            <a:off x="3383280" y="3547872"/>
            <a:ext cx="237744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2"/>
          <p:cNvSpPr/>
          <p:nvPr/>
        </p:nvSpPr>
        <p:spPr>
          <a:xfrm>
            <a:off x="3438144" y="3547872"/>
            <a:ext cx="226771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World pose → local XYZ → (x, y, theta)</a:t>
            </a:r>
            <a:endParaRPr sz="1000" b="0" i="0" u="none" strike="noStrike" cap="none">
              <a:solidFill>
                <a:schemeClr val="dk1"/>
              </a:solidFill>
              <a:latin typeface="Calibri"/>
              <a:ea typeface="Calibri"/>
              <a:cs typeface="Calibri"/>
              <a:sym typeface="Calibri"/>
            </a:endParaRPr>
          </a:p>
        </p:txBody>
      </p:sp>
      <p:cxnSp>
        <p:nvCxnSpPr>
          <p:cNvPr id="283" name="Google Shape;283;p12"/>
          <p:cNvCxnSpPr/>
          <p:nvPr/>
        </p:nvCxnSpPr>
        <p:spPr>
          <a:xfrm>
            <a:off x="1188720" y="4114800"/>
            <a:ext cx="0" cy="347472"/>
          </a:xfrm>
          <a:prstGeom prst="straightConnector1">
            <a:avLst/>
          </a:prstGeom>
          <a:noFill/>
          <a:ln w="15875" cap="flat" cmpd="sng">
            <a:solidFill>
              <a:srgbClr val="5C6E73"/>
            </a:solidFill>
            <a:prstDash val="solid"/>
            <a:round/>
            <a:headEnd type="none" w="sm" len="sm"/>
            <a:tailEnd type="triangle" w="med" len="med"/>
          </a:ln>
        </p:spPr>
      </p:cxnSp>
      <p:cxnSp>
        <p:nvCxnSpPr>
          <p:cNvPr id="284" name="Google Shape;284;p12"/>
          <p:cNvCxnSpPr/>
          <p:nvPr/>
        </p:nvCxnSpPr>
        <p:spPr>
          <a:xfrm>
            <a:off x="2633472" y="4114800"/>
            <a:ext cx="0" cy="347472"/>
          </a:xfrm>
          <a:prstGeom prst="straightConnector1">
            <a:avLst/>
          </a:prstGeom>
          <a:noFill/>
          <a:ln w="15875" cap="flat" cmpd="sng">
            <a:solidFill>
              <a:srgbClr val="5C6E73"/>
            </a:solidFill>
            <a:prstDash val="solid"/>
            <a:round/>
            <a:headEnd type="none" w="sm" len="sm"/>
            <a:tailEnd type="triangle" w="med" len="med"/>
          </a:ln>
        </p:spPr>
      </p:cxnSp>
      <p:sp>
        <p:nvSpPr>
          <p:cNvPr id="285" name="Google Shape;285;p12"/>
          <p:cNvSpPr/>
          <p:nvPr/>
        </p:nvSpPr>
        <p:spPr>
          <a:xfrm>
            <a:off x="548640" y="4462272"/>
            <a:ext cx="1280160" cy="685800"/>
          </a:xfrm>
          <a:prstGeom prst="roundRect">
            <a:avLst>
              <a:gd name="adj" fmla="val 6667"/>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2"/>
          <p:cNvSpPr/>
          <p:nvPr/>
        </p:nvSpPr>
        <p:spPr>
          <a:xfrm>
            <a:off x="603504" y="4521708"/>
            <a:ext cx="117043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950"/>
              <a:buFont typeface="Arial"/>
              <a:buNone/>
            </a:pPr>
            <a:r>
              <a:rPr lang="en-US" sz="950" b="1" i="0" u="none" strike="noStrike" cap="none">
                <a:solidFill>
                  <a:srgbClr val="1B2B31"/>
                </a:solidFill>
                <a:latin typeface="Arial"/>
                <a:ea typeface="Arial"/>
                <a:cs typeface="Arial"/>
                <a:sym typeface="Arial"/>
              </a:rPr>
              <a:t>float32 [0,1]</a:t>
            </a:r>
            <a:endParaRPr sz="950" b="0" i="0" u="none" strike="noStrike" cap="none">
              <a:solidFill>
                <a:schemeClr val="dk1"/>
              </a:solidFill>
              <a:latin typeface="Calibri"/>
              <a:ea typeface="Calibri"/>
              <a:cs typeface="Calibri"/>
              <a:sym typeface="Calibri"/>
            </a:endParaRPr>
          </a:p>
        </p:txBody>
      </p:sp>
      <p:sp>
        <p:nvSpPr>
          <p:cNvPr id="287" name="Google Shape;287;p12"/>
          <p:cNvSpPr/>
          <p:nvPr/>
        </p:nvSpPr>
        <p:spPr>
          <a:xfrm>
            <a:off x="603504" y="4796028"/>
            <a:ext cx="117043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850"/>
              <a:buFont typeface="Courier New"/>
              <a:buNone/>
            </a:pPr>
            <a:r>
              <a:rPr lang="en-US" sz="850" b="0" i="0" u="none" strike="noStrike" cap="none">
                <a:solidFill>
                  <a:srgbClr val="5C6E73"/>
                </a:solidFill>
                <a:latin typeface="Courier New"/>
                <a:ea typeface="Courier New"/>
                <a:cs typeface="Courier New"/>
                <a:sym typeface="Courier New"/>
              </a:rPr>
              <a:t>8×224×224×3</a:t>
            </a:r>
            <a:endParaRPr sz="850" b="0" i="0" u="none" strike="noStrike" cap="none">
              <a:solidFill>
                <a:schemeClr val="dk1"/>
              </a:solidFill>
              <a:latin typeface="Calibri"/>
              <a:ea typeface="Calibri"/>
              <a:cs typeface="Calibri"/>
              <a:sym typeface="Calibri"/>
            </a:endParaRPr>
          </a:p>
        </p:txBody>
      </p:sp>
      <p:sp>
        <p:nvSpPr>
          <p:cNvPr id="288" name="Google Shape;288;p12"/>
          <p:cNvSpPr/>
          <p:nvPr/>
        </p:nvSpPr>
        <p:spPr>
          <a:xfrm>
            <a:off x="1965960" y="4462272"/>
            <a:ext cx="1325880" cy="685800"/>
          </a:xfrm>
          <a:prstGeom prst="roundRect">
            <a:avLst>
              <a:gd name="adj" fmla="val 6667"/>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2"/>
          <p:cNvSpPr/>
          <p:nvPr/>
        </p:nvSpPr>
        <p:spPr>
          <a:xfrm>
            <a:off x="2020824" y="4521708"/>
            <a:ext cx="121615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950"/>
              <a:buFont typeface="Arial"/>
              <a:buNone/>
            </a:pPr>
            <a:r>
              <a:rPr lang="en-US" sz="950" b="1" i="0" u="none" strike="noStrike" cap="none">
                <a:solidFill>
                  <a:srgbClr val="1B2B31"/>
                </a:solidFill>
                <a:latin typeface="Arial"/>
                <a:ea typeface="Arial"/>
                <a:cs typeface="Arial"/>
                <a:sym typeface="Arial"/>
              </a:rPr>
              <a:t>/10000 → mét</a:t>
            </a:r>
            <a:endParaRPr sz="950" b="0" i="0" u="none" strike="noStrike" cap="none">
              <a:solidFill>
                <a:schemeClr val="dk1"/>
              </a:solidFill>
              <a:latin typeface="Calibri"/>
              <a:ea typeface="Calibri"/>
              <a:cs typeface="Calibri"/>
              <a:sym typeface="Calibri"/>
            </a:endParaRPr>
          </a:p>
        </p:txBody>
      </p:sp>
      <p:sp>
        <p:nvSpPr>
          <p:cNvPr id="290" name="Google Shape;290;p12"/>
          <p:cNvSpPr/>
          <p:nvPr/>
        </p:nvSpPr>
        <p:spPr>
          <a:xfrm>
            <a:off x="2020824" y="4796028"/>
            <a:ext cx="121615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850"/>
              <a:buFont typeface="Courier New"/>
              <a:buNone/>
            </a:pPr>
            <a:r>
              <a:rPr lang="en-US" sz="850" b="0" i="0" u="none" strike="noStrike" cap="none">
                <a:solidFill>
                  <a:srgbClr val="5C6E73"/>
                </a:solidFill>
                <a:latin typeface="Courier New"/>
                <a:ea typeface="Courier New"/>
                <a:cs typeface="Courier New"/>
                <a:sym typeface="Courier New"/>
              </a:rPr>
              <a:t>224×224×1</a:t>
            </a:r>
            <a:endParaRPr sz="850" b="0" i="0" u="none" strike="noStrike" cap="none">
              <a:solidFill>
                <a:schemeClr val="dk1"/>
              </a:solidFill>
              <a:latin typeface="Calibri"/>
              <a:ea typeface="Calibri"/>
              <a:cs typeface="Calibri"/>
              <a:sym typeface="Calibri"/>
            </a:endParaRPr>
          </a:p>
        </p:txBody>
      </p:sp>
      <p:cxnSp>
        <p:nvCxnSpPr>
          <p:cNvPr id="291" name="Google Shape;291;p12"/>
          <p:cNvCxnSpPr/>
          <p:nvPr/>
        </p:nvCxnSpPr>
        <p:spPr>
          <a:xfrm>
            <a:off x="4069080" y="4114800"/>
            <a:ext cx="0" cy="347472"/>
          </a:xfrm>
          <a:prstGeom prst="straightConnector1">
            <a:avLst/>
          </a:prstGeom>
          <a:noFill/>
          <a:ln w="15875" cap="flat" cmpd="sng">
            <a:solidFill>
              <a:srgbClr val="5C6E73"/>
            </a:solidFill>
            <a:prstDash val="solid"/>
            <a:round/>
            <a:headEnd type="none" w="sm" len="sm"/>
            <a:tailEnd type="triangle" w="med" len="med"/>
          </a:ln>
        </p:spPr>
      </p:cxnSp>
      <p:cxnSp>
        <p:nvCxnSpPr>
          <p:cNvPr id="292" name="Google Shape;292;p12"/>
          <p:cNvCxnSpPr/>
          <p:nvPr/>
        </p:nvCxnSpPr>
        <p:spPr>
          <a:xfrm>
            <a:off x="5532120" y="4114800"/>
            <a:ext cx="0" cy="347472"/>
          </a:xfrm>
          <a:prstGeom prst="straightConnector1">
            <a:avLst/>
          </a:prstGeom>
          <a:noFill/>
          <a:ln w="15875" cap="flat" cmpd="sng">
            <a:solidFill>
              <a:srgbClr val="5C6E73"/>
            </a:solidFill>
            <a:prstDash val="solid"/>
            <a:round/>
            <a:headEnd type="none" w="sm" len="sm"/>
            <a:tailEnd type="triangle" w="med" len="med"/>
          </a:ln>
        </p:spPr>
      </p:cxnSp>
      <p:sp>
        <p:nvSpPr>
          <p:cNvPr id="293" name="Google Shape;293;p12"/>
          <p:cNvSpPr/>
          <p:nvPr/>
        </p:nvSpPr>
        <p:spPr>
          <a:xfrm>
            <a:off x="3383280" y="4462272"/>
            <a:ext cx="1371600" cy="685800"/>
          </a:xfrm>
          <a:prstGeom prst="roundRect">
            <a:avLst>
              <a:gd name="adj" fmla="val 6667"/>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2"/>
          <p:cNvSpPr/>
          <p:nvPr/>
        </p:nvSpPr>
        <p:spPr>
          <a:xfrm>
            <a:off x="3438144" y="4521708"/>
            <a:ext cx="12618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950"/>
              <a:buFont typeface="Arial"/>
              <a:buNone/>
            </a:pPr>
            <a:r>
              <a:rPr lang="en-US" sz="950" b="1" i="0" u="none" strike="noStrike" cap="none">
                <a:solidFill>
                  <a:srgbClr val="1B2B31"/>
                </a:solidFill>
                <a:latin typeface="Arial"/>
                <a:ea typeface="Arial"/>
                <a:cs typeface="Arial"/>
                <a:sym typeface="Arial"/>
              </a:rPr>
              <a:t>goal_point</a:t>
            </a:r>
            <a:endParaRPr sz="950" b="0" i="0" u="none" strike="noStrike" cap="none">
              <a:solidFill>
                <a:schemeClr val="dk1"/>
              </a:solidFill>
              <a:latin typeface="Calibri"/>
              <a:ea typeface="Calibri"/>
              <a:cs typeface="Calibri"/>
              <a:sym typeface="Calibri"/>
            </a:endParaRPr>
          </a:p>
        </p:txBody>
      </p:sp>
      <p:sp>
        <p:nvSpPr>
          <p:cNvPr id="295" name="Google Shape;295;p12"/>
          <p:cNvSpPr/>
          <p:nvPr/>
        </p:nvSpPr>
        <p:spPr>
          <a:xfrm>
            <a:off x="3438144" y="4796028"/>
            <a:ext cx="12618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850"/>
              <a:buFont typeface="Courier New"/>
              <a:buNone/>
            </a:pPr>
            <a:r>
              <a:rPr lang="en-US" sz="850" b="0" i="0" u="none" strike="noStrike" cap="none">
                <a:solidFill>
                  <a:srgbClr val="5C6E73"/>
                </a:solidFill>
                <a:latin typeface="Courier New"/>
                <a:ea typeface="Courier New"/>
                <a:cs typeface="Courier New"/>
                <a:sym typeface="Courier New"/>
              </a:rPr>
              <a:t>float32 [3]</a:t>
            </a:r>
            <a:endParaRPr sz="850" b="0" i="0" u="none" strike="noStrike" cap="none">
              <a:solidFill>
                <a:schemeClr val="dk1"/>
              </a:solidFill>
              <a:latin typeface="Calibri"/>
              <a:ea typeface="Calibri"/>
              <a:cs typeface="Calibri"/>
              <a:sym typeface="Calibri"/>
            </a:endParaRPr>
          </a:p>
        </p:txBody>
      </p:sp>
      <p:sp>
        <p:nvSpPr>
          <p:cNvPr id="296" name="Google Shape;296;p12"/>
          <p:cNvSpPr/>
          <p:nvPr/>
        </p:nvSpPr>
        <p:spPr>
          <a:xfrm>
            <a:off x="4846320" y="4462272"/>
            <a:ext cx="1463040" cy="685800"/>
          </a:xfrm>
          <a:prstGeom prst="roundRect">
            <a:avLst>
              <a:gd name="adj" fmla="val 6667"/>
            </a:avLst>
          </a:prstGeom>
          <a:solidFill>
            <a:srgbClr val="FFFFFF"/>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2"/>
          <p:cNvSpPr/>
          <p:nvPr/>
        </p:nvSpPr>
        <p:spPr>
          <a:xfrm>
            <a:off x="4901184" y="4521708"/>
            <a:ext cx="13533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950"/>
              <a:buFont typeface="Arial"/>
              <a:buNone/>
            </a:pPr>
            <a:r>
              <a:rPr lang="en-US" sz="950" b="1" i="0" u="none" strike="noStrike" cap="none">
                <a:solidFill>
                  <a:srgbClr val="1B2B31"/>
                </a:solidFill>
                <a:latin typeface="Arial"/>
                <a:ea typeface="Arial"/>
                <a:cs typeface="Arial"/>
                <a:sym typeface="Arial"/>
              </a:rPr>
              <a:t>delta traj × 4</a:t>
            </a:r>
            <a:endParaRPr sz="950" b="0" i="0" u="none" strike="noStrike" cap="none">
              <a:solidFill>
                <a:schemeClr val="dk1"/>
              </a:solidFill>
              <a:latin typeface="Calibri"/>
              <a:ea typeface="Calibri"/>
              <a:cs typeface="Calibri"/>
              <a:sym typeface="Calibri"/>
            </a:endParaRPr>
          </a:p>
        </p:txBody>
      </p:sp>
      <p:sp>
        <p:nvSpPr>
          <p:cNvPr id="298" name="Google Shape;298;p12"/>
          <p:cNvSpPr/>
          <p:nvPr/>
        </p:nvSpPr>
        <p:spPr>
          <a:xfrm>
            <a:off x="4901184" y="4796028"/>
            <a:ext cx="13533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850"/>
              <a:buFont typeface="Arial"/>
              <a:buNone/>
            </a:pPr>
            <a:r>
              <a:rPr lang="en-US" sz="850" b="0" i="0" u="none" strike="noStrike" cap="none">
                <a:solidFill>
                  <a:srgbClr val="5C6E73"/>
                </a:solidFill>
                <a:latin typeface="Arial"/>
                <a:ea typeface="Arial"/>
                <a:cs typeface="Arial"/>
                <a:sym typeface="Arial"/>
              </a:rPr>
              <a:t>chỉ dùng khi train</a:t>
            </a:r>
            <a:endParaRPr sz="850" b="0" i="0" u="none" strike="noStrike" cap="none">
              <a:solidFill>
                <a:schemeClr val="dk1"/>
              </a:solidFill>
              <a:latin typeface="Calibri"/>
              <a:ea typeface="Calibri"/>
              <a:cs typeface="Calibri"/>
              <a:sym typeface="Calibri"/>
            </a:endParaRPr>
          </a:p>
        </p:txBody>
      </p:sp>
      <p:cxnSp>
        <p:nvCxnSpPr>
          <p:cNvPr id="299" name="Google Shape;299;p12"/>
          <p:cNvCxnSpPr/>
          <p:nvPr/>
        </p:nvCxnSpPr>
        <p:spPr>
          <a:xfrm>
            <a:off x="1188720" y="5148072"/>
            <a:ext cx="0" cy="329184"/>
          </a:xfrm>
          <a:prstGeom prst="straightConnector1">
            <a:avLst/>
          </a:prstGeom>
          <a:noFill/>
          <a:ln w="14600" cap="flat" cmpd="sng">
            <a:solidFill>
              <a:srgbClr val="D98324"/>
            </a:solidFill>
            <a:prstDash val="solid"/>
            <a:round/>
            <a:headEnd type="none" w="sm" len="sm"/>
            <a:tailEnd type="none" w="sm" len="sm"/>
          </a:ln>
        </p:spPr>
      </p:cxnSp>
      <p:cxnSp>
        <p:nvCxnSpPr>
          <p:cNvPr id="300" name="Google Shape;300;p12"/>
          <p:cNvCxnSpPr/>
          <p:nvPr/>
        </p:nvCxnSpPr>
        <p:spPr>
          <a:xfrm>
            <a:off x="2633472" y="5148072"/>
            <a:ext cx="0" cy="329184"/>
          </a:xfrm>
          <a:prstGeom prst="straightConnector1">
            <a:avLst/>
          </a:prstGeom>
          <a:noFill/>
          <a:ln w="14600" cap="flat" cmpd="sng">
            <a:solidFill>
              <a:srgbClr val="D98324"/>
            </a:solidFill>
            <a:prstDash val="solid"/>
            <a:round/>
            <a:headEnd type="none" w="sm" len="sm"/>
            <a:tailEnd type="none" w="sm" len="sm"/>
          </a:ln>
        </p:spPr>
      </p:cxnSp>
      <p:cxnSp>
        <p:nvCxnSpPr>
          <p:cNvPr id="301" name="Google Shape;301;p12"/>
          <p:cNvCxnSpPr/>
          <p:nvPr/>
        </p:nvCxnSpPr>
        <p:spPr>
          <a:xfrm>
            <a:off x="4069080" y="5148072"/>
            <a:ext cx="0" cy="329184"/>
          </a:xfrm>
          <a:prstGeom prst="straightConnector1">
            <a:avLst/>
          </a:prstGeom>
          <a:noFill/>
          <a:ln w="14600" cap="flat" cmpd="sng">
            <a:solidFill>
              <a:srgbClr val="D98324"/>
            </a:solidFill>
            <a:prstDash val="solid"/>
            <a:round/>
            <a:headEnd type="none" w="sm" len="sm"/>
            <a:tailEnd type="none" w="sm" len="sm"/>
          </a:ln>
        </p:spPr>
      </p:cxnSp>
      <p:cxnSp>
        <p:nvCxnSpPr>
          <p:cNvPr id="302" name="Google Shape;302;p12"/>
          <p:cNvCxnSpPr/>
          <p:nvPr/>
        </p:nvCxnSpPr>
        <p:spPr>
          <a:xfrm>
            <a:off x="1188720" y="5477256"/>
            <a:ext cx="5577840" cy="0"/>
          </a:xfrm>
          <a:prstGeom prst="straightConnector1">
            <a:avLst/>
          </a:prstGeom>
          <a:noFill/>
          <a:ln w="14600" cap="flat" cmpd="sng">
            <a:solidFill>
              <a:srgbClr val="D98324"/>
            </a:solidFill>
            <a:prstDash val="solid"/>
            <a:round/>
            <a:headEnd type="none" w="sm" len="sm"/>
            <a:tailEnd type="none" w="sm" len="sm"/>
          </a:ln>
        </p:spPr>
      </p:cxnSp>
      <p:cxnSp>
        <p:nvCxnSpPr>
          <p:cNvPr id="303" name="Google Shape;303;p12"/>
          <p:cNvCxnSpPr/>
          <p:nvPr/>
        </p:nvCxnSpPr>
        <p:spPr>
          <a:xfrm>
            <a:off x="6766560" y="5477256"/>
            <a:ext cx="256032" cy="0"/>
          </a:xfrm>
          <a:prstGeom prst="straightConnector1">
            <a:avLst/>
          </a:prstGeom>
          <a:noFill/>
          <a:ln w="15875" cap="flat" cmpd="sng">
            <a:solidFill>
              <a:srgbClr val="D98324"/>
            </a:solidFill>
            <a:prstDash val="solid"/>
            <a:round/>
            <a:headEnd type="none" w="sm" len="sm"/>
            <a:tailEnd type="triangle" w="med" len="med"/>
          </a:ln>
        </p:spPr>
      </p:cxnSp>
      <p:sp>
        <p:nvSpPr>
          <p:cNvPr id="304" name="Google Shape;304;p12"/>
          <p:cNvSpPr/>
          <p:nvPr/>
        </p:nvSpPr>
        <p:spPr>
          <a:xfrm>
            <a:off x="7022592" y="5074920"/>
            <a:ext cx="1417320" cy="804672"/>
          </a:xfrm>
          <a:prstGeom prst="roundRect">
            <a:avLst>
              <a:gd name="adj" fmla="val 5682"/>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2"/>
          <p:cNvSpPr/>
          <p:nvPr/>
        </p:nvSpPr>
        <p:spPr>
          <a:xfrm>
            <a:off x="7077456" y="5193792"/>
            <a:ext cx="130759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400"/>
              <a:buFont typeface="Arial"/>
              <a:buNone/>
            </a:pPr>
            <a:r>
              <a:rPr lang="en-US" sz="1400" b="1" i="0" u="none" strike="noStrike" cap="none">
                <a:solidFill>
                  <a:srgbClr val="1B2B31"/>
                </a:solidFill>
                <a:latin typeface="Arial"/>
                <a:ea typeface="Arial"/>
                <a:cs typeface="Arial"/>
                <a:sym typeface="Arial"/>
              </a:rPr>
              <a:t>NavDP</a:t>
            </a:r>
            <a:endParaRPr sz="1400" b="0" i="0" u="none" strike="noStrike" cap="none">
              <a:solidFill>
                <a:schemeClr val="dk1"/>
              </a:solidFill>
              <a:latin typeface="Calibri"/>
              <a:ea typeface="Calibri"/>
              <a:cs typeface="Calibri"/>
              <a:sym typeface="Calibri"/>
            </a:endParaRPr>
          </a:p>
        </p:txBody>
      </p:sp>
      <p:sp>
        <p:nvSpPr>
          <p:cNvPr id="306" name="Google Shape;306;p12"/>
          <p:cNvSpPr/>
          <p:nvPr/>
        </p:nvSpPr>
        <p:spPr>
          <a:xfrm>
            <a:off x="7077456" y="5468112"/>
            <a:ext cx="130759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System 1</a:t>
            </a:r>
            <a:endParaRPr sz="1000" b="0" i="0" u="none" strike="noStrike" cap="none">
              <a:solidFill>
                <a:schemeClr val="dk1"/>
              </a:solidFill>
              <a:latin typeface="Calibri"/>
              <a:ea typeface="Calibri"/>
              <a:cs typeface="Calibri"/>
              <a:sym typeface="Calibri"/>
            </a:endParaRPr>
          </a:p>
        </p:txBody>
      </p:sp>
      <p:sp>
        <p:nvSpPr>
          <p:cNvPr id="307" name="Google Shape;307;p12"/>
          <p:cNvSpPr/>
          <p:nvPr/>
        </p:nvSpPr>
        <p:spPr>
          <a:xfrm>
            <a:off x="8549640" y="1417320"/>
            <a:ext cx="3090672" cy="4663440"/>
          </a:xfrm>
          <a:prstGeom prst="roundRect">
            <a:avLst>
              <a:gd name="adj" fmla="val 177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2"/>
          <p:cNvSpPr/>
          <p:nvPr/>
        </p:nvSpPr>
        <p:spPr>
          <a:xfrm>
            <a:off x="8796528" y="1627632"/>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00"/>
              <a:buFont typeface="Arial"/>
              <a:buNone/>
            </a:pPr>
            <a:r>
              <a:rPr lang="en-US" sz="1300" b="1" i="0" u="none" strike="noStrike" cap="none">
                <a:solidFill>
                  <a:srgbClr val="00A896"/>
                </a:solidFill>
                <a:latin typeface="Arial"/>
                <a:ea typeface="Arial"/>
                <a:cs typeface="Arial"/>
                <a:sym typeface="Arial"/>
              </a:rPr>
              <a:t>Chọn frame &amp; memory</a:t>
            </a:r>
            <a:endParaRPr sz="1300" b="0" i="0" u="none" strike="noStrike" cap="none">
              <a:solidFill>
                <a:schemeClr val="dk1"/>
              </a:solidFill>
              <a:latin typeface="Calibri"/>
              <a:ea typeface="Calibri"/>
              <a:cs typeface="Calibri"/>
              <a:sym typeface="Calibri"/>
            </a:endParaRPr>
          </a:p>
        </p:txBody>
      </p:sp>
      <p:sp>
        <p:nvSpPr>
          <p:cNvPr id="309" name="Google Shape;309;p12"/>
          <p:cNvSpPr/>
          <p:nvPr/>
        </p:nvSpPr>
        <p:spPr>
          <a:xfrm>
            <a:off x="8796528" y="1938528"/>
            <a:ext cx="2651760" cy="548640"/>
          </a:xfrm>
          <a:prstGeom prst="rect">
            <a:avLst/>
          </a:prstGeom>
          <a:noFill/>
          <a:ln>
            <a:noFill/>
          </a:ln>
        </p:spPr>
        <p:txBody>
          <a:bodyPr spcFirstLastPara="1" wrap="square" lIns="0" tIns="0" rIns="0" bIns="0" anchor="ctr" anchorCtr="0">
            <a:noAutofit/>
          </a:bodyPr>
          <a:lstStyle/>
          <a:p>
            <a:pPr marL="0" marR="0" lvl="0" indent="0" algn="l" rtl="0">
              <a:lnSpc>
                <a:spcPct val="147368"/>
              </a:lnSpc>
              <a:spcBef>
                <a:spcPts val="0"/>
              </a:spcBef>
              <a:spcAft>
                <a:spcPts val="0"/>
              </a:spcAft>
              <a:buClr>
                <a:srgbClr val="AFD2D6"/>
              </a:buClr>
              <a:buSzPts val="950"/>
              <a:buFont typeface="Courier New"/>
              <a:buNone/>
            </a:pPr>
            <a:r>
              <a:rPr lang="en-US" sz="950" b="0" i="0" u="none" strike="noStrike" cap="none">
                <a:solidFill>
                  <a:srgbClr val="AFD2D6"/>
                </a:solidFill>
                <a:latin typeface="Courier New"/>
                <a:ea typeface="Courier New"/>
                <a:cs typeface="Courier New"/>
                <a:sym typeface="Courier New"/>
              </a:rPr>
              <a:t>start − (memory_size−1)·memory_digit</a:t>
            </a:r>
            <a:endParaRPr sz="950" b="0" i="0" u="none" strike="noStrike" cap="none">
              <a:solidFill>
                <a:schemeClr val="dk1"/>
              </a:solidFill>
              <a:latin typeface="Calibri"/>
              <a:ea typeface="Calibri"/>
              <a:cs typeface="Calibri"/>
              <a:sym typeface="Calibri"/>
            </a:endParaRPr>
          </a:p>
          <a:p>
            <a:pPr marL="0" marR="0" lvl="0" indent="0" algn="l" rtl="0">
              <a:lnSpc>
                <a:spcPct val="147368"/>
              </a:lnSpc>
              <a:spcBef>
                <a:spcPts val="0"/>
              </a:spcBef>
              <a:spcAft>
                <a:spcPts val="0"/>
              </a:spcAft>
              <a:buClr>
                <a:srgbClr val="AFD2D6"/>
              </a:buClr>
              <a:buSzPts val="950"/>
              <a:buFont typeface="Courier New"/>
              <a:buNone/>
            </a:pPr>
            <a:r>
              <a:rPr lang="en-US" sz="950" b="0" i="0" u="none" strike="noStrike" cap="none">
                <a:solidFill>
                  <a:srgbClr val="AFD2D6"/>
                </a:solidFill>
                <a:latin typeface="Courier New"/>
                <a:ea typeface="Courier New"/>
                <a:cs typeface="Courier New"/>
                <a:sym typeface="Courier New"/>
              </a:rPr>
              <a:t>…, start</a:t>
            </a:r>
            <a:endParaRPr sz="950" b="0" i="0" u="none" strike="noStrike" cap="none">
              <a:solidFill>
                <a:schemeClr val="dk1"/>
              </a:solidFill>
              <a:latin typeface="Calibri"/>
              <a:ea typeface="Calibri"/>
              <a:cs typeface="Calibri"/>
              <a:sym typeface="Calibri"/>
            </a:endParaRPr>
          </a:p>
        </p:txBody>
      </p:sp>
      <p:cxnSp>
        <p:nvCxnSpPr>
          <p:cNvPr id="310" name="Google Shape;310;p12"/>
          <p:cNvCxnSpPr/>
          <p:nvPr/>
        </p:nvCxnSpPr>
        <p:spPr>
          <a:xfrm>
            <a:off x="8796528" y="3063240"/>
            <a:ext cx="2606040" cy="0"/>
          </a:xfrm>
          <a:prstGeom prst="straightConnector1">
            <a:avLst/>
          </a:prstGeom>
          <a:noFill/>
          <a:ln w="9525" cap="flat" cmpd="sng">
            <a:solidFill>
              <a:srgbClr val="27505B"/>
            </a:solidFill>
            <a:prstDash val="solid"/>
            <a:round/>
            <a:headEnd type="none" w="sm" len="sm"/>
            <a:tailEnd type="none" w="sm" len="sm"/>
          </a:ln>
        </p:spPr>
      </p:cxnSp>
      <p:sp>
        <p:nvSpPr>
          <p:cNvPr id="311" name="Google Shape;311;p12"/>
          <p:cNvSpPr/>
          <p:nvPr/>
        </p:nvSpPr>
        <p:spPr>
          <a:xfrm>
            <a:off x="8796528" y="2606040"/>
            <a:ext cx="1417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ourier New"/>
              <a:buNone/>
            </a:pPr>
            <a:r>
              <a:rPr lang="en-US" sz="950" b="0" i="0" u="none" strike="noStrike" cap="none">
                <a:solidFill>
                  <a:srgbClr val="FFFFFF"/>
                </a:solidFill>
                <a:latin typeface="Courier New"/>
                <a:ea typeface="Courier New"/>
                <a:cs typeface="Courier New"/>
                <a:sym typeface="Courier New"/>
              </a:rPr>
              <a:t>memory_size</a:t>
            </a:r>
            <a:endParaRPr sz="950" b="0" i="0" u="none" strike="noStrike" cap="none">
              <a:solidFill>
                <a:schemeClr val="dk1"/>
              </a:solidFill>
              <a:latin typeface="Calibri"/>
              <a:ea typeface="Calibri"/>
              <a:cs typeface="Calibri"/>
              <a:sym typeface="Calibri"/>
            </a:endParaRPr>
          </a:p>
        </p:txBody>
      </p:sp>
      <p:sp>
        <p:nvSpPr>
          <p:cNvPr id="312" name="Google Shape;312;p12"/>
          <p:cNvSpPr/>
          <p:nvPr/>
        </p:nvSpPr>
        <p:spPr>
          <a:xfrm>
            <a:off x="10241280" y="2606040"/>
            <a:ext cx="11887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950"/>
              <a:buFont typeface="Arial"/>
              <a:buNone/>
            </a:pPr>
            <a:r>
              <a:rPr lang="en-US" sz="950" b="0" i="0" u="none" strike="noStrike" cap="none">
                <a:solidFill>
                  <a:srgbClr val="9FBEC2"/>
                </a:solidFill>
                <a:latin typeface="Arial"/>
                <a:ea typeface="Arial"/>
                <a:cs typeface="Arial"/>
                <a:sym typeface="Arial"/>
              </a:rPr>
              <a:t>8</a:t>
            </a:r>
            <a:endParaRPr sz="950" b="0" i="0" u="none" strike="noStrike" cap="none">
              <a:solidFill>
                <a:schemeClr val="dk1"/>
              </a:solidFill>
              <a:latin typeface="Calibri"/>
              <a:ea typeface="Calibri"/>
              <a:cs typeface="Calibri"/>
              <a:sym typeface="Calibri"/>
            </a:endParaRPr>
          </a:p>
        </p:txBody>
      </p:sp>
      <p:cxnSp>
        <p:nvCxnSpPr>
          <p:cNvPr id="313" name="Google Shape;313;p12"/>
          <p:cNvCxnSpPr/>
          <p:nvPr/>
        </p:nvCxnSpPr>
        <p:spPr>
          <a:xfrm>
            <a:off x="8796528" y="3566160"/>
            <a:ext cx="2606040" cy="0"/>
          </a:xfrm>
          <a:prstGeom prst="straightConnector1">
            <a:avLst/>
          </a:prstGeom>
          <a:noFill/>
          <a:ln w="9525" cap="flat" cmpd="sng">
            <a:solidFill>
              <a:srgbClr val="27505B"/>
            </a:solidFill>
            <a:prstDash val="solid"/>
            <a:round/>
            <a:headEnd type="none" w="sm" len="sm"/>
            <a:tailEnd type="none" w="sm" len="sm"/>
          </a:ln>
        </p:spPr>
      </p:cxnSp>
      <p:sp>
        <p:nvSpPr>
          <p:cNvPr id="314" name="Google Shape;314;p12"/>
          <p:cNvSpPr/>
          <p:nvPr/>
        </p:nvSpPr>
        <p:spPr>
          <a:xfrm>
            <a:off x="8796528" y="3108960"/>
            <a:ext cx="1417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ourier New"/>
              <a:buNone/>
            </a:pPr>
            <a:r>
              <a:rPr lang="en-US" sz="950" b="0" i="0" u="none" strike="noStrike" cap="none">
                <a:solidFill>
                  <a:srgbClr val="FFFFFF"/>
                </a:solidFill>
                <a:latin typeface="Courier New"/>
                <a:ea typeface="Courier New"/>
                <a:cs typeface="Courier New"/>
                <a:sym typeface="Courier New"/>
              </a:rPr>
              <a:t>memory_digit</a:t>
            </a:r>
            <a:endParaRPr sz="950" b="0" i="0" u="none" strike="noStrike" cap="none">
              <a:solidFill>
                <a:schemeClr val="dk1"/>
              </a:solidFill>
              <a:latin typeface="Calibri"/>
              <a:ea typeface="Calibri"/>
              <a:cs typeface="Calibri"/>
              <a:sym typeface="Calibri"/>
            </a:endParaRPr>
          </a:p>
        </p:txBody>
      </p:sp>
      <p:sp>
        <p:nvSpPr>
          <p:cNvPr id="315" name="Google Shape;315;p12"/>
          <p:cNvSpPr/>
          <p:nvPr/>
        </p:nvSpPr>
        <p:spPr>
          <a:xfrm>
            <a:off x="10241280" y="3108960"/>
            <a:ext cx="11887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950"/>
              <a:buFont typeface="Arial"/>
              <a:buNone/>
            </a:pPr>
            <a:r>
              <a:rPr lang="en-US" sz="950" b="0" i="0" u="none" strike="noStrike" cap="none">
                <a:solidFill>
                  <a:srgbClr val="9FBEC2"/>
                </a:solidFill>
                <a:latin typeface="Arial"/>
                <a:ea typeface="Arial"/>
                <a:cs typeface="Arial"/>
                <a:sym typeface="Arial"/>
              </a:rPr>
              <a:t>4 (khi không random)</a:t>
            </a:r>
            <a:endParaRPr sz="950" b="0" i="0" u="none" strike="noStrike" cap="none">
              <a:solidFill>
                <a:schemeClr val="dk1"/>
              </a:solidFill>
              <a:latin typeface="Calibri"/>
              <a:ea typeface="Calibri"/>
              <a:cs typeface="Calibri"/>
              <a:sym typeface="Calibri"/>
            </a:endParaRPr>
          </a:p>
        </p:txBody>
      </p:sp>
      <p:cxnSp>
        <p:nvCxnSpPr>
          <p:cNvPr id="316" name="Google Shape;316;p12"/>
          <p:cNvCxnSpPr/>
          <p:nvPr/>
        </p:nvCxnSpPr>
        <p:spPr>
          <a:xfrm>
            <a:off x="8796528" y="4069080"/>
            <a:ext cx="2606040" cy="0"/>
          </a:xfrm>
          <a:prstGeom prst="straightConnector1">
            <a:avLst/>
          </a:prstGeom>
          <a:noFill/>
          <a:ln w="9525" cap="flat" cmpd="sng">
            <a:solidFill>
              <a:srgbClr val="27505B"/>
            </a:solidFill>
            <a:prstDash val="solid"/>
            <a:round/>
            <a:headEnd type="none" w="sm" len="sm"/>
            <a:tailEnd type="none" w="sm" len="sm"/>
          </a:ln>
        </p:spPr>
      </p:cxnSp>
      <p:sp>
        <p:nvSpPr>
          <p:cNvPr id="317" name="Google Shape;317;p12"/>
          <p:cNvSpPr/>
          <p:nvPr/>
        </p:nvSpPr>
        <p:spPr>
          <a:xfrm>
            <a:off x="8796528" y="3611880"/>
            <a:ext cx="1417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ourier New"/>
              <a:buNone/>
            </a:pPr>
            <a:r>
              <a:rPr lang="en-US" sz="950" b="0" i="0" u="none" strike="noStrike" cap="none">
                <a:solidFill>
                  <a:srgbClr val="FFFFFF"/>
                </a:solidFill>
                <a:latin typeface="Courier New"/>
                <a:ea typeface="Courier New"/>
                <a:cs typeface="Courier New"/>
                <a:sym typeface="Courier New"/>
              </a:rPr>
              <a:t>thiếu frame đầu</a:t>
            </a:r>
            <a:endParaRPr sz="950" b="0" i="0" u="none" strike="noStrike" cap="none">
              <a:solidFill>
                <a:schemeClr val="dk1"/>
              </a:solidFill>
              <a:latin typeface="Calibri"/>
              <a:ea typeface="Calibri"/>
              <a:cs typeface="Calibri"/>
              <a:sym typeface="Calibri"/>
            </a:endParaRPr>
          </a:p>
        </p:txBody>
      </p:sp>
      <p:sp>
        <p:nvSpPr>
          <p:cNvPr id="318" name="Google Shape;318;p12"/>
          <p:cNvSpPr/>
          <p:nvPr/>
        </p:nvSpPr>
        <p:spPr>
          <a:xfrm>
            <a:off x="10241280" y="3611880"/>
            <a:ext cx="11887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950"/>
              <a:buFont typeface="Arial"/>
              <a:buNone/>
            </a:pPr>
            <a:r>
              <a:rPr lang="en-US" sz="950" b="0" i="0" u="none" strike="noStrike" cap="none">
                <a:solidFill>
                  <a:srgbClr val="9FBEC2"/>
                </a:solidFill>
                <a:latin typeface="Arial"/>
                <a:ea typeface="Arial"/>
                <a:cs typeface="Arial"/>
                <a:sym typeface="Arial"/>
              </a:rPr>
              <a:t>zero-pad</a:t>
            </a:r>
            <a:endParaRPr sz="950" b="0" i="0" u="none" strike="noStrike" cap="none">
              <a:solidFill>
                <a:schemeClr val="dk1"/>
              </a:solidFill>
              <a:latin typeface="Calibri"/>
              <a:ea typeface="Calibri"/>
              <a:cs typeface="Calibri"/>
              <a:sym typeface="Calibri"/>
            </a:endParaRPr>
          </a:p>
        </p:txBody>
      </p:sp>
      <p:cxnSp>
        <p:nvCxnSpPr>
          <p:cNvPr id="319" name="Google Shape;319;p12"/>
          <p:cNvCxnSpPr/>
          <p:nvPr/>
        </p:nvCxnSpPr>
        <p:spPr>
          <a:xfrm>
            <a:off x="8796528" y="4572000"/>
            <a:ext cx="2606040" cy="0"/>
          </a:xfrm>
          <a:prstGeom prst="straightConnector1">
            <a:avLst/>
          </a:prstGeom>
          <a:noFill/>
          <a:ln w="9525" cap="flat" cmpd="sng">
            <a:solidFill>
              <a:srgbClr val="27505B"/>
            </a:solidFill>
            <a:prstDash val="solid"/>
            <a:round/>
            <a:headEnd type="none" w="sm" len="sm"/>
            <a:tailEnd type="none" w="sm" len="sm"/>
          </a:ln>
        </p:spPr>
      </p:cxnSp>
      <p:sp>
        <p:nvSpPr>
          <p:cNvPr id="320" name="Google Shape;320;p12"/>
          <p:cNvSpPr/>
          <p:nvPr/>
        </p:nvSpPr>
        <p:spPr>
          <a:xfrm>
            <a:off x="8796528" y="4114800"/>
            <a:ext cx="1417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ourier New"/>
              <a:buNone/>
            </a:pPr>
            <a:r>
              <a:rPr lang="en-US" sz="950" b="0" i="0" u="none" strike="noStrike" cap="none">
                <a:solidFill>
                  <a:srgbClr val="FFFFFF"/>
                </a:solidFill>
                <a:latin typeface="Courier New"/>
                <a:ea typeface="Courier New"/>
                <a:cs typeface="Courier New"/>
                <a:sym typeface="Courier New"/>
              </a:rPr>
              <a:t>depth</a:t>
            </a:r>
            <a:endParaRPr sz="950" b="0" i="0" u="none" strike="noStrike" cap="none">
              <a:solidFill>
                <a:schemeClr val="dk1"/>
              </a:solidFill>
              <a:latin typeface="Calibri"/>
              <a:ea typeface="Calibri"/>
              <a:cs typeface="Calibri"/>
              <a:sym typeface="Calibri"/>
            </a:endParaRPr>
          </a:p>
        </p:txBody>
      </p:sp>
      <p:sp>
        <p:nvSpPr>
          <p:cNvPr id="321" name="Google Shape;321;p12"/>
          <p:cNvSpPr/>
          <p:nvPr/>
        </p:nvSpPr>
        <p:spPr>
          <a:xfrm>
            <a:off x="10241280" y="4114800"/>
            <a:ext cx="11887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950"/>
              <a:buFont typeface="Arial"/>
              <a:buNone/>
            </a:pPr>
            <a:r>
              <a:rPr lang="en-US" sz="950" b="0" i="0" u="none" strike="noStrike" cap="none">
                <a:solidFill>
                  <a:srgbClr val="9FBEC2"/>
                </a:solidFill>
                <a:latin typeface="Arial"/>
                <a:ea typeface="Arial"/>
                <a:cs typeface="Arial"/>
                <a:sym typeface="Arial"/>
              </a:rPr>
              <a:t>chỉ ở start_step</a:t>
            </a:r>
            <a:endParaRPr sz="950" b="0" i="0" u="none" strike="noStrike" cap="none">
              <a:solidFill>
                <a:schemeClr val="dk1"/>
              </a:solidFill>
              <a:latin typeface="Calibri"/>
              <a:ea typeface="Calibri"/>
              <a:cs typeface="Calibri"/>
              <a:sym typeface="Calibri"/>
            </a:endParaRPr>
          </a:p>
        </p:txBody>
      </p:sp>
      <p:sp>
        <p:nvSpPr>
          <p:cNvPr id="322" name="Google Shape;322;p12"/>
          <p:cNvSpPr/>
          <p:nvPr/>
        </p:nvSpPr>
        <p:spPr>
          <a:xfrm>
            <a:off x="8796528" y="4754880"/>
            <a:ext cx="2651760" cy="457200"/>
          </a:xfrm>
          <a:prstGeom prst="rect">
            <a:avLst/>
          </a:prstGeom>
          <a:noFill/>
          <a:ln>
            <a:noFill/>
          </a:ln>
        </p:spPr>
        <p:txBody>
          <a:bodyPr spcFirstLastPara="1" wrap="square" lIns="0" tIns="0" rIns="0" bIns="0" anchor="ctr" anchorCtr="0">
            <a:noAutofit/>
          </a:bodyPr>
          <a:lstStyle/>
          <a:p>
            <a:pPr marL="0" marR="0" lvl="0" indent="0" algn="l" rtl="0">
              <a:lnSpc>
                <a:spcPct val="127272"/>
              </a:lnSpc>
              <a:spcBef>
                <a:spcPts val="0"/>
              </a:spcBef>
              <a:spcAft>
                <a:spcPts val="0"/>
              </a:spcAft>
              <a:buClr>
                <a:srgbClr val="D98324"/>
              </a:buClr>
              <a:buSzPts val="1100"/>
              <a:buFont typeface="Arial"/>
              <a:buNone/>
            </a:pPr>
            <a:r>
              <a:rPr lang="en-US" sz="1100" b="1" i="1" u="none" strike="noStrike" cap="none">
                <a:solidFill>
                  <a:srgbClr val="D98324"/>
                </a:solidFill>
                <a:latin typeface="Arial"/>
                <a:ea typeface="Arial"/>
                <a:cs typeface="Arial"/>
                <a:sym typeface="Arial"/>
              </a:rPr>
              <a:t>Không tạo lịch sử 8 depth frame</a:t>
            </a:r>
            <a:endParaRPr sz="1100" b="0" i="0" u="none" strike="noStrike" cap="none">
              <a:solidFill>
                <a:schemeClr val="dk1"/>
              </a:solidFill>
              <a:latin typeface="Calibri"/>
              <a:ea typeface="Calibri"/>
              <a:cs typeface="Calibri"/>
              <a:sym typeface="Calibri"/>
            </a:endParaRPr>
          </a:p>
        </p:txBody>
      </p:sp>
      <p:sp>
        <p:nvSpPr>
          <p:cNvPr id="323" name="Google Shape;323;p12"/>
          <p:cNvSpPr/>
          <p:nvPr/>
        </p:nvSpPr>
        <p:spPr>
          <a:xfrm>
            <a:off x="8796528" y="5212080"/>
            <a:ext cx="2651760" cy="73152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Lặp depth thành 8 frame chính là nguyên nhân lỗi positional-index trong thử nghiệm synthetic trước đó.</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3"/>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TIỀN XỬ LÝ</a:t>
            </a:r>
            <a:endParaRPr sz="1050" b="0" i="0" u="none" strike="noStrike" cap="none">
              <a:solidFill>
                <a:schemeClr val="dk1"/>
              </a:solidFill>
              <a:latin typeface="Calibri"/>
              <a:ea typeface="Calibri"/>
              <a:cs typeface="Calibri"/>
              <a:sym typeface="Calibri"/>
            </a:endParaRPr>
          </a:p>
        </p:txBody>
      </p:sp>
      <p:sp>
        <p:nvSpPr>
          <p:cNvPr id="330" name="Google Shape;330;p13"/>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RGB: năm bước, và chỗ ImageNet normalization thực sự xảy ra</a:t>
            </a:r>
            <a:endParaRPr sz="2500" b="0" i="0" u="none" strike="noStrike" cap="none">
              <a:solidFill>
                <a:schemeClr val="dk1"/>
              </a:solidFill>
              <a:latin typeface="Calibri"/>
              <a:ea typeface="Calibri"/>
              <a:cs typeface="Calibri"/>
              <a:sym typeface="Calibri"/>
            </a:endParaRPr>
          </a:p>
        </p:txBody>
      </p:sp>
      <p:sp>
        <p:nvSpPr>
          <p:cNvPr id="331" name="Google Shape;331;p13"/>
          <p:cNvSpPr/>
          <p:nvPr/>
        </p:nvSpPr>
        <p:spPr>
          <a:xfrm>
            <a:off x="548640" y="1417320"/>
            <a:ext cx="1975104" cy="1234440"/>
          </a:xfrm>
          <a:prstGeom prst="roundRect">
            <a:avLst>
              <a:gd name="adj" fmla="val 4444"/>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3"/>
          <p:cNvSpPr/>
          <p:nvPr/>
        </p:nvSpPr>
        <p:spPr>
          <a:xfrm>
            <a:off x="685800" y="1554480"/>
            <a:ext cx="310896" cy="31089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a:off x="685800" y="1554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1</a:t>
            </a:r>
            <a:endParaRPr sz="1050" b="0" i="0" u="none" strike="noStrike" cap="none">
              <a:solidFill>
                <a:schemeClr val="dk1"/>
              </a:solidFill>
              <a:latin typeface="Calibri"/>
              <a:ea typeface="Calibri"/>
              <a:cs typeface="Calibri"/>
              <a:sym typeface="Calibri"/>
            </a:endParaRPr>
          </a:p>
        </p:txBody>
      </p:sp>
      <p:sp>
        <p:nvSpPr>
          <p:cNvPr id="334" name="Google Shape;334;p13"/>
          <p:cNvSpPr/>
          <p:nvPr/>
        </p:nvSpPr>
        <p:spPr>
          <a:xfrm>
            <a:off x="685800" y="195681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Đọc uint8</a:t>
            </a:r>
            <a:endParaRPr sz="1150" b="0" i="0" u="none" strike="noStrike" cap="none">
              <a:solidFill>
                <a:schemeClr val="dk1"/>
              </a:solidFill>
              <a:latin typeface="Calibri"/>
              <a:ea typeface="Calibri"/>
              <a:cs typeface="Calibri"/>
              <a:sym typeface="Calibri"/>
            </a:endParaRPr>
          </a:p>
        </p:txBody>
      </p:sp>
      <p:sp>
        <p:nvSpPr>
          <p:cNvPr id="335" name="Google Shape;335;p13"/>
          <p:cNvSpPr/>
          <p:nvPr/>
        </p:nvSpPr>
        <p:spPr>
          <a:xfrm>
            <a:off x="685800" y="223113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[H, W, 3]</a:t>
            </a:r>
            <a:endParaRPr sz="950" b="0" i="0" u="none" strike="noStrike" cap="none">
              <a:solidFill>
                <a:schemeClr val="dk1"/>
              </a:solidFill>
              <a:latin typeface="Calibri"/>
              <a:ea typeface="Calibri"/>
              <a:cs typeface="Calibri"/>
              <a:sym typeface="Calibri"/>
            </a:endParaRPr>
          </a:p>
        </p:txBody>
      </p:sp>
      <p:cxnSp>
        <p:nvCxnSpPr>
          <p:cNvPr id="336" name="Google Shape;336;p13"/>
          <p:cNvCxnSpPr/>
          <p:nvPr/>
        </p:nvCxnSpPr>
        <p:spPr>
          <a:xfrm>
            <a:off x="2523744" y="2029968"/>
            <a:ext cx="237744" cy="0"/>
          </a:xfrm>
          <a:prstGeom prst="straightConnector1">
            <a:avLst/>
          </a:prstGeom>
          <a:noFill/>
          <a:ln w="15875" cap="flat" cmpd="sng">
            <a:solidFill>
              <a:srgbClr val="5C6E73"/>
            </a:solidFill>
            <a:prstDash val="solid"/>
            <a:round/>
            <a:headEnd type="none" w="sm" len="sm"/>
            <a:tailEnd type="triangle" w="med" len="med"/>
          </a:ln>
        </p:spPr>
      </p:cxnSp>
      <p:sp>
        <p:nvSpPr>
          <p:cNvPr id="337" name="Google Shape;337;p13"/>
          <p:cNvSpPr/>
          <p:nvPr/>
        </p:nvSpPr>
        <p:spPr>
          <a:xfrm>
            <a:off x="2779776" y="1417320"/>
            <a:ext cx="1975104" cy="1234440"/>
          </a:xfrm>
          <a:prstGeom prst="roundRect">
            <a:avLst>
              <a:gd name="adj" fmla="val 4444"/>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3"/>
          <p:cNvSpPr/>
          <p:nvPr/>
        </p:nvSpPr>
        <p:spPr>
          <a:xfrm>
            <a:off x="2916936" y="1554480"/>
            <a:ext cx="310896" cy="31089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3"/>
          <p:cNvSpPr/>
          <p:nvPr/>
        </p:nvSpPr>
        <p:spPr>
          <a:xfrm>
            <a:off x="2916936" y="1554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2</a:t>
            </a:r>
            <a:endParaRPr sz="1050" b="0" i="0" u="none" strike="noStrike" cap="none">
              <a:solidFill>
                <a:schemeClr val="dk1"/>
              </a:solidFill>
              <a:latin typeface="Calibri"/>
              <a:ea typeface="Calibri"/>
              <a:cs typeface="Calibri"/>
              <a:sym typeface="Calibri"/>
            </a:endParaRPr>
          </a:p>
        </p:txBody>
      </p:sp>
      <p:sp>
        <p:nvSpPr>
          <p:cNvPr id="340" name="Google Shape;340;p13"/>
          <p:cNvSpPr/>
          <p:nvPr/>
        </p:nvSpPr>
        <p:spPr>
          <a:xfrm>
            <a:off x="2916936" y="195681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Scale cạnh dài</a:t>
            </a:r>
            <a:endParaRPr sz="1150" b="0" i="0" u="none" strike="noStrike" cap="none">
              <a:solidFill>
                <a:schemeClr val="dk1"/>
              </a:solidFill>
              <a:latin typeface="Calibri"/>
              <a:ea typeface="Calibri"/>
              <a:cs typeface="Calibri"/>
              <a:sym typeface="Calibri"/>
            </a:endParaRPr>
          </a:p>
        </p:txBody>
      </p:sp>
      <p:sp>
        <p:nvSpPr>
          <p:cNvPr id="341" name="Google Shape;341;p13"/>
          <p:cNvSpPr/>
          <p:nvPr/>
        </p:nvSpPr>
        <p:spPr>
          <a:xfrm>
            <a:off x="2916936" y="223113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vừa khung 224</a:t>
            </a:r>
            <a:endParaRPr sz="950" b="0" i="0" u="none" strike="noStrike" cap="none">
              <a:solidFill>
                <a:schemeClr val="dk1"/>
              </a:solidFill>
              <a:latin typeface="Calibri"/>
              <a:ea typeface="Calibri"/>
              <a:cs typeface="Calibri"/>
              <a:sym typeface="Calibri"/>
            </a:endParaRPr>
          </a:p>
        </p:txBody>
      </p:sp>
      <p:cxnSp>
        <p:nvCxnSpPr>
          <p:cNvPr id="342" name="Google Shape;342;p13"/>
          <p:cNvCxnSpPr/>
          <p:nvPr/>
        </p:nvCxnSpPr>
        <p:spPr>
          <a:xfrm>
            <a:off x="4754880" y="2029968"/>
            <a:ext cx="237744" cy="0"/>
          </a:xfrm>
          <a:prstGeom prst="straightConnector1">
            <a:avLst/>
          </a:prstGeom>
          <a:noFill/>
          <a:ln w="15875" cap="flat" cmpd="sng">
            <a:solidFill>
              <a:srgbClr val="5C6E73"/>
            </a:solidFill>
            <a:prstDash val="solid"/>
            <a:round/>
            <a:headEnd type="none" w="sm" len="sm"/>
            <a:tailEnd type="triangle" w="med" len="med"/>
          </a:ln>
        </p:spPr>
      </p:cxnSp>
      <p:sp>
        <p:nvSpPr>
          <p:cNvPr id="343" name="Google Shape;343;p13"/>
          <p:cNvSpPr/>
          <p:nvPr/>
        </p:nvSpPr>
        <p:spPr>
          <a:xfrm>
            <a:off x="5010912" y="1417320"/>
            <a:ext cx="1975104" cy="1234440"/>
          </a:xfrm>
          <a:prstGeom prst="roundRect">
            <a:avLst>
              <a:gd name="adj" fmla="val 4444"/>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3"/>
          <p:cNvSpPr/>
          <p:nvPr/>
        </p:nvSpPr>
        <p:spPr>
          <a:xfrm>
            <a:off x="5148072" y="1554480"/>
            <a:ext cx="310896" cy="31089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3"/>
          <p:cNvSpPr/>
          <p:nvPr/>
        </p:nvSpPr>
        <p:spPr>
          <a:xfrm>
            <a:off x="5148072" y="1554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3</a:t>
            </a:r>
            <a:endParaRPr sz="1050" b="0" i="0" u="none" strike="noStrike" cap="none">
              <a:solidFill>
                <a:schemeClr val="dk1"/>
              </a:solidFill>
              <a:latin typeface="Calibri"/>
              <a:ea typeface="Calibri"/>
              <a:cs typeface="Calibri"/>
              <a:sym typeface="Calibri"/>
            </a:endParaRPr>
          </a:p>
        </p:txBody>
      </p:sp>
      <p:sp>
        <p:nvSpPr>
          <p:cNvPr id="346" name="Google Shape;346;p13"/>
          <p:cNvSpPr/>
          <p:nvPr/>
        </p:nvSpPr>
        <p:spPr>
          <a:xfrm>
            <a:off x="5148072" y="195681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Pad bằng 0</a:t>
            </a:r>
            <a:endParaRPr sz="1150" b="0" i="0" u="none" strike="noStrike" cap="none">
              <a:solidFill>
                <a:schemeClr val="dk1"/>
              </a:solidFill>
              <a:latin typeface="Calibri"/>
              <a:ea typeface="Calibri"/>
              <a:cs typeface="Calibri"/>
              <a:sym typeface="Calibri"/>
            </a:endParaRPr>
          </a:p>
        </p:txBody>
      </p:sp>
      <p:sp>
        <p:nvSpPr>
          <p:cNvPr id="347" name="Google Shape;347;p13"/>
          <p:cNvSpPr/>
          <p:nvPr/>
        </p:nvSpPr>
        <p:spPr>
          <a:xfrm>
            <a:off x="5148072" y="223113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giữ tỉ lệ hình</a:t>
            </a:r>
            <a:endParaRPr sz="950" b="0" i="0" u="none" strike="noStrike" cap="none">
              <a:solidFill>
                <a:schemeClr val="dk1"/>
              </a:solidFill>
              <a:latin typeface="Calibri"/>
              <a:ea typeface="Calibri"/>
              <a:cs typeface="Calibri"/>
              <a:sym typeface="Calibri"/>
            </a:endParaRPr>
          </a:p>
        </p:txBody>
      </p:sp>
      <p:cxnSp>
        <p:nvCxnSpPr>
          <p:cNvPr id="348" name="Google Shape;348;p13"/>
          <p:cNvCxnSpPr/>
          <p:nvPr/>
        </p:nvCxnSpPr>
        <p:spPr>
          <a:xfrm>
            <a:off x="6986016" y="2029968"/>
            <a:ext cx="237744" cy="0"/>
          </a:xfrm>
          <a:prstGeom prst="straightConnector1">
            <a:avLst/>
          </a:prstGeom>
          <a:noFill/>
          <a:ln w="15875" cap="flat" cmpd="sng">
            <a:solidFill>
              <a:srgbClr val="5C6E73"/>
            </a:solidFill>
            <a:prstDash val="solid"/>
            <a:round/>
            <a:headEnd type="none" w="sm" len="sm"/>
            <a:tailEnd type="triangle" w="med" len="med"/>
          </a:ln>
        </p:spPr>
      </p:cxnSp>
      <p:sp>
        <p:nvSpPr>
          <p:cNvPr id="349" name="Google Shape;349;p13"/>
          <p:cNvSpPr/>
          <p:nvPr/>
        </p:nvSpPr>
        <p:spPr>
          <a:xfrm>
            <a:off x="7242048" y="1417320"/>
            <a:ext cx="1975104" cy="1234440"/>
          </a:xfrm>
          <a:prstGeom prst="roundRect">
            <a:avLst>
              <a:gd name="adj" fmla="val 4444"/>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3"/>
          <p:cNvSpPr/>
          <p:nvPr/>
        </p:nvSpPr>
        <p:spPr>
          <a:xfrm>
            <a:off x="7379208" y="1554480"/>
            <a:ext cx="310896" cy="31089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3"/>
          <p:cNvSpPr/>
          <p:nvPr/>
        </p:nvSpPr>
        <p:spPr>
          <a:xfrm>
            <a:off x="7379208" y="1554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4</a:t>
            </a:r>
            <a:endParaRPr sz="1050" b="0" i="0" u="none" strike="noStrike" cap="none">
              <a:solidFill>
                <a:schemeClr val="dk1"/>
              </a:solidFill>
              <a:latin typeface="Calibri"/>
              <a:ea typeface="Calibri"/>
              <a:cs typeface="Calibri"/>
              <a:sym typeface="Calibri"/>
            </a:endParaRPr>
          </a:p>
        </p:txBody>
      </p:sp>
      <p:sp>
        <p:nvSpPr>
          <p:cNvPr id="352" name="Google Shape;352;p13"/>
          <p:cNvSpPr/>
          <p:nvPr/>
        </p:nvSpPr>
        <p:spPr>
          <a:xfrm>
            <a:off x="7379208" y="195681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Resize cuối</a:t>
            </a:r>
            <a:endParaRPr sz="1150" b="0" i="0" u="none" strike="noStrike" cap="none">
              <a:solidFill>
                <a:schemeClr val="dk1"/>
              </a:solidFill>
              <a:latin typeface="Calibri"/>
              <a:ea typeface="Calibri"/>
              <a:cs typeface="Calibri"/>
              <a:sym typeface="Calibri"/>
            </a:endParaRPr>
          </a:p>
        </p:txBody>
      </p:sp>
      <p:sp>
        <p:nvSpPr>
          <p:cNvPr id="353" name="Google Shape;353;p13"/>
          <p:cNvSpPr/>
          <p:nvPr/>
        </p:nvSpPr>
        <p:spPr>
          <a:xfrm>
            <a:off x="7379208" y="223113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224 × 224</a:t>
            </a:r>
            <a:endParaRPr sz="950" b="0" i="0" u="none" strike="noStrike" cap="none">
              <a:solidFill>
                <a:schemeClr val="dk1"/>
              </a:solidFill>
              <a:latin typeface="Calibri"/>
              <a:ea typeface="Calibri"/>
              <a:cs typeface="Calibri"/>
              <a:sym typeface="Calibri"/>
            </a:endParaRPr>
          </a:p>
        </p:txBody>
      </p:sp>
      <p:cxnSp>
        <p:nvCxnSpPr>
          <p:cNvPr id="354" name="Google Shape;354;p13"/>
          <p:cNvCxnSpPr/>
          <p:nvPr/>
        </p:nvCxnSpPr>
        <p:spPr>
          <a:xfrm>
            <a:off x="9217152" y="2029968"/>
            <a:ext cx="237744" cy="0"/>
          </a:xfrm>
          <a:prstGeom prst="straightConnector1">
            <a:avLst/>
          </a:prstGeom>
          <a:noFill/>
          <a:ln w="15875" cap="flat" cmpd="sng">
            <a:solidFill>
              <a:srgbClr val="5C6E73"/>
            </a:solidFill>
            <a:prstDash val="solid"/>
            <a:round/>
            <a:headEnd type="none" w="sm" len="sm"/>
            <a:tailEnd type="triangle" w="med" len="med"/>
          </a:ln>
        </p:spPr>
      </p:cxnSp>
      <p:sp>
        <p:nvSpPr>
          <p:cNvPr id="355" name="Google Shape;355;p13"/>
          <p:cNvSpPr/>
          <p:nvPr/>
        </p:nvSpPr>
        <p:spPr>
          <a:xfrm>
            <a:off x="9473184" y="1417320"/>
            <a:ext cx="1975104" cy="1234440"/>
          </a:xfrm>
          <a:prstGeom prst="roundRect">
            <a:avLst>
              <a:gd name="adj" fmla="val 4444"/>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3"/>
          <p:cNvSpPr/>
          <p:nvPr/>
        </p:nvSpPr>
        <p:spPr>
          <a:xfrm>
            <a:off x="9610344" y="1554480"/>
            <a:ext cx="310896" cy="310896"/>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9610344" y="1554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5</a:t>
            </a:r>
            <a:endParaRPr sz="1050" b="0" i="0" u="none" strike="noStrike" cap="none">
              <a:solidFill>
                <a:schemeClr val="dk1"/>
              </a:solidFill>
              <a:latin typeface="Calibri"/>
              <a:ea typeface="Calibri"/>
              <a:cs typeface="Calibri"/>
              <a:sym typeface="Calibri"/>
            </a:endParaRPr>
          </a:p>
        </p:txBody>
      </p:sp>
      <p:sp>
        <p:nvSpPr>
          <p:cNvPr id="358" name="Google Shape;358;p13"/>
          <p:cNvSpPr/>
          <p:nvPr/>
        </p:nvSpPr>
        <p:spPr>
          <a:xfrm>
            <a:off x="9610344" y="195681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float32 / 255</a:t>
            </a:r>
            <a:endParaRPr sz="1150" b="0" i="0" u="none" strike="noStrike" cap="none">
              <a:solidFill>
                <a:schemeClr val="dk1"/>
              </a:solidFill>
              <a:latin typeface="Calibri"/>
              <a:ea typeface="Calibri"/>
              <a:cs typeface="Calibri"/>
              <a:sym typeface="Calibri"/>
            </a:endParaRPr>
          </a:p>
        </p:txBody>
      </p:sp>
      <p:sp>
        <p:nvSpPr>
          <p:cNvPr id="359" name="Google Shape;359;p13"/>
          <p:cNvSpPr/>
          <p:nvPr/>
        </p:nvSpPr>
        <p:spPr>
          <a:xfrm>
            <a:off x="9610344" y="2231136"/>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 [0, 1]</a:t>
            </a:r>
            <a:endParaRPr sz="950" b="0" i="0" u="none" strike="noStrike" cap="none">
              <a:solidFill>
                <a:schemeClr val="dk1"/>
              </a:solidFill>
              <a:latin typeface="Calibri"/>
              <a:ea typeface="Calibri"/>
              <a:cs typeface="Calibri"/>
              <a:sym typeface="Calibri"/>
            </a:endParaRPr>
          </a:p>
        </p:txBody>
      </p:sp>
      <p:sp>
        <p:nvSpPr>
          <p:cNvPr id="360" name="Google Shape;360;p13"/>
          <p:cNvSpPr/>
          <p:nvPr/>
        </p:nvSpPr>
        <p:spPr>
          <a:xfrm>
            <a:off x="548640" y="2880360"/>
            <a:ext cx="5349240" cy="1600200"/>
          </a:xfrm>
          <a:prstGeom prst="roundRect">
            <a:avLst>
              <a:gd name="adj" fmla="val 34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3"/>
          <p:cNvSpPr/>
          <p:nvPr/>
        </p:nvSpPr>
        <p:spPr>
          <a:xfrm>
            <a:off x="822960" y="306324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Shape sau loader</a:t>
            </a:r>
            <a:endParaRPr sz="1250" b="0" i="0" u="none" strike="noStrike" cap="none">
              <a:solidFill>
                <a:schemeClr val="dk1"/>
              </a:solidFill>
              <a:latin typeface="Calibri"/>
              <a:ea typeface="Calibri"/>
              <a:cs typeface="Calibri"/>
              <a:sym typeface="Calibri"/>
            </a:endParaRPr>
          </a:p>
        </p:txBody>
      </p:sp>
      <p:sp>
        <p:nvSpPr>
          <p:cNvPr id="362" name="Google Shape;362;p13"/>
          <p:cNvSpPr/>
          <p:nvPr/>
        </p:nvSpPr>
        <p:spPr>
          <a:xfrm>
            <a:off x="822960" y="3364992"/>
            <a:ext cx="4846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Courier New"/>
              <a:buNone/>
            </a:pPr>
            <a:r>
              <a:rPr lang="en-US" sz="1250" b="1" i="0" u="none" strike="noStrike" cap="none">
                <a:solidFill>
                  <a:srgbClr val="1B2B31"/>
                </a:solidFill>
                <a:latin typeface="Courier New"/>
                <a:ea typeface="Courier New"/>
                <a:cs typeface="Courier New"/>
                <a:sym typeface="Courier New"/>
              </a:rPr>
              <a:t>[memory_size, 224, 224, 3] = [8, 224, 224, 3]</a:t>
            </a:r>
            <a:endParaRPr sz="1250" b="0" i="0" u="none" strike="noStrike" cap="none">
              <a:solidFill>
                <a:schemeClr val="dk1"/>
              </a:solidFill>
              <a:latin typeface="Calibri"/>
              <a:ea typeface="Calibri"/>
              <a:cs typeface="Calibri"/>
              <a:sym typeface="Calibri"/>
            </a:endParaRPr>
          </a:p>
        </p:txBody>
      </p:sp>
      <p:sp>
        <p:nvSpPr>
          <p:cNvPr id="363" name="Google Shape;363;p13"/>
          <p:cNvSpPr/>
          <p:nvPr/>
        </p:nvSpPr>
        <p:spPr>
          <a:xfrm>
            <a:off x="822960" y="3703320"/>
            <a:ext cx="45720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Sau collate / unsqueeze(0):</a:t>
            </a:r>
            <a:endParaRPr sz="1100" b="0" i="0" u="none" strike="noStrike" cap="none">
              <a:solidFill>
                <a:schemeClr val="dk1"/>
              </a:solidFill>
              <a:latin typeface="Calibri"/>
              <a:ea typeface="Calibri"/>
              <a:cs typeface="Calibri"/>
              <a:sym typeface="Calibri"/>
            </a:endParaRPr>
          </a:p>
        </p:txBody>
      </p:sp>
      <p:sp>
        <p:nvSpPr>
          <p:cNvPr id="364" name="Google Shape;364;p13"/>
          <p:cNvSpPr/>
          <p:nvPr/>
        </p:nvSpPr>
        <p:spPr>
          <a:xfrm>
            <a:off x="822960" y="3950208"/>
            <a:ext cx="4846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Courier New"/>
              <a:buNone/>
            </a:pPr>
            <a:r>
              <a:rPr lang="en-US" sz="1250" b="1" i="0" u="none" strike="noStrike" cap="none">
                <a:solidFill>
                  <a:srgbClr val="1B2B31"/>
                </a:solidFill>
                <a:latin typeface="Courier New"/>
                <a:ea typeface="Courier New"/>
                <a:cs typeface="Courier New"/>
                <a:sym typeface="Courier New"/>
              </a:rPr>
              <a:t>[B, T, H, W, C] = [1, 8, 224, 224, 3]</a:t>
            </a:r>
            <a:endParaRPr sz="1250" b="0" i="0" u="none" strike="noStrike" cap="none">
              <a:solidFill>
                <a:schemeClr val="dk1"/>
              </a:solidFill>
              <a:latin typeface="Calibri"/>
              <a:ea typeface="Calibri"/>
              <a:cs typeface="Calibri"/>
              <a:sym typeface="Calibri"/>
            </a:endParaRPr>
          </a:p>
        </p:txBody>
      </p:sp>
      <p:sp>
        <p:nvSpPr>
          <p:cNvPr id="365" name="Google Shape;365;p13"/>
          <p:cNvSpPr/>
          <p:nvPr/>
        </p:nvSpPr>
        <p:spPr>
          <a:xfrm>
            <a:off x="6291072" y="2880360"/>
            <a:ext cx="5349240" cy="1600200"/>
          </a:xfrm>
          <a:prstGeom prst="roundRect">
            <a:avLst>
              <a:gd name="adj" fmla="val 3429"/>
            </a:avLst>
          </a:prstGeom>
          <a:solidFill>
            <a:srgbClr val="FFFFFF"/>
          </a:solidFill>
          <a:ln w="1777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6565392" y="3063240"/>
            <a:ext cx="48463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Normalization KHÔNG nằm ở loader</a:t>
            </a:r>
            <a:endParaRPr sz="1250" b="0" i="0" u="none" strike="noStrike" cap="none">
              <a:solidFill>
                <a:schemeClr val="dk1"/>
              </a:solidFill>
              <a:latin typeface="Calibri"/>
              <a:ea typeface="Calibri"/>
              <a:cs typeface="Calibri"/>
              <a:sym typeface="Calibri"/>
            </a:endParaRPr>
          </a:p>
        </p:txBody>
      </p:sp>
      <p:sp>
        <p:nvSpPr>
          <p:cNvPr id="367" name="Google Shape;367;p13"/>
          <p:cNvSpPr/>
          <p:nvPr/>
        </p:nvSpPr>
        <p:spPr>
          <a:xfrm>
            <a:off x="6565392" y="3364992"/>
            <a:ext cx="48463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ImageNet normalization xảy ra bên trong RGB backbone:</a:t>
            </a:r>
            <a:endParaRPr sz="1100" b="0" i="0" u="none" strike="noStrike" cap="none">
              <a:solidFill>
                <a:schemeClr val="dk1"/>
              </a:solidFill>
              <a:latin typeface="Calibri"/>
              <a:ea typeface="Calibri"/>
              <a:cs typeface="Calibri"/>
              <a:sym typeface="Calibri"/>
            </a:endParaRPr>
          </a:p>
        </p:txBody>
      </p:sp>
      <p:sp>
        <p:nvSpPr>
          <p:cNvPr id="368" name="Google Shape;368;p13"/>
          <p:cNvSpPr/>
          <p:nvPr/>
        </p:nvSpPr>
        <p:spPr>
          <a:xfrm>
            <a:off x="6565392" y="3639312"/>
            <a:ext cx="4846320" cy="640080"/>
          </a:xfrm>
          <a:prstGeom prst="rect">
            <a:avLst/>
          </a:prstGeom>
          <a:noFill/>
          <a:ln>
            <a:noFill/>
          </a:ln>
        </p:spPr>
        <p:txBody>
          <a:bodyPr spcFirstLastPara="1" wrap="square" lIns="0" tIns="0" rIns="0" bIns="0" anchor="ctr" anchorCtr="0">
            <a:noAutofit/>
          </a:bodyPr>
          <a:lstStyle/>
          <a:p>
            <a:pPr marL="0" marR="0" lvl="0" indent="0" algn="l" rtl="0">
              <a:lnSpc>
                <a:spcPct val="145454"/>
              </a:lnSpc>
              <a:spcBef>
                <a:spcPts val="0"/>
              </a:spcBef>
              <a:spcAft>
                <a:spcPts val="0"/>
              </a:spcAft>
              <a:buClr>
                <a:srgbClr val="1B2B31"/>
              </a:buClr>
              <a:buSzPts val="1100"/>
              <a:buFont typeface="Courier New"/>
              <a:buNone/>
            </a:pPr>
            <a:r>
              <a:rPr lang="en-US" sz="1100" b="0" i="0" u="none" strike="noStrike" cap="none">
                <a:solidFill>
                  <a:srgbClr val="1B2B31"/>
                </a:solidFill>
                <a:latin typeface="Courier New"/>
                <a:ea typeface="Courier New"/>
                <a:cs typeface="Courier New"/>
                <a:sym typeface="Courier New"/>
              </a:rPr>
              <a:t>rgb_norm = (rgb − [0.485, 0.456, 0.406])</a:t>
            </a:r>
            <a:endParaRPr sz="1100" b="0" i="0" u="none" strike="noStrike" cap="none">
              <a:solidFill>
                <a:schemeClr val="dk1"/>
              </a:solidFill>
              <a:latin typeface="Calibri"/>
              <a:ea typeface="Calibri"/>
              <a:cs typeface="Calibri"/>
              <a:sym typeface="Calibri"/>
            </a:endParaRPr>
          </a:p>
          <a:p>
            <a:pPr marL="0" marR="0" lvl="0" indent="0" algn="l" rtl="0">
              <a:lnSpc>
                <a:spcPct val="145454"/>
              </a:lnSpc>
              <a:spcBef>
                <a:spcPts val="0"/>
              </a:spcBef>
              <a:spcAft>
                <a:spcPts val="0"/>
              </a:spcAft>
              <a:buClr>
                <a:srgbClr val="1B2B31"/>
              </a:buClr>
              <a:buSzPts val="1100"/>
              <a:buFont typeface="Courier New"/>
              <a:buNone/>
            </a:pPr>
            <a:r>
              <a:rPr lang="en-US" sz="1100" b="0" i="0" u="none" strike="noStrike" cap="none">
                <a:solidFill>
                  <a:srgbClr val="1B2B31"/>
                </a:solidFill>
                <a:latin typeface="Courier New"/>
                <a:ea typeface="Courier New"/>
                <a:cs typeface="Courier New"/>
                <a:sym typeface="Courier New"/>
              </a:rPr>
              <a:t>                    / [0.229, 0.224, 0.225]</a:t>
            </a:r>
            <a:endParaRPr sz="1100" b="0" i="0" u="none" strike="noStrike" cap="none">
              <a:solidFill>
                <a:schemeClr val="dk1"/>
              </a:solidFill>
              <a:latin typeface="Calibri"/>
              <a:ea typeface="Calibri"/>
              <a:cs typeface="Calibri"/>
              <a:sym typeface="Calibri"/>
            </a:endParaRPr>
          </a:p>
        </p:txBody>
      </p:sp>
      <p:sp>
        <p:nvSpPr>
          <p:cNvPr id="369" name="Google Shape;369;p13"/>
          <p:cNvSpPr/>
          <p:nvPr/>
        </p:nvSpPr>
        <p:spPr>
          <a:xfrm>
            <a:off x="548640" y="4709160"/>
            <a:ext cx="11091672" cy="1417320"/>
          </a:xfrm>
          <a:prstGeom prst="roundRect">
            <a:avLst>
              <a:gd name="adj" fmla="val 3871"/>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p:nvPr/>
        </p:nvSpPr>
        <p:spPr>
          <a:xfrm>
            <a:off x="868680" y="489204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Chi tiết temporal-shape quan trọng</a:t>
            </a:r>
            <a:endParaRPr sz="1350" b="0" i="0" u="none" strike="noStrike" cap="none">
              <a:solidFill>
                <a:schemeClr val="dk1"/>
              </a:solidFill>
              <a:latin typeface="Calibri"/>
              <a:ea typeface="Calibri"/>
              <a:cs typeface="Calibri"/>
              <a:sym typeface="Calibri"/>
            </a:endParaRPr>
          </a:p>
        </p:txBody>
      </p:sp>
      <p:sp>
        <p:nvSpPr>
          <p:cNvPr id="371" name="Google Shape;371;p13"/>
          <p:cNvSpPr/>
          <p:nvPr/>
        </p:nvSpPr>
        <p:spPr>
          <a:xfrm>
            <a:off x="868680" y="5212080"/>
            <a:ext cx="10424160" cy="77724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Loader cấp 8 RGB history frame nhưng chỉ 1 depth frame hiện tại. RGB-D encoder vì thế nhận 8 × 256 token RGB + 1 × 256 token depth — đúng bằng sức chứa positional (memory_size + 1) × 256.</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14"/>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TIỀN XỬ LÝ</a:t>
            </a:r>
            <a:endParaRPr sz="1050" b="0" i="0" u="none" strike="noStrike" cap="none">
              <a:solidFill>
                <a:schemeClr val="dk1"/>
              </a:solidFill>
              <a:latin typeface="Calibri"/>
              <a:ea typeface="Calibri"/>
              <a:cs typeface="Calibri"/>
              <a:sym typeface="Calibri"/>
            </a:endParaRPr>
          </a:p>
        </p:txBody>
      </p:sp>
      <p:sp>
        <p:nvSpPr>
          <p:cNvPr id="378" name="Google Shape;378;p14"/>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Depth: cùng một đơn vị mét, nhưng ba đường chuyển đổi khác nhau</a:t>
            </a:r>
            <a:endParaRPr sz="2500" b="0" i="0" u="none" strike="noStrike" cap="none">
              <a:solidFill>
                <a:schemeClr val="dk1"/>
              </a:solidFill>
              <a:latin typeface="Calibri"/>
              <a:ea typeface="Calibri"/>
              <a:cs typeface="Calibri"/>
              <a:sym typeface="Calibri"/>
            </a:endParaRPr>
          </a:p>
        </p:txBody>
      </p:sp>
      <p:sp>
        <p:nvSpPr>
          <p:cNvPr id="379" name="Google Shape;379;p14"/>
          <p:cNvSpPr/>
          <p:nvPr/>
        </p:nvSpPr>
        <p:spPr>
          <a:xfrm>
            <a:off x="548640" y="1371600"/>
            <a:ext cx="5120640" cy="2148840"/>
          </a:xfrm>
          <a:prstGeom prst="roundRect">
            <a:avLst>
              <a:gd name="adj" fmla="val 2553"/>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4"/>
          <p:cNvSpPr/>
          <p:nvPr/>
        </p:nvSpPr>
        <p:spPr>
          <a:xfrm>
            <a:off x="822960" y="155448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Đường InternData-N1 (đã dùng)</a:t>
            </a:r>
            <a:endParaRPr sz="1250" b="0" i="0" u="none" strike="noStrike" cap="none">
              <a:solidFill>
                <a:schemeClr val="dk1"/>
              </a:solidFill>
              <a:latin typeface="Calibri"/>
              <a:ea typeface="Calibri"/>
              <a:cs typeface="Calibri"/>
              <a:sym typeface="Calibri"/>
            </a:endParaRPr>
          </a:p>
        </p:txBody>
      </p:sp>
      <p:sp>
        <p:nvSpPr>
          <p:cNvPr id="381" name="Google Shape;381;p14"/>
          <p:cNvSpPr/>
          <p:nvPr/>
        </p:nvSpPr>
        <p:spPr>
          <a:xfrm>
            <a:off x="822960" y="187452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Courier New"/>
              <a:buNone/>
            </a:pPr>
            <a:r>
              <a:rPr lang="en-US" sz="1200" b="1" i="0" u="none" strike="noStrike" cap="none">
                <a:solidFill>
                  <a:srgbClr val="1B2B31"/>
                </a:solidFill>
                <a:latin typeface="Courier New"/>
                <a:ea typeface="Courier New"/>
                <a:cs typeface="Courier New"/>
                <a:sym typeface="Courier New"/>
              </a:rPr>
              <a:t>depth_m = raw_uint16 / 10000.0</a:t>
            </a:r>
            <a:endParaRPr sz="1200" b="0" i="0" u="none" strike="noStrike" cap="none">
              <a:solidFill>
                <a:schemeClr val="dk1"/>
              </a:solidFill>
              <a:latin typeface="Calibri"/>
              <a:ea typeface="Calibri"/>
              <a:cs typeface="Calibri"/>
              <a:sym typeface="Calibri"/>
            </a:endParaRPr>
          </a:p>
        </p:txBody>
      </p:sp>
      <p:sp>
        <p:nvSpPr>
          <p:cNvPr id="382" name="Google Shape;382;p14"/>
          <p:cNvSpPr/>
          <p:nvPr/>
        </p:nvSpPr>
        <p:spPr>
          <a:xfrm>
            <a:off x="822960" y="2240280"/>
            <a:ext cx="4663440" cy="100584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Resize / pad về 224 × 224 × 1</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Gán 0 cho depth &gt; 5.0 m và depth &lt; 0.1 m</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Output float32, đơn vị mét</a:t>
            </a:r>
            <a:endParaRPr sz="1150" b="0" i="0" u="none" strike="noStrike" cap="none">
              <a:solidFill>
                <a:schemeClr val="dk1"/>
              </a:solidFill>
              <a:latin typeface="Calibri"/>
              <a:ea typeface="Calibri"/>
              <a:cs typeface="Calibri"/>
              <a:sym typeface="Calibri"/>
            </a:endParaRPr>
          </a:p>
        </p:txBody>
      </p:sp>
      <p:sp>
        <p:nvSpPr>
          <p:cNvPr id="383" name="Google Shape;383;p14"/>
          <p:cNvSpPr/>
          <p:nvPr/>
        </p:nvSpPr>
        <p:spPr>
          <a:xfrm>
            <a:off x="6035040" y="1371600"/>
            <a:ext cx="5605272" cy="2148840"/>
          </a:xfrm>
          <a:prstGeom prst="roundRect">
            <a:avLst>
              <a:gd name="adj" fmla="val 2553"/>
            </a:avLst>
          </a:prstGeom>
          <a:solidFill>
            <a:srgbClr val="FFFFFF"/>
          </a:solidFill>
          <a:ln w="1777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4"/>
          <p:cNvSpPr/>
          <p:nvPr/>
        </p:nvSpPr>
        <p:spPr>
          <a:xfrm>
            <a:off x="6309360" y="1554480"/>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Cách đọc giá trị 0</a:t>
            </a:r>
            <a:endParaRPr sz="1250" b="0" i="0" u="none" strike="noStrike" cap="none">
              <a:solidFill>
                <a:schemeClr val="dk1"/>
              </a:solidFill>
              <a:latin typeface="Calibri"/>
              <a:ea typeface="Calibri"/>
              <a:cs typeface="Calibri"/>
              <a:sym typeface="Calibri"/>
            </a:endParaRPr>
          </a:p>
        </p:txBody>
      </p:sp>
      <p:sp>
        <p:nvSpPr>
          <p:cNvPr id="385" name="Google Shape;385;p14"/>
          <p:cNvSpPr/>
          <p:nvPr/>
        </p:nvSpPr>
        <p:spPr>
          <a:xfrm>
            <a:off x="6309360" y="1874520"/>
            <a:ext cx="5029200" cy="1280160"/>
          </a:xfrm>
          <a:prstGeom prst="rect">
            <a:avLst/>
          </a:prstGeom>
          <a:noFill/>
          <a:ln>
            <a:noFill/>
          </a:ln>
        </p:spPr>
        <p:txBody>
          <a:bodyPr spcFirstLastPara="1" wrap="square" lIns="0" tIns="0" rIns="0" bIns="0" anchor="ctr" anchorCtr="0">
            <a:noAutofit/>
          </a:bodyPr>
          <a:lstStyle/>
          <a:p>
            <a:pPr marL="0" marR="0" lvl="0" indent="0" algn="l" rtl="0">
              <a:lnSpc>
                <a:spcPct val="141666"/>
              </a:lnSpc>
              <a:spcBef>
                <a:spcPts val="0"/>
              </a:spcBef>
              <a:spcAft>
                <a:spcPts val="0"/>
              </a:spcAft>
              <a:buClr>
                <a:srgbClr val="1B2B31"/>
              </a:buClr>
              <a:buSzPts val="1200"/>
              <a:buFont typeface="Arial"/>
              <a:buNone/>
            </a:pPr>
            <a:r>
              <a:rPr lang="en-US" sz="1200" b="0" i="0" u="none" strike="noStrike" cap="none">
                <a:solidFill>
                  <a:srgbClr val="1B2B31"/>
                </a:solidFill>
                <a:latin typeface="Arial"/>
                <a:ea typeface="Arial"/>
                <a:cs typeface="Arial"/>
                <a:sym typeface="Arial"/>
              </a:rPr>
              <a:t>Sau bước clip, giá trị 0 có thể là invalid, out-of-range hoặc padding. Không được hiểu là “có vật thể sát camera ở 0 mét”. Đây là lý do min/max depth phải in ra theo mét khi debug.</a:t>
            </a:r>
            <a:endParaRPr sz="1200" b="0" i="0" u="none" strike="noStrike" cap="none">
              <a:solidFill>
                <a:schemeClr val="dk1"/>
              </a:solidFill>
              <a:latin typeface="Calibri"/>
              <a:ea typeface="Calibri"/>
              <a:cs typeface="Calibri"/>
              <a:sym typeface="Calibri"/>
            </a:endParaRPr>
          </a:p>
        </p:txBody>
      </p:sp>
      <p:sp>
        <p:nvSpPr>
          <p:cNvPr id="386" name="Google Shape;386;p14"/>
          <p:cNvSpPr/>
          <p:nvPr/>
        </p:nvSpPr>
        <p:spPr>
          <a:xfrm>
            <a:off x="548640" y="3703320"/>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50"/>
              <a:buFont typeface="Arial"/>
              <a:buNone/>
            </a:pPr>
            <a:r>
              <a:rPr lang="en-US" sz="1350" b="1" i="0" u="none" strike="noStrike" cap="none">
                <a:solidFill>
                  <a:srgbClr val="1B2B31"/>
                </a:solidFill>
                <a:latin typeface="Arial"/>
                <a:ea typeface="Arial"/>
                <a:cs typeface="Arial"/>
                <a:sym typeface="Arial"/>
              </a:rPr>
              <a:t>Ba nguồn depth trong repo — không được áp một phép scale cho tất cả</a:t>
            </a:r>
            <a:endParaRPr sz="1350" b="0" i="0" u="none" strike="noStrike" cap="none">
              <a:solidFill>
                <a:schemeClr val="dk1"/>
              </a:solidFill>
              <a:latin typeface="Calibri"/>
              <a:ea typeface="Calibri"/>
              <a:cs typeface="Calibri"/>
              <a:sym typeface="Calibri"/>
            </a:endParaRPr>
          </a:p>
        </p:txBody>
      </p:sp>
      <p:graphicFrame>
        <p:nvGraphicFramePr>
          <p:cNvPr id="387" name="Google Shape;387;p14"/>
          <p:cNvGraphicFramePr/>
          <p:nvPr/>
        </p:nvGraphicFramePr>
        <p:xfrm>
          <a:off x="548640" y="4069080"/>
          <a:ext cx="3000000" cy="3000000"/>
        </p:xfrm>
        <a:graphic>
          <a:graphicData uri="http://schemas.openxmlformats.org/drawingml/2006/table">
            <a:tbl>
              <a:tblPr>
                <a:noFill/>
                <a:tableStyleId>{F1D69EF9-3EB6-4A34-B587-486656E65251}</a:tableStyleId>
              </a:tblPr>
              <a:tblGrid>
                <a:gridCol w="356615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325100">
                  <a:extLst>
                    <a:ext uri="{9D8B030D-6E8A-4147-A177-3AD203B41FA5}">
                      <a16:colId xmlns:a16="http://schemas.microsoft.com/office/drawing/2014/main" val="20002"/>
                    </a:ext>
                  </a:extLst>
                </a:gridCol>
              </a:tblGrid>
              <a:tr h="457200">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Nguồn</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Depth đầu vào</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150"/>
                        <a:buFont typeface="Arial"/>
                        <a:buNone/>
                      </a:pPr>
                      <a:r>
                        <a:rPr lang="en-US" sz="1150" b="1" u="none" strike="noStrike" cap="none">
                          <a:solidFill>
                            <a:srgbClr val="FFFFFF"/>
                          </a:solidFill>
                          <a:latin typeface="Arial"/>
                          <a:ea typeface="Arial"/>
                          <a:cs typeface="Arial"/>
                          <a:sym typeface="Arial"/>
                        </a:rPr>
                        <a:t>Chuyển đổi trước khi vào S1</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457200">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InternData-N1 PNG (offline loader)</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uint16 encoded</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Chia 10000.0 → mét; ngoài 0.1–5 m đặt về 0</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7200">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Notebook / real-world async agent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Caller phải đưa sẵn theo mét</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Chỉ resize; không nhân, không chia</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457200">
                <a:tc>
                  <a:txBody>
                    <a:bodyPr/>
                    <a:lstStyle/>
                    <a:p>
                      <a:pPr marL="0" marR="0" lvl="0" indent="0" algn="l" rtl="0">
                        <a:spcBef>
                          <a:spcPts val="0"/>
                        </a:spcBef>
                        <a:spcAft>
                          <a:spcPts val="0"/>
                        </a:spcAft>
                        <a:buClr>
                          <a:srgbClr val="1B2B31"/>
                        </a:buClr>
                        <a:buSzPts val="1150"/>
                        <a:buFont typeface="Arial"/>
                        <a:buNone/>
                      </a:pPr>
                      <a:r>
                        <a:rPr lang="en-US" sz="1150" b="1" u="none" strike="noStrike" cap="none">
                          <a:solidFill>
                            <a:srgbClr val="1B2B31"/>
                          </a:solidFill>
                          <a:latin typeface="Arial"/>
                          <a:ea typeface="Arial"/>
                          <a:cs typeface="Arial"/>
                          <a:sym typeface="Arial"/>
                        </a:rPr>
                        <a:t>Habitat / evaluator agent async</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Normalized theo sensor range</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150"/>
                        <a:buFont typeface="Arial"/>
                        <a:buNone/>
                      </a:pPr>
                      <a:r>
                        <a:rPr lang="en-US" sz="1150" u="none" strike="noStrike" cap="none">
                          <a:solidFill>
                            <a:srgbClr val="1B2B31"/>
                          </a:solidFill>
                          <a:latin typeface="Arial"/>
                          <a:ea typeface="Arial"/>
                          <a:cs typeface="Arial"/>
                          <a:sym typeface="Arial"/>
                        </a:rPr>
                        <a:t>Nhân 10.0, rồi cap phần &gt; 5 m về 5 m</a:t>
                      </a:r>
                      <a:endParaRPr sz="11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388" name="Google Shape;388;p14"/>
          <p:cNvSpPr/>
          <p:nvPr/>
        </p:nvSpPr>
        <p:spPr>
          <a:xfrm>
            <a:off x="548640" y="5623560"/>
            <a:ext cx="11091672" cy="713232"/>
          </a:xfrm>
          <a:prstGeom prst="roundRect">
            <a:avLst>
              <a:gd name="adj" fmla="val 7692"/>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4"/>
          <p:cNvSpPr/>
          <p:nvPr/>
        </p:nvSpPr>
        <p:spPr>
          <a:xfrm>
            <a:off x="822960" y="5623560"/>
            <a:ext cx="10543032" cy="7132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150"/>
              <a:buFont typeface="Arial"/>
              <a:buNone/>
            </a:pPr>
            <a:r>
              <a:rPr lang="en-US" sz="1150" b="0" i="0" u="none" strike="noStrike" cap="none">
                <a:solidFill>
                  <a:srgbClr val="C7DADC"/>
                </a:solidFill>
                <a:latin typeface="Arial"/>
                <a:ea typeface="Arial"/>
                <a:cs typeface="Arial"/>
                <a:sym typeface="Arial"/>
              </a:rPr>
              <a:t>Smoke test đã chạy đi theo dòng InternData PNG — không đi qua phép nhân 10 của Habitat. Câu “depth của S1 có đơn vị mét” chỉ đúng tại boundary của model.</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5"/>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HÌNH HỌC</a:t>
            </a:r>
            <a:endParaRPr sz="1050" b="0" i="0" u="none" strike="noStrike" cap="none">
              <a:solidFill>
                <a:schemeClr val="dk1"/>
              </a:solidFill>
              <a:latin typeface="Calibri"/>
              <a:ea typeface="Calibri"/>
              <a:cs typeface="Calibri"/>
              <a:sym typeface="Calibri"/>
            </a:endParaRPr>
          </a:p>
        </p:txBody>
      </p:sp>
      <p:sp>
        <p:nvSpPr>
          <p:cNvPr id="396" name="Google Shape;396;p15"/>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Từ transform 4×4 sang hệ robot-local</a:t>
            </a:r>
            <a:endParaRPr sz="2500" b="0" i="0" u="none" strike="noStrike" cap="none">
              <a:solidFill>
                <a:schemeClr val="dk1"/>
              </a:solidFill>
              <a:latin typeface="Calibri"/>
              <a:ea typeface="Calibri"/>
              <a:cs typeface="Calibri"/>
              <a:sym typeface="Calibri"/>
            </a:endParaRPr>
          </a:p>
        </p:txBody>
      </p:sp>
      <p:sp>
        <p:nvSpPr>
          <p:cNvPr id="397" name="Google Shape;397;p15"/>
          <p:cNvSpPr/>
          <p:nvPr/>
        </p:nvSpPr>
        <p:spPr>
          <a:xfrm>
            <a:off x="548640" y="1600200"/>
            <a:ext cx="2148840" cy="731520"/>
          </a:xfrm>
          <a:prstGeom prst="roundRect">
            <a:avLst>
              <a:gd name="adj" fmla="val 6250"/>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5"/>
          <p:cNvSpPr/>
          <p:nvPr/>
        </p:nvSpPr>
        <p:spPr>
          <a:xfrm>
            <a:off x="603504" y="1682496"/>
            <a:ext cx="20391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action trong Parquet</a:t>
            </a:r>
            <a:endParaRPr sz="1100" b="0" i="0" u="none" strike="noStrike" cap="none">
              <a:solidFill>
                <a:schemeClr val="dk1"/>
              </a:solidFill>
              <a:latin typeface="Calibri"/>
              <a:ea typeface="Calibri"/>
              <a:cs typeface="Calibri"/>
              <a:sym typeface="Calibri"/>
            </a:endParaRPr>
          </a:p>
        </p:txBody>
      </p:sp>
      <p:sp>
        <p:nvSpPr>
          <p:cNvPr id="399" name="Google Shape;399;p15"/>
          <p:cNvSpPr/>
          <p:nvPr/>
        </p:nvSpPr>
        <p:spPr>
          <a:xfrm>
            <a:off x="603504" y="1956816"/>
            <a:ext cx="20391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Courier New"/>
              <a:buNone/>
            </a:pPr>
            <a:r>
              <a:rPr lang="en-US" sz="900" b="0" i="0" u="none" strike="noStrike" cap="none">
                <a:solidFill>
                  <a:srgbClr val="5C6E73"/>
                </a:solidFill>
                <a:latin typeface="Courier New"/>
                <a:ea typeface="Courier New"/>
                <a:cs typeface="Courier New"/>
                <a:sym typeface="Courier New"/>
              </a:rPr>
              <a:t>reshape → 4×4</a:t>
            </a:r>
            <a:endParaRPr sz="900" b="0" i="0" u="none" strike="noStrike" cap="none">
              <a:solidFill>
                <a:schemeClr val="dk1"/>
              </a:solidFill>
              <a:latin typeface="Calibri"/>
              <a:ea typeface="Calibri"/>
              <a:cs typeface="Calibri"/>
              <a:sym typeface="Calibri"/>
            </a:endParaRPr>
          </a:p>
        </p:txBody>
      </p:sp>
      <p:cxnSp>
        <p:nvCxnSpPr>
          <p:cNvPr id="400" name="Google Shape;400;p15"/>
          <p:cNvCxnSpPr/>
          <p:nvPr/>
        </p:nvCxnSpPr>
        <p:spPr>
          <a:xfrm>
            <a:off x="2697480" y="1965960"/>
            <a:ext cx="457200" cy="0"/>
          </a:xfrm>
          <a:prstGeom prst="straightConnector1">
            <a:avLst/>
          </a:prstGeom>
          <a:noFill/>
          <a:ln w="15875" cap="flat" cmpd="sng">
            <a:solidFill>
              <a:srgbClr val="5C6E73"/>
            </a:solidFill>
            <a:prstDash val="solid"/>
            <a:round/>
            <a:headEnd type="none" w="sm" len="sm"/>
            <a:tailEnd type="triangle" w="med" len="med"/>
          </a:ln>
        </p:spPr>
      </p:cxnSp>
      <p:sp>
        <p:nvSpPr>
          <p:cNvPr id="401" name="Google Shape;401;p15"/>
          <p:cNvSpPr/>
          <p:nvPr/>
        </p:nvSpPr>
        <p:spPr>
          <a:xfrm>
            <a:off x="3154680" y="1600200"/>
            <a:ext cx="2148840" cy="731520"/>
          </a:xfrm>
          <a:prstGeom prst="roundRect">
            <a:avLst>
              <a:gd name="adj" fmla="val 6250"/>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5"/>
          <p:cNvSpPr/>
          <p:nvPr/>
        </p:nvSpPr>
        <p:spPr>
          <a:xfrm>
            <a:off x="3209544" y="1682496"/>
            <a:ext cx="20391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Pose tại start_step</a:t>
            </a:r>
            <a:endParaRPr sz="1100" b="0" i="0" u="none" strike="noStrike" cap="none">
              <a:solidFill>
                <a:schemeClr val="dk1"/>
              </a:solidFill>
              <a:latin typeface="Calibri"/>
              <a:ea typeface="Calibri"/>
              <a:cs typeface="Calibri"/>
              <a:sym typeface="Calibri"/>
            </a:endParaRPr>
          </a:p>
        </p:txBody>
      </p:sp>
      <p:sp>
        <p:nvSpPr>
          <p:cNvPr id="403" name="Google Shape;403;p15"/>
          <p:cNvSpPr/>
          <p:nvPr/>
        </p:nvSpPr>
        <p:spPr>
          <a:xfrm>
            <a:off x="3209544" y="1956816"/>
            <a:ext cx="20391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chọn làm gốc</a:t>
            </a:r>
            <a:endParaRPr sz="900" b="0" i="0" u="none" strike="noStrike" cap="none">
              <a:solidFill>
                <a:schemeClr val="dk1"/>
              </a:solidFill>
              <a:latin typeface="Calibri"/>
              <a:ea typeface="Calibri"/>
              <a:cs typeface="Calibri"/>
              <a:sym typeface="Calibri"/>
            </a:endParaRPr>
          </a:p>
        </p:txBody>
      </p:sp>
      <p:cxnSp>
        <p:nvCxnSpPr>
          <p:cNvPr id="404" name="Google Shape;404;p15"/>
          <p:cNvCxnSpPr/>
          <p:nvPr/>
        </p:nvCxnSpPr>
        <p:spPr>
          <a:xfrm>
            <a:off x="5303520" y="1965960"/>
            <a:ext cx="457200" cy="0"/>
          </a:xfrm>
          <a:prstGeom prst="straightConnector1">
            <a:avLst/>
          </a:prstGeom>
          <a:noFill/>
          <a:ln w="15875" cap="flat" cmpd="sng">
            <a:solidFill>
              <a:srgbClr val="028090"/>
            </a:solidFill>
            <a:prstDash val="solid"/>
            <a:round/>
            <a:headEnd type="none" w="sm" len="sm"/>
            <a:tailEnd type="triangle" w="med" len="med"/>
          </a:ln>
        </p:spPr>
      </p:cxnSp>
      <p:sp>
        <p:nvSpPr>
          <p:cNvPr id="405" name="Google Shape;405;p15"/>
          <p:cNvSpPr/>
          <p:nvPr/>
        </p:nvSpPr>
        <p:spPr>
          <a:xfrm>
            <a:off x="5760720" y="1600200"/>
            <a:ext cx="2148840" cy="731520"/>
          </a:xfrm>
          <a:prstGeom prst="roundRect">
            <a:avLst>
              <a:gd name="adj" fmla="val 6250"/>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5"/>
          <p:cNvSpPr/>
          <p:nvPr/>
        </p:nvSpPr>
        <p:spPr>
          <a:xfrm>
            <a:off x="5815584" y="1682496"/>
            <a:ext cx="20391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Future poses → local</a:t>
            </a:r>
            <a:endParaRPr sz="1100" b="0" i="0" u="none" strike="noStrike" cap="none">
              <a:solidFill>
                <a:schemeClr val="dk1"/>
              </a:solidFill>
              <a:latin typeface="Calibri"/>
              <a:ea typeface="Calibri"/>
              <a:cs typeface="Calibri"/>
              <a:sym typeface="Calibri"/>
            </a:endParaRPr>
          </a:p>
        </p:txBody>
      </p:sp>
      <p:sp>
        <p:nvSpPr>
          <p:cNvPr id="407" name="Google Shape;407;p15"/>
          <p:cNvSpPr/>
          <p:nvPr/>
        </p:nvSpPr>
        <p:spPr>
          <a:xfrm>
            <a:off x="5815584" y="1956816"/>
            <a:ext cx="20391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world → robot frame</a:t>
            </a:r>
            <a:endParaRPr sz="900" b="0" i="0" u="none" strike="noStrike" cap="none">
              <a:solidFill>
                <a:schemeClr val="dk1"/>
              </a:solidFill>
              <a:latin typeface="Calibri"/>
              <a:ea typeface="Calibri"/>
              <a:cs typeface="Calibri"/>
              <a:sym typeface="Calibri"/>
            </a:endParaRPr>
          </a:p>
        </p:txBody>
      </p:sp>
      <p:cxnSp>
        <p:nvCxnSpPr>
          <p:cNvPr id="408" name="Google Shape;408;p15"/>
          <p:cNvCxnSpPr/>
          <p:nvPr/>
        </p:nvCxnSpPr>
        <p:spPr>
          <a:xfrm>
            <a:off x="7909560" y="1965960"/>
            <a:ext cx="457200" cy="0"/>
          </a:xfrm>
          <a:prstGeom prst="straightConnector1">
            <a:avLst/>
          </a:prstGeom>
          <a:noFill/>
          <a:ln w="15875" cap="flat" cmpd="sng">
            <a:solidFill>
              <a:srgbClr val="028090"/>
            </a:solidFill>
            <a:prstDash val="solid"/>
            <a:round/>
            <a:headEnd type="none" w="sm" len="sm"/>
            <a:tailEnd type="triangle" w="med" len="med"/>
          </a:ln>
        </p:spPr>
      </p:cxnSp>
      <p:sp>
        <p:nvSpPr>
          <p:cNvPr id="409" name="Google Shape;409;p15"/>
          <p:cNvSpPr/>
          <p:nvPr/>
        </p:nvSpPr>
        <p:spPr>
          <a:xfrm>
            <a:off x="8366760" y="1600200"/>
            <a:ext cx="3273552" cy="731520"/>
          </a:xfrm>
          <a:prstGeom prst="roundRect">
            <a:avLst>
              <a:gd name="adj" fmla="val 6250"/>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5"/>
          <p:cNvSpPr/>
          <p:nvPr/>
        </p:nvSpPr>
        <p:spPr>
          <a:xfrm>
            <a:off x="8421624" y="1682496"/>
            <a:ext cx="3163824"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xyz_to_xyt()</a:t>
            </a:r>
            <a:endParaRPr sz="1200" b="0" i="0" u="none" strike="noStrike" cap="none">
              <a:solidFill>
                <a:schemeClr val="dk1"/>
              </a:solidFill>
              <a:latin typeface="Calibri"/>
              <a:ea typeface="Calibri"/>
              <a:cs typeface="Calibri"/>
              <a:sym typeface="Calibri"/>
            </a:endParaRPr>
          </a:p>
        </p:txBody>
      </p:sp>
      <p:sp>
        <p:nvSpPr>
          <p:cNvPr id="411" name="Google Shape;411;p15"/>
          <p:cNvSpPr/>
          <p:nvPr/>
        </p:nvSpPr>
        <p:spPr>
          <a:xfrm>
            <a:off x="8421624" y="1956816"/>
            <a:ext cx="3163824"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[local_x, local_y, theta]</a:t>
            </a:r>
            <a:endParaRPr sz="950" b="0" i="0" u="none" strike="noStrike" cap="none">
              <a:solidFill>
                <a:schemeClr val="dk1"/>
              </a:solidFill>
              <a:latin typeface="Calibri"/>
              <a:ea typeface="Calibri"/>
              <a:cs typeface="Calibri"/>
              <a:sym typeface="Calibri"/>
            </a:endParaRPr>
          </a:p>
        </p:txBody>
      </p:sp>
      <p:sp>
        <p:nvSpPr>
          <p:cNvPr id="412" name="Google Shape;412;p15"/>
          <p:cNvSpPr/>
          <p:nvPr/>
        </p:nvSpPr>
        <p:spPr>
          <a:xfrm>
            <a:off x="548640" y="269748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50"/>
              <a:buFont typeface="Arial"/>
              <a:buNone/>
            </a:pPr>
            <a:r>
              <a:rPr lang="en-US" sz="1350" b="1" i="0" u="none" strike="noStrike" cap="none">
                <a:solidFill>
                  <a:srgbClr val="1B2B31"/>
                </a:solidFill>
                <a:latin typeface="Arial"/>
                <a:ea typeface="Arial"/>
                <a:cs typeface="Arial"/>
                <a:sym typeface="Arial"/>
              </a:rPr>
              <a:t>Quy ước toạ độ</a:t>
            </a:r>
            <a:endParaRPr sz="1350" b="0" i="0" u="none" strike="noStrike" cap="none">
              <a:solidFill>
                <a:schemeClr val="dk1"/>
              </a:solidFill>
              <a:latin typeface="Calibri"/>
              <a:ea typeface="Calibri"/>
              <a:cs typeface="Calibri"/>
              <a:sym typeface="Calibri"/>
            </a:endParaRPr>
          </a:p>
        </p:txBody>
      </p:sp>
      <p:sp>
        <p:nvSpPr>
          <p:cNvPr id="413" name="Google Shape;413;p15"/>
          <p:cNvSpPr/>
          <p:nvPr/>
        </p:nvSpPr>
        <p:spPr>
          <a:xfrm>
            <a:off x="548640" y="3063240"/>
            <a:ext cx="6766560" cy="530352"/>
          </a:xfrm>
          <a:prstGeom prst="roundRect">
            <a:avLst>
              <a:gd name="adj" fmla="val 10345"/>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5"/>
          <p:cNvSpPr/>
          <p:nvPr/>
        </p:nvSpPr>
        <p:spPr>
          <a:xfrm>
            <a:off x="777240" y="3063240"/>
            <a:ext cx="82296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Courier New"/>
              <a:buNone/>
            </a:pPr>
            <a:r>
              <a:rPr lang="en-US" sz="1300" b="1" i="0" u="none" strike="noStrike" cap="none">
                <a:solidFill>
                  <a:srgbClr val="028090"/>
                </a:solidFill>
                <a:latin typeface="Courier New"/>
                <a:ea typeface="Courier New"/>
                <a:cs typeface="Courier New"/>
                <a:sym typeface="Courier New"/>
              </a:rPr>
              <a:t>x</a:t>
            </a:r>
            <a:endParaRPr sz="1300" b="0" i="0" u="none" strike="noStrike" cap="none">
              <a:solidFill>
                <a:schemeClr val="dk1"/>
              </a:solidFill>
              <a:latin typeface="Calibri"/>
              <a:ea typeface="Calibri"/>
              <a:cs typeface="Calibri"/>
              <a:sym typeface="Calibri"/>
            </a:endParaRPr>
          </a:p>
        </p:txBody>
      </p:sp>
      <p:sp>
        <p:nvSpPr>
          <p:cNvPr id="415" name="Google Shape;415;p15"/>
          <p:cNvSpPr/>
          <p:nvPr/>
        </p:nvSpPr>
        <p:spPr>
          <a:xfrm>
            <a:off x="1645920" y="3063240"/>
            <a:ext cx="4572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hướng tiến / lùi</a:t>
            </a:r>
            <a:endParaRPr sz="1150" b="0" i="0" u="none" strike="noStrike" cap="none">
              <a:solidFill>
                <a:schemeClr val="dk1"/>
              </a:solidFill>
              <a:latin typeface="Calibri"/>
              <a:ea typeface="Calibri"/>
              <a:cs typeface="Calibri"/>
              <a:sym typeface="Calibri"/>
            </a:endParaRPr>
          </a:p>
        </p:txBody>
      </p:sp>
      <p:sp>
        <p:nvSpPr>
          <p:cNvPr id="416" name="Google Shape;416;p15"/>
          <p:cNvSpPr/>
          <p:nvPr/>
        </p:nvSpPr>
        <p:spPr>
          <a:xfrm>
            <a:off x="6309360" y="3063240"/>
            <a:ext cx="822960" cy="53035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100"/>
              <a:buFont typeface="Arial"/>
              <a:buNone/>
            </a:pPr>
            <a:r>
              <a:rPr lang="en-US" sz="1100" b="0" i="1" u="none" strike="noStrike" cap="none">
                <a:solidFill>
                  <a:srgbClr val="5C6E73"/>
                </a:solidFill>
                <a:latin typeface="Arial"/>
                <a:ea typeface="Arial"/>
                <a:cs typeface="Arial"/>
                <a:sym typeface="Arial"/>
              </a:rPr>
              <a:t>mét</a:t>
            </a:r>
            <a:endParaRPr sz="1100" b="0" i="0" u="none" strike="noStrike" cap="none">
              <a:solidFill>
                <a:schemeClr val="dk1"/>
              </a:solidFill>
              <a:latin typeface="Calibri"/>
              <a:ea typeface="Calibri"/>
              <a:cs typeface="Calibri"/>
              <a:sym typeface="Calibri"/>
            </a:endParaRPr>
          </a:p>
        </p:txBody>
      </p:sp>
      <p:sp>
        <p:nvSpPr>
          <p:cNvPr id="417" name="Google Shape;417;p15"/>
          <p:cNvSpPr/>
          <p:nvPr/>
        </p:nvSpPr>
        <p:spPr>
          <a:xfrm>
            <a:off x="548640" y="3703320"/>
            <a:ext cx="6766560" cy="530352"/>
          </a:xfrm>
          <a:prstGeom prst="roundRect">
            <a:avLst>
              <a:gd name="adj" fmla="val 10345"/>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5"/>
          <p:cNvSpPr/>
          <p:nvPr/>
        </p:nvSpPr>
        <p:spPr>
          <a:xfrm>
            <a:off x="777240" y="3703320"/>
            <a:ext cx="82296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Courier New"/>
              <a:buNone/>
            </a:pPr>
            <a:r>
              <a:rPr lang="en-US" sz="1300" b="1" i="0" u="none" strike="noStrike" cap="none">
                <a:solidFill>
                  <a:srgbClr val="028090"/>
                </a:solidFill>
                <a:latin typeface="Courier New"/>
                <a:ea typeface="Courier New"/>
                <a:cs typeface="Courier New"/>
                <a:sym typeface="Courier New"/>
              </a:rPr>
              <a:t>y</a:t>
            </a:r>
            <a:endParaRPr sz="1300" b="0" i="0" u="none" strike="noStrike" cap="none">
              <a:solidFill>
                <a:schemeClr val="dk1"/>
              </a:solidFill>
              <a:latin typeface="Calibri"/>
              <a:ea typeface="Calibri"/>
              <a:cs typeface="Calibri"/>
              <a:sym typeface="Calibri"/>
            </a:endParaRPr>
          </a:p>
        </p:txBody>
      </p:sp>
      <p:sp>
        <p:nvSpPr>
          <p:cNvPr id="419" name="Google Shape;419;p15"/>
          <p:cNvSpPr/>
          <p:nvPr/>
        </p:nvSpPr>
        <p:spPr>
          <a:xfrm>
            <a:off x="1645920" y="3703320"/>
            <a:ext cx="4572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trái / phải — bên phải là âm</a:t>
            </a:r>
            <a:endParaRPr sz="1150" b="0" i="0" u="none" strike="noStrike" cap="none">
              <a:solidFill>
                <a:schemeClr val="dk1"/>
              </a:solidFill>
              <a:latin typeface="Calibri"/>
              <a:ea typeface="Calibri"/>
              <a:cs typeface="Calibri"/>
              <a:sym typeface="Calibri"/>
            </a:endParaRPr>
          </a:p>
        </p:txBody>
      </p:sp>
      <p:sp>
        <p:nvSpPr>
          <p:cNvPr id="420" name="Google Shape;420;p15"/>
          <p:cNvSpPr/>
          <p:nvPr/>
        </p:nvSpPr>
        <p:spPr>
          <a:xfrm>
            <a:off x="6309360" y="3703320"/>
            <a:ext cx="822960" cy="53035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100"/>
              <a:buFont typeface="Arial"/>
              <a:buNone/>
            </a:pPr>
            <a:r>
              <a:rPr lang="en-US" sz="1100" b="0" i="1" u="none" strike="noStrike" cap="none">
                <a:solidFill>
                  <a:srgbClr val="5C6E73"/>
                </a:solidFill>
                <a:latin typeface="Arial"/>
                <a:ea typeface="Arial"/>
                <a:cs typeface="Arial"/>
                <a:sym typeface="Arial"/>
              </a:rPr>
              <a:t>mét</a:t>
            </a:r>
            <a:endParaRPr sz="1100" b="0" i="0" u="none" strike="noStrike" cap="none">
              <a:solidFill>
                <a:schemeClr val="dk1"/>
              </a:solidFill>
              <a:latin typeface="Calibri"/>
              <a:ea typeface="Calibri"/>
              <a:cs typeface="Calibri"/>
              <a:sym typeface="Calibri"/>
            </a:endParaRPr>
          </a:p>
        </p:txBody>
      </p:sp>
      <p:sp>
        <p:nvSpPr>
          <p:cNvPr id="421" name="Google Shape;421;p15"/>
          <p:cNvSpPr/>
          <p:nvPr/>
        </p:nvSpPr>
        <p:spPr>
          <a:xfrm>
            <a:off x="548640" y="4343400"/>
            <a:ext cx="6766560" cy="530352"/>
          </a:xfrm>
          <a:prstGeom prst="roundRect">
            <a:avLst>
              <a:gd name="adj" fmla="val 10345"/>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5"/>
          <p:cNvSpPr/>
          <p:nvPr/>
        </p:nvSpPr>
        <p:spPr>
          <a:xfrm>
            <a:off x="777240" y="4343400"/>
            <a:ext cx="82296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Courier New"/>
              <a:buNone/>
            </a:pPr>
            <a:r>
              <a:rPr lang="en-US" sz="1300" b="1" i="0" u="none" strike="noStrike" cap="none">
                <a:solidFill>
                  <a:srgbClr val="028090"/>
                </a:solidFill>
                <a:latin typeface="Courier New"/>
                <a:ea typeface="Courier New"/>
                <a:cs typeface="Courier New"/>
                <a:sym typeface="Courier New"/>
              </a:rPr>
              <a:t>theta</a:t>
            </a:r>
            <a:endParaRPr sz="1300" b="0" i="0" u="none" strike="noStrike" cap="none">
              <a:solidFill>
                <a:schemeClr val="dk1"/>
              </a:solidFill>
              <a:latin typeface="Calibri"/>
              <a:ea typeface="Calibri"/>
              <a:cs typeface="Calibri"/>
              <a:sym typeface="Calibri"/>
            </a:endParaRPr>
          </a:p>
        </p:txBody>
      </p:sp>
      <p:sp>
        <p:nvSpPr>
          <p:cNvPr id="423" name="Google Shape;423;p15"/>
          <p:cNvSpPr/>
          <p:nvPr/>
        </p:nvSpPr>
        <p:spPr>
          <a:xfrm>
            <a:off x="1645920" y="4343400"/>
            <a:ext cx="4572000" cy="53035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góc so với vector chuyển động ban đầu, atan2(cross, dot)</a:t>
            </a:r>
            <a:endParaRPr sz="1150" b="0" i="0" u="none" strike="noStrike" cap="none">
              <a:solidFill>
                <a:schemeClr val="dk1"/>
              </a:solidFill>
              <a:latin typeface="Calibri"/>
              <a:ea typeface="Calibri"/>
              <a:cs typeface="Calibri"/>
              <a:sym typeface="Calibri"/>
            </a:endParaRPr>
          </a:p>
        </p:txBody>
      </p:sp>
      <p:sp>
        <p:nvSpPr>
          <p:cNvPr id="424" name="Google Shape;424;p15"/>
          <p:cNvSpPr/>
          <p:nvPr/>
        </p:nvSpPr>
        <p:spPr>
          <a:xfrm>
            <a:off x="6309360" y="4343400"/>
            <a:ext cx="822960" cy="53035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100"/>
              <a:buFont typeface="Arial"/>
              <a:buNone/>
            </a:pPr>
            <a:r>
              <a:rPr lang="en-US" sz="1100" b="0" i="1" u="none" strike="noStrike" cap="none">
                <a:solidFill>
                  <a:srgbClr val="5C6E73"/>
                </a:solidFill>
                <a:latin typeface="Arial"/>
                <a:ea typeface="Arial"/>
                <a:cs typeface="Arial"/>
                <a:sym typeface="Arial"/>
              </a:rPr>
              <a:t>radian</a:t>
            </a:r>
            <a:endParaRPr sz="1100" b="0" i="0" u="none" strike="noStrike" cap="none">
              <a:solidFill>
                <a:schemeClr val="dk1"/>
              </a:solidFill>
              <a:latin typeface="Calibri"/>
              <a:ea typeface="Calibri"/>
              <a:cs typeface="Calibri"/>
              <a:sym typeface="Calibri"/>
            </a:endParaRPr>
          </a:p>
        </p:txBody>
      </p:sp>
      <p:sp>
        <p:nvSpPr>
          <p:cNvPr id="425" name="Google Shape;425;p15"/>
          <p:cNvSpPr/>
          <p:nvPr/>
        </p:nvSpPr>
        <p:spPr>
          <a:xfrm>
            <a:off x="7635240" y="2697480"/>
            <a:ext cx="4005072" cy="2450592"/>
          </a:xfrm>
          <a:prstGeom prst="roundRect">
            <a:avLst>
              <a:gd name="adj" fmla="val 2239"/>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5"/>
          <p:cNvSpPr/>
          <p:nvPr/>
        </p:nvSpPr>
        <p:spPr>
          <a:xfrm>
            <a:off x="7909560" y="2926080"/>
            <a:ext cx="3474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point_goal là gì?</a:t>
            </a:r>
            <a:endParaRPr sz="1350" b="0" i="0" u="none" strike="noStrike" cap="none">
              <a:solidFill>
                <a:schemeClr val="dk1"/>
              </a:solidFill>
              <a:latin typeface="Calibri"/>
              <a:ea typeface="Calibri"/>
              <a:cs typeface="Calibri"/>
              <a:sym typeface="Calibri"/>
            </a:endParaRPr>
          </a:p>
        </p:txBody>
      </p:sp>
      <p:sp>
        <p:nvSpPr>
          <p:cNvPr id="427" name="Google Shape;427;p15"/>
          <p:cNvSpPr/>
          <p:nvPr/>
        </p:nvSpPr>
        <p:spPr>
          <a:xfrm>
            <a:off x="7909560" y="3246120"/>
            <a:ext cx="3474720" cy="822960"/>
          </a:xfrm>
          <a:prstGeom prst="rect">
            <a:avLst/>
          </a:prstGeom>
          <a:noFill/>
          <a:ln>
            <a:noFill/>
          </a:ln>
        </p:spPr>
        <p:txBody>
          <a:bodyPr spcFirstLastPara="1" wrap="square" lIns="0" tIns="0" rIns="0" bIns="0" anchor="ctr" anchorCtr="0">
            <a:noAutofit/>
          </a:bodyPr>
          <a:lstStyle/>
          <a:p>
            <a:pPr marL="0" marR="0" lvl="0" indent="0" algn="l" rtl="0">
              <a:lnSpc>
                <a:spcPct val="139130"/>
              </a:lnSpc>
              <a:spcBef>
                <a:spcPts val="0"/>
              </a:spcBef>
              <a:spcAft>
                <a:spcPts val="0"/>
              </a:spcAft>
              <a:buClr>
                <a:srgbClr val="C7DADC"/>
              </a:buClr>
              <a:buSzPts val="1150"/>
              <a:buFont typeface="Arial"/>
              <a:buNone/>
            </a:pPr>
            <a:r>
              <a:rPr lang="en-US" sz="1150" b="0" i="0" u="none" strike="noStrike" cap="none">
                <a:solidFill>
                  <a:srgbClr val="C7DADC"/>
                </a:solidFill>
                <a:latin typeface="Arial"/>
                <a:ea typeface="Arial"/>
                <a:cs typeface="Arial"/>
                <a:sym typeface="Arial"/>
              </a:rPr>
              <a:t>Là phần tử CUỐI CÙNG của chuỗi local xyt — tức vị trí và hướng tương đối của đích so với frame bắt đầu.</a:t>
            </a:r>
            <a:endParaRPr sz="1150" b="0" i="0" u="none" strike="noStrike" cap="none">
              <a:solidFill>
                <a:schemeClr val="dk1"/>
              </a:solidFill>
              <a:latin typeface="Calibri"/>
              <a:ea typeface="Calibri"/>
              <a:cs typeface="Calibri"/>
              <a:sym typeface="Calibri"/>
            </a:endParaRPr>
          </a:p>
        </p:txBody>
      </p:sp>
      <p:sp>
        <p:nvSpPr>
          <p:cNvPr id="428" name="Google Shape;428;p15"/>
          <p:cNvSpPr/>
          <p:nvPr/>
        </p:nvSpPr>
        <p:spPr>
          <a:xfrm>
            <a:off x="7909560" y="4114800"/>
            <a:ext cx="3474720" cy="566928"/>
          </a:xfrm>
          <a:prstGeom prst="roundRect">
            <a:avLst>
              <a:gd name="adj" fmla="val 6452"/>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5"/>
          <p:cNvSpPr/>
          <p:nvPr/>
        </p:nvSpPr>
        <p:spPr>
          <a:xfrm>
            <a:off x="7909560" y="4114800"/>
            <a:ext cx="3474720"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50"/>
              <a:buFont typeface="Courier New"/>
              <a:buNone/>
            </a:pPr>
            <a:r>
              <a:rPr lang="en-US" sz="1250" b="1" i="0" u="none" strike="noStrike" cap="none">
                <a:solidFill>
                  <a:srgbClr val="FFFFFF"/>
                </a:solidFill>
                <a:latin typeface="Courier New"/>
                <a:ea typeface="Courier New"/>
                <a:cs typeface="Courier New"/>
                <a:sym typeface="Courier New"/>
              </a:rPr>
              <a:t>goal_point = [x, y, theta]</a:t>
            </a:r>
            <a:endParaRPr sz="1250" b="0" i="0" u="none" strike="noStrike" cap="none">
              <a:solidFill>
                <a:schemeClr val="dk1"/>
              </a:solidFill>
              <a:latin typeface="Calibri"/>
              <a:ea typeface="Calibri"/>
              <a:cs typeface="Calibri"/>
              <a:sym typeface="Calibri"/>
            </a:endParaRPr>
          </a:p>
        </p:txBody>
      </p:sp>
      <p:sp>
        <p:nvSpPr>
          <p:cNvPr id="430" name="Google Shape;430;p15"/>
          <p:cNvSpPr/>
          <p:nvPr/>
        </p:nvSpPr>
        <p:spPr>
          <a:xfrm>
            <a:off x="7909560" y="4754880"/>
            <a:ext cx="34747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8FAFB4"/>
              </a:buClr>
              <a:buSzPts val="1000"/>
              <a:buFont typeface="Courier New"/>
              <a:buNone/>
            </a:pPr>
            <a:r>
              <a:rPr lang="en-US" sz="1000" b="0" i="0" u="none" strike="noStrike" cap="none">
                <a:solidFill>
                  <a:srgbClr val="8FAFB4"/>
                </a:solidFill>
                <a:latin typeface="Courier New"/>
                <a:ea typeface="Courier New"/>
                <a:cs typeface="Courier New"/>
                <a:sym typeface="Courier New"/>
              </a:rPr>
              <a:t>shape [1, 3] · float32</a:t>
            </a:r>
            <a:endParaRPr sz="1000" b="0" i="0" u="none" strike="noStrike" cap="none">
              <a:solidFill>
                <a:schemeClr val="dk1"/>
              </a:solidFill>
              <a:latin typeface="Calibri"/>
              <a:ea typeface="Calibri"/>
              <a:cs typeface="Calibri"/>
              <a:sym typeface="Calibri"/>
            </a:endParaRPr>
          </a:p>
        </p:txBody>
      </p:sp>
      <p:sp>
        <p:nvSpPr>
          <p:cNvPr id="431" name="Google Shape;431;p15"/>
          <p:cNvSpPr/>
          <p:nvPr/>
        </p:nvSpPr>
        <p:spPr>
          <a:xfrm>
            <a:off x="548640" y="5440680"/>
            <a:ext cx="11091672" cy="868680"/>
          </a:xfrm>
          <a:prstGeom prst="roundRect">
            <a:avLst>
              <a:gd name="adj" fmla="val 6316"/>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5"/>
          <p:cNvSpPr/>
          <p:nvPr/>
        </p:nvSpPr>
        <p:spPr>
          <a:xfrm>
            <a:off x="822960" y="5440680"/>
            <a:ext cx="10543032" cy="86868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1B2B31"/>
              </a:buClr>
              <a:buSzPts val="1200"/>
              <a:buFont typeface="Arial"/>
              <a:buNone/>
            </a:pPr>
            <a:r>
              <a:rPr lang="en-US" sz="1200" b="0" i="0" u="none" strike="noStrike" cap="none">
                <a:solidFill>
                  <a:srgbClr val="1B2B31"/>
                </a:solidFill>
                <a:latin typeface="Arial"/>
                <a:ea typeface="Arial"/>
                <a:cs typeface="Arial"/>
                <a:sym typeface="Arial"/>
              </a:rPr>
              <a:t>Toàn bộ phép biến đổi này được adapter tái sử dụng nguyên vẹn từ loader chính thức — không viết lại geometry, nhờ đó tensor đưa vào NavDP giống hệt lúc huấn luyện.</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6"/>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CHUẨN HOÁ</a:t>
            </a:r>
            <a:endParaRPr sz="1050" b="0" i="0" u="none" strike="noStrike" cap="none">
              <a:solidFill>
                <a:schemeClr val="dk1"/>
              </a:solidFill>
              <a:latin typeface="Calibri"/>
              <a:ea typeface="Calibri"/>
              <a:cs typeface="Calibri"/>
              <a:sym typeface="Calibri"/>
            </a:endParaRPr>
          </a:p>
        </p:txBody>
      </p:sp>
      <p:sp>
        <p:nvSpPr>
          <p:cNvPr id="439" name="Google Shape;439;p16"/>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Từ cumulative pose sang diffusion target — và ngược lại</a:t>
            </a:r>
            <a:endParaRPr sz="2500" b="0" i="0" u="none" strike="noStrike" cap="none">
              <a:solidFill>
                <a:schemeClr val="dk1"/>
              </a:solidFill>
              <a:latin typeface="Calibri"/>
              <a:ea typeface="Calibri"/>
              <a:cs typeface="Calibri"/>
              <a:sym typeface="Calibri"/>
            </a:endParaRPr>
          </a:p>
        </p:txBody>
      </p:sp>
      <p:sp>
        <p:nvSpPr>
          <p:cNvPr id="440" name="Google Shape;440;p16"/>
          <p:cNvSpPr/>
          <p:nvPr/>
        </p:nvSpPr>
        <p:spPr>
          <a:xfrm>
            <a:off x="548640" y="1371600"/>
            <a:ext cx="5349240" cy="3200400"/>
          </a:xfrm>
          <a:prstGeom prst="roundRect">
            <a:avLst>
              <a:gd name="adj" fmla="val 1714"/>
            </a:avLst>
          </a:prstGeom>
          <a:solidFill>
            <a:srgbClr val="FFFFFF"/>
          </a:solidFill>
          <a:ln w="17775"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6"/>
          <p:cNvSpPr/>
          <p:nvPr/>
        </p:nvSpPr>
        <p:spPr>
          <a:xfrm>
            <a:off x="822960" y="1572768"/>
            <a:ext cx="45720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HUẤN LUYỆN</a:t>
            </a:r>
            <a:endParaRPr sz="1050" b="0" i="0" u="none" strike="noStrike" cap="none">
              <a:solidFill>
                <a:schemeClr val="dk1"/>
              </a:solidFill>
              <a:latin typeface="Calibri"/>
              <a:ea typeface="Calibri"/>
              <a:cs typeface="Calibri"/>
              <a:sym typeface="Calibri"/>
            </a:endParaRPr>
          </a:p>
        </p:txBody>
      </p:sp>
      <p:sp>
        <p:nvSpPr>
          <p:cNvPr id="442" name="Google Shape;442;p16"/>
          <p:cNvSpPr/>
          <p:nvPr/>
        </p:nvSpPr>
        <p:spPr>
          <a:xfrm>
            <a:off x="822960" y="182880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00"/>
              <a:buFont typeface="Arial"/>
              <a:buNone/>
            </a:pPr>
            <a:r>
              <a:rPr lang="en-US" sz="1400" b="1" i="0" u="none" strike="noStrike" cap="none">
                <a:solidFill>
                  <a:srgbClr val="1B2B31"/>
                </a:solidFill>
                <a:latin typeface="Arial"/>
                <a:ea typeface="Arial"/>
                <a:cs typeface="Arial"/>
                <a:sym typeface="Arial"/>
              </a:rPr>
              <a:t>Loader tạo training target</a:t>
            </a:r>
            <a:endParaRPr sz="1400" b="0" i="0" u="none" strike="noStrike" cap="none">
              <a:solidFill>
                <a:schemeClr val="dk1"/>
              </a:solidFill>
              <a:latin typeface="Calibri"/>
              <a:ea typeface="Calibri"/>
              <a:cs typeface="Calibri"/>
              <a:sym typeface="Calibri"/>
            </a:endParaRPr>
          </a:p>
        </p:txBody>
      </p:sp>
      <p:sp>
        <p:nvSpPr>
          <p:cNvPr id="443" name="Google Shape;443;p16"/>
          <p:cNvSpPr/>
          <p:nvPr/>
        </p:nvSpPr>
        <p:spPr>
          <a:xfrm>
            <a:off x="822960" y="2212848"/>
            <a:ext cx="4754880" cy="8686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Chọn predict_size + 1 điểm trên chuỗi local</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Lấy sai phân giữa các điểm liên tiếp</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Nhân hệ số chuẩn hoá 4.0</a:t>
            </a:r>
            <a:endParaRPr sz="1150" b="0" i="0" u="none" strike="noStrike" cap="none">
              <a:solidFill>
                <a:schemeClr val="dk1"/>
              </a:solidFill>
              <a:latin typeface="Calibri"/>
              <a:ea typeface="Calibri"/>
              <a:cs typeface="Calibri"/>
              <a:sym typeface="Calibri"/>
            </a:endParaRPr>
          </a:p>
        </p:txBody>
      </p:sp>
      <p:sp>
        <p:nvSpPr>
          <p:cNvPr id="444" name="Google Shape;444;p16"/>
          <p:cNvSpPr/>
          <p:nvPr/>
        </p:nvSpPr>
        <p:spPr>
          <a:xfrm>
            <a:off x="822960" y="3200400"/>
            <a:ext cx="4800600" cy="1097280"/>
          </a:xfrm>
          <a:prstGeom prst="roundRect">
            <a:avLst>
              <a:gd name="adj" fmla="val 333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6"/>
          <p:cNvSpPr/>
          <p:nvPr/>
        </p:nvSpPr>
        <p:spPr>
          <a:xfrm>
            <a:off x="1005840" y="3200400"/>
            <a:ext cx="4480560" cy="1097280"/>
          </a:xfrm>
          <a:prstGeom prst="rect">
            <a:avLst/>
          </a:prstGeom>
          <a:noFill/>
          <a:ln>
            <a:noFill/>
          </a:ln>
        </p:spPr>
        <p:txBody>
          <a:bodyPr spcFirstLastPara="1" wrap="square" lIns="0" tIns="0" rIns="0" bIns="0" anchor="ctr" anchorCtr="0">
            <a:noAutofit/>
          </a:bodyPr>
          <a:lstStyle/>
          <a:p>
            <a:pPr marL="0" marR="0" lvl="0" indent="0" algn="l" rtl="0">
              <a:lnSpc>
                <a:spcPct val="166666"/>
              </a:lnSpc>
              <a:spcBef>
                <a:spcPts val="0"/>
              </a:spcBef>
              <a:spcAft>
                <a:spcPts val="0"/>
              </a:spcAft>
              <a:buClr>
                <a:srgbClr val="1B2B31"/>
              </a:buClr>
              <a:buSzPts val="1200"/>
              <a:buFont typeface="Courier New"/>
              <a:buNone/>
            </a:pPr>
            <a:r>
              <a:rPr lang="en-US" sz="1200" b="0" i="0" u="none" strike="noStrike" cap="none">
                <a:solidFill>
                  <a:srgbClr val="1B2B31"/>
                </a:solidFill>
                <a:latin typeface="Courier New"/>
                <a:ea typeface="Courier New"/>
                <a:cs typeface="Courier New"/>
                <a:sym typeface="Courier New"/>
              </a:rPr>
              <a:t>delta[t] = pose[t+1] − pose[t]</a:t>
            </a:r>
            <a:endParaRPr sz="1200" b="0" i="0" u="none" strike="noStrike" cap="none">
              <a:solidFill>
                <a:schemeClr val="dk1"/>
              </a:solidFill>
              <a:latin typeface="Calibri"/>
              <a:ea typeface="Calibri"/>
              <a:cs typeface="Calibri"/>
              <a:sym typeface="Calibri"/>
            </a:endParaRPr>
          </a:p>
          <a:p>
            <a:pPr marL="0" marR="0" lvl="0" indent="0" algn="l" rtl="0">
              <a:lnSpc>
                <a:spcPct val="166666"/>
              </a:lnSpc>
              <a:spcBef>
                <a:spcPts val="0"/>
              </a:spcBef>
              <a:spcAft>
                <a:spcPts val="0"/>
              </a:spcAft>
              <a:buClr>
                <a:srgbClr val="1B2B31"/>
              </a:buClr>
              <a:buSzPts val="1200"/>
              <a:buFont typeface="Courier New"/>
              <a:buNone/>
            </a:pPr>
            <a:r>
              <a:rPr lang="en-US" sz="1200" b="0" i="0" u="none" strike="noStrike" cap="none">
                <a:solidFill>
                  <a:srgbClr val="1B2B31"/>
                </a:solidFill>
                <a:latin typeface="Courier New"/>
                <a:ea typeface="Courier New"/>
                <a:cs typeface="Courier New"/>
                <a:sym typeface="Courier New"/>
              </a:rPr>
              <a:t>training_action[t] = delta[t] * 4.0</a:t>
            </a:r>
            <a:endParaRPr sz="1200" b="0" i="0" u="none" strike="noStrike" cap="none">
              <a:solidFill>
                <a:schemeClr val="dk1"/>
              </a:solidFill>
              <a:latin typeface="Calibri"/>
              <a:ea typeface="Calibri"/>
              <a:cs typeface="Calibri"/>
              <a:sym typeface="Calibri"/>
            </a:endParaRPr>
          </a:p>
        </p:txBody>
      </p:sp>
      <p:sp>
        <p:nvSpPr>
          <p:cNvPr id="446" name="Google Shape;446;p16"/>
          <p:cNvSpPr/>
          <p:nvPr/>
        </p:nvSpPr>
        <p:spPr>
          <a:xfrm>
            <a:off x="6291072" y="1371600"/>
            <a:ext cx="5349240" cy="3200400"/>
          </a:xfrm>
          <a:prstGeom prst="roundRect">
            <a:avLst>
              <a:gd name="adj" fmla="val 1714"/>
            </a:avLst>
          </a:prstGeom>
          <a:solidFill>
            <a:srgbClr val="FFFFFF"/>
          </a:solidFill>
          <a:ln w="1777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6"/>
          <p:cNvSpPr/>
          <p:nvPr/>
        </p:nvSpPr>
        <p:spPr>
          <a:xfrm>
            <a:off x="6565392" y="1572768"/>
            <a:ext cx="45720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050"/>
              <a:buFont typeface="Arial"/>
              <a:buNone/>
            </a:pPr>
            <a:r>
              <a:rPr lang="en-US" sz="1050" b="1" i="0" u="none" strike="noStrike" cap="none">
                <a:solidFill>
                  <a:srgbClr val="D98324"/>
                </a:solidFill>
                <a:latin typeface="Arial"/>
                <a:ea typeface="Arial"/>
                <a:cs typeface="Arial"/>
                <a:sym typeface="Arial"/>
              </a:rPr>
              <a:t>SUY LUẬN</a:t>
            </a:r>
            <a:endParaRPr sz="1050" b="0" i="0" u="none" strike="noStrike" cap="none">
              <a:solidFill>
                <a:schemeClr val="dk1"/>
              </a:solidFill>
              <a:latin typeface="Calibri"/>
              <a:ea typeface="Calibri"/>
              <a:cs typeface="Calibri"/>
              <a:sym typeface="Calibri"/>
            </a:endParaRPr>
          </a:p>
        </p:txBody>
      </p:sp>
      <p:sp>
        <p:nvSpPr>
          <p:cNvPr id="448" name="Google Shape;448;p16"/>
          <p:cNvSpPr/>
          <p:nvPr/>
        </p:nvSpPr>
        <p:spPr>
          <a:xfrm>
            <a:off x="6565392" y="1828800"/>
            <a:ext cx="4846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400"/>
              <a:buFont typeface="Arial"/>
              <a:buNone/>
            </a:pPr>
            <a:r>
              <a:rPr lang="en-US" sz="1400" b="1" i="0" u="none" strike="noStrike" cap="none">
                <a:solidFill>
                  <a:srgbClr val="1B2B31"/>
                </a:solidFill>
                <a:latin typeface="Arial"/>
                <a:ea typeface="Arial"/>
                <a:cs typeface="Arial"/>
                <a:sym typeface="Arial"/>
              </a:rPr>
              <a:t>Model trả increment, code tích phân lại</a:t>
            </a:r>
            <a:endParaRPr sz="1400" b="0" i="0" u="none" strike="noStrike" cap="none">
              <a:solidFill>
                <a:schemeClr val="dk1"/>
              </a:solidFill>
              <a:latin typeface="Calibri"/>
              <a:ea typeface="Calibri"/>
              <a:cs typeface="Calibri"/>
              <a:sym typeface="Calibri"/>
            </a:endParaRPr>
          </a:p>
        </p:txBody>
      </p:sp>
      <p:sp>
        <p:nvSpPr>
          <p:cNvPr id="449" name="Google Shape;449;p16"/>
          <p:cNvSpPr/>
          <p:nvPr/>
        </p:nvSpPr>
        <p:spPr>
          <a:xfrm>
            <a:off x="6565392" y="2212848"/>
            <a:ext cx="4754880" cy="8686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Diffusion sinh delta đã chuẩn hoá</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Chia lại cho 4 để về đơn vị mét</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Cumulative sum thành quỹ đạo</a:t>
            </a:r>
            <a:endParaRPr sz="1150" b="0" i="0" u="none" strike="noStrike" cap="none">
              <a:solidFill>
                <a:schemeClr val="dk1"/>
              </a:solidFill>
              <a:latin typeface="Calibri"/>
              <a:ea typeface="Calibri"/>
              <a:cs typeface="Calibri"/>
              <a:sym typeface="Calibri"/>
            </a:endParaRPr>
          </a:p>
        </p:txBody>
      </p:sp>
      <p:sp>
        <p:nvSpPr>
          <p:cNvPr id="450" name="Google Shape;450;p16"/>
          <p:cNvSpPr/>
          <p:nvPr/>
        </p:nvSpPr>
        <p:spPr>
          <a:xfrm>
            <a:off x="6565392" y="3200400"/>
            <a:ext cx="4800600" cy="1097280"/>
          </a:xfrm>
          <a:prstGeom prst="roundRect">
            <a:avLst>
              <a:gd name="adj" fmla="val 333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6"/>
          <p:cNvSpPr/>
          <p:nvPr/>
        </p:nvSpPr>
        <p:spPr>
          <a:xfrm>
            <a:off x="6748272" y="3200400"/>
            <a:ext cx="448056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Courier New"/>
              <a:buNone/>
            </a:pPr>
            <a:r>
              <a:rPr lang="en-US" sz="1200" b="0" i="0" u="none" strike="noStrike" cap="none">
                <a:solidFill>
                  <a:srgbClr val="1B2B31"/>
                </a:solidFill>
                <a:latin typeface="Courier New"/>
                <a:ea typeface="Courier New"/>
                <a:cs typeface="Courier New"/>
                <a:sym typeface="Courier New"/>
              </a:rPr>
              <a:t>pose[t] = Σ ( delta_pred[0:t] / 4.0 )</a:t>
            </a:r>
            <a:endParaRPr sz="1200" b="0" i="0" u="none" strike="noStrike" cap="none">
              <a:solidFill>
                <a:schemeClr val="dk1"/>
              </a:solidFill>
              <a:latin typeface="Calibri"/>
              <a:ea typeface="Calibri"/>
              <a:cs typeface="Calibri"/>
              <a:sym typeface="Calibri"/>
            </a:endParaRPr>
          </a:p>
        </p:txBody>
      </p:sp>
      <p:sp>
        <p:nvSpPr>
          <p:cNvPr id="452" name="Google Shape;452;p16"/>
          <p:cNvSpPr/>
          <p:nvPr/>
        </p:nvSpPr>
        <p:spPr>
          <a:xfrm>
            <a:off x="548640" y="4800600"/>
            <a:ext cx="11091672" cy="1371600"/>
          </a:xfrm>
          <a:prstGeom prst="roundRect">
            <a:avLst>
              <a:gd name="adj" fmla="val 4000"/>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6"/>
          <p:cNvSpPr/>
          <p:nvPr/>
        </p:nvSpPr>
        <p:spPr>
          <a:xfrm>
            <a:off x="868680" y="498348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Hệ số 4 đến từ đâu?</a:t>
            </a:r>
            <a:endParaRPr sz="1350" b="0" i="0" u="none" strike="noStrike" cap="none">
              <a:solidFill>
                <a:schemeClr val="dk1"/>
              </a:solidFill>
              <a:latin typeface="Calibri"/>
              <a:ea typeface="Calibri"/>
              <a:cs typeface="Calibri"/>
              <a:sym typeface="Calibri"/>
            </a:endParaRPr>
          </a:p>
        </p:txBody>
      </p:sp>
      <p:sp>
        <p:nvSpPr>
          <p:cNvPr id="454" name="Google Shape;454;p16"/>
          <p:cNvSpPr/>
          <p:nvPr/>
        </p:nvSpPr>
        <p:spPr>
          <a:xfrm>
            <a:off x="868680" y="5303520"/>
            <a:ext cx="10424160" cy="73152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Nó là normalization tương ứng với bước tiến khoảng 0.25 m mỗi action. Hệ quả cần nhớ khi đọc log: output THÔ của diffusion là increment, còn output của API standalone đã được log lại là quỹ đạo CỘNG DỒN.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459"/>
        <p:cNvGrpSpPr/>
        <p:nvPr/>
      </p:nvGrpSpPr>
      <p:grpSpPr>
        <a:xfrm>
          <a:off x="0" y="0"/>
          <a:ext cx="0" cy="0"/>
          <a:chOff x="0" y="0"/>
          <a:chExt cx="0" cy="0"/>
        </a:xfrm>
      </p:grpSpPr>
      <p:sp>
        <p:nvSpPr>
          <p:cNvPr id="460" name="Google Shape;460;p17"/>
          <p:cNvSpPr/>
          <p:nvPr/>
        </p:nvSpPr>
        <p:spPr>
          <a:xfrm>
            <a:off x="-1097280" y="3840480"/>
            <a:ext cx="4206240" cy="420624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7"/>
          <p:cNvSpPr/>
          <p:nvPr/>
        </p:nvSpPr>
        <p:spPr>
          <a:xfrm>
            <a:off x="1280160" y="246888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Arial"/>
              <a:buNone/>
            </a:pPr>
            <a:r>
              <a:rPr lang="en-US" sz="1200" b="1" i="0" u="none" strike="noStrike" cap="none">
                <a:solidFill>
                  <a:srgbClr val="D98324"/>
                </a:solidFill>
                <a:latin typeface="Arial"/>
                <a:ea typeface="Arial"/>
                <a:cs typeface="Arial"/>
                <a:sym typeface="Arial"/>
              </a:rPr>
              <a:t>PHẦN 03 · TRỌNG TÂM</a:t>
            </a:r>
            <a:endParaRPr sz="1200" b="0" i="0" u="none" strike="noStrike" cap="none">
              <a:solidFill>
                <a:schemeClr val="dk1"/>
              </a:solidFill>
              <a:latin typeface="Calibri"/>
              <a:ea typeface="Calibri"/>
              <a:cs typeface="Calibri"/>
              <a:sym typeface="Calibri"/>
            </a:endParaRPr>
          </a:p>
        </p:txBody>
      </p:sp>
      <p:sp>
        <p:nvSpPr>
          <p:cNvPr id="462" name="Google Shape;462;p17"/>
          <p:cNvSpPr/>
          <p:nvPr/>
        </p:nvSpPr>
        <p:spPr>
          <a:xfrm>
            <a:off x="1280160" y="2834640"/>
            <a:ext cx="7315200" cy="1371600"/>
          </a:xfrm>
          <a:prstGeom prst="rect">
            <a:avLst/>
          </a:prstGeom>
          <a:noFill/>
          <a:ln>
            <a:noFill/>
          </a:ln>
        </p:spPr>
        <p:txBody>
          <a:bodyPr spcFirstLastPara="1" wrap="square" lIns="0" tIns="0" rIns="0" bIns="0" anchor="ctr" anchorCtr="0">
            <a:noAutofit/>
          </a:bodyPr>
          <a:lstStyle/>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System 1 — NavDP</a:t>
            </a:r>
            <a:endParaRPr sz="3600" b="0" i="0" u="none" strike="noStrike" cap="none">
              <a:solidFill>
                <a:schemeClr val="dk1"/>
              </a:solidFill>
              <a:latin typeface="Calibri"/>
              <a:ea typeface="Calibri"/>
              <a:cs typeface="Calibri"/>
              <a:sym typeface="Calibri"/>
            </a:endParaRPr>
          </a:p>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standalone</a:t>
            </a:r>
            <a:endParaRPr sz="3600" b="0" i="0" u="none" strike="noStrike" cap="none">
              <a:solidFill>
                <a:schemeClr val="dk1"/>
              </a:solidFill>
              <a:latin typeface="Calibri"/>
              <a:ea typeface="Calibri"/>
              <a:cs typeface="Calibri"/>
              <a:sym typeface="Calibri"/>
            </a:endParaRPr>
          </a:p>
        </p:txBody>
      </p:sp>
      <p:sp>
        <p:nvSpPr>
          <p:cNvPr id="463" name="Google Shape;463;p17"/>
          <p:cNvSpPr/>
          <p:nvPr/>
        </p:nvSpPr>
        <p:spPr>
          <a:xfrm>
            <a:off x="1280160" y="4315968"/>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400"/>
              <a:buFont typeface="Arial"/>
              <a:buNone/>
            </a:pPr>
            <a:r>
              <a:rPr lang="en-US" sz="1400" b="0" i="0" u="none" strike="noStrike" cap="none">
                <a:solidFill>
                  <a:srgbClr val="9FBEC2"/>
                </a:solidFill>
                <a:latin typeface="Arial"/>
                <a:ea typeface="Arial"/>
                <a:cs typeface="Arial"/>
                <a:sym typeface="Arial"/>
              </a:rPr>
              <a:t>Contract đã kiểm chứng · RGB-D backbone · diffusion · critic</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18"/>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1</a:t>
            </a:r>
            <a:endParaRPr sz="1050" b="0" i="0" u="none" strike="noStrike" cap="none">
              <a:solidFill>
                <a:schemeClr val="dk1"/>
              </a:solidFill>
              <a:latin typeface="Calibri"/>
              <a:ea typeface="Calibri"/>
              <a:cs typeface="Calibri"/>
              <a:sym typeface="Calibri"/>
            </a:endParaRPr>
          </a:p>
        </p:txBody>
      </p:sp>
      <p:sp>
        <p:nvSpPr>
          <p:cNvPr id="470" name="Google Shape;470;p18"/>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I/O contract đã kiểm chứng bằng dữ liệu thật</a:t>
            </a:r>
            <a:endParaRPr sz="2500" b="0" i="0" u="none" strike="noStrike" cap="none">
              <a:solidFill>
                <a:schemeClr val="dk1"/>
              </a:solidFill>
              <a:latin typeface="Calibri"/>
              <a:ea typeface="Calibri"/>
              <a:cs typeface="Calibri"/>
              <a:sym typeface="Calibri"/>
            </a:endParaRPr>
          </a:p>
        </p:txBody>
      </p:sp>
      <p:sp>
        <p:nvSpPr>
          <p:cNvPr id="471" name="Google Shape;471;p18"/>
          <p:cNvSpPr/>
          <p:nvPr/>
        </p:nvSpPr>
        <p:spPr>
          <a:xfrm>
            <a:off x="548640" y="1353312"/>
            <a:ext cx="45720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ĐẦU VÀO</a:t>
            </a:r>
            <a:endParaRPr sz="1050" b="0" i="0" u="none" strike="noStrike" cap="none">
              <a:solidFill>
                <a:schemeClr val="dk1"/>
              </a:solidFill>
              <a:latin typeface="Calibri"/>
              <a:ea typeface="Calibri"/>
              <a:cs typeface="Calibri"/>
              <a:sym typeface="Calibri"/>
            </a:endParaRPr>
          </a:p>
        </p:txBody>
      </p:sp>
      <p:sp>
        <p:nvSpPr>
          <p:cNvPr id="472" name="Google Shape;472;p18"/>
          <p:cNvSpPr/>
          <p:nvPr/>
        </p:nvSpPr>
        <p:spPr>
          <a:xfrm>
            <a:off x="548640" y="1627632"/>
            <a:ext cx="6903720" cy="841248"/>
          </a:xfrm>
          <a:prstGeom prst="roundRect">
            <a:avLst>
              <a:gd name="adj" fmla="val 6522"/>
            </a:avLst>
          </a:prstGeom>
          <a:solidFill>
            <a:srgbClr val="FFFFFF"/>
          </a:solidFill>
          <a:ln w="15225"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8"/>
          <p:cNvSpPr/>
          <p:nvPr/>
        </p:nvSpPr>
        <p:spPr>
          <a:xfrm>
            <a:off x="804672" y="1755648"/>
            <a:ext cx="2011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Courier New"/>
              <a:buNone/>
            </a:pPr>
            <a:r>
              <a:rPr lang="en-US" sz="1250" b="1" i="0" u="none" strike="noStrike" cap="none">
                <a:solidFill>
                  <a:srgbClr val="028090"/>
                </a:solidFill>
                <a:latin typeface="Courier New"/>
                <a:ea typeface="Courier New"/>
                <a:cs typeface="Courier New"/>
                <a:sym typeface="Courier New"/>
              </a:rPr>
              <a:t>goal_point</a:t>
            </a:r>
            <a:endParaRPr sz="1250" b="0" i="0" u="none" strike="noStrike" cap="none">
              <a:solidFill>
                <a:schemeClr val="dk1"/>
              </a:solidFill>
              <a:latin typeface="Calibri"/>
              <a:ea typeface="Calibri"/>
              <a:cs typeface="Calibri"/>
              <a:sym typeface="Calibri"/>
            </a:endParaRPr>
          </a:p>
        </p:txBody>
      </p:sp>
      <p:sp>
        <p:nvSpPr>
          <p:cNvPr id="474" name="Google Shape;474;p18"/>
          <p:cNvSpPr/>
          <p:nvPr/>
        </p:nvSpPr>
        <p:spPr>
          <a:xfrm>
            <a:off x="2880360" y="1755648"/>
            <a:ext cx="2286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Courier New"/>
              <a:buNone/>
            </a:pPr>
            <a:r>
              <a:rPr lang="en-US" sz="1250" b="1" i="0" u="none" strike="noStrike" cap="none">
                <a:solidFill>
                  <a:srgbClr val="1B2B31"/>
                </a:solidFill>
                <a:latin typeface="Courier New"/>
                <a:ea typeface="Courier New"/>
                <a:cs typeface="Courier New"/>
                <a:sym typeface="Courier New"/>
              </a:rPr>
              <a:t>[1, 3]</a:t>
            </a:r>
            <a:endParaRPr sz="1250" b="0" i="0" u="none" strike="noStrike" cap="none">
              <a:solidFill>
                <a:schemeClr val="dk1"/>
              </a:solidFill>
              <a:latin typeface="Calibri"/>
              <a:ea typeface="Calibri"/>
              <a:cs typeface="Calibri"/>
              <a:sym typeface="Calibri"/>
            </a:endParaRPr>
          </a:p>
        </p:txBody>
      </p:sp>
      <p:sp>
        <p:nvSpPr>
          <p:cNvPr id="475" name="Google Shape;475;p18"/>
          <p:cNvSpPr/>
          <p:nvPr/>
        </p:nvSpPr>
        <p:spPr>
          <a:xfrm>
            <a:off x="5257800" y="1773936"/>
            <a:ext cx="201168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050"/>
              <a:buFont typeface="Arial"/>
              <a:buNone/>
            </a:pPr>
            <a:r>
              <a:rPr lang="en-US" sz="1050" b="0" i="1" u="none" strike="noStrike" cap="none">
                <a:solidFill>
                  <a:srgbClr val="5C6E73"/>
                </a:solidFill>
                <a:latin typeface="Arial"/>
                <a:ea typeface="Arial"/>
                <a:cs typeface="Arial"/>
                <a:sym typeface="Arial"/>
              </a:rPr>
              <a:t>float32</a:t>
            </a:r>
            <a:endParaRPr sz="1050" b="0" i="0" u="none" strike="noStrike" cap="none">
              <a:solidFill>
                <a:schemeClr val="dk1"/>
              </a:solidFill>
              <a:latin typeface="Calibri"/>
              <a:ea typeface="Calibri"/>
              <a:cs typeface="Calibri"/>
              <a:sym typeface="Calibri"/>
            </a:endParaRPr>
          </a:p>
        </p:txBody>
      </p:sp>
      <p:sp>
        <p:nvSpPr>
          <p:cNvPr id="476" name="Google Shape;476;p18"/>
          <p:cNvSpPr/>
          <p:nvPr/>
        </p:nvSpPr>
        <p:spPr>
          <a:xfrm>
            <a:off x="804672" y="2084832"/>
            <a:ext cx="6400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Local (x, y, theta) — mét và radian</a:t>
            </a:r>
            <a:endParaRPr sz="1100" b="0" i="0" u="none" strike="noStrike" cap="none">
              <a:solidFill>
                <a:schemeClr val="dk1"/>
              </a:solidFill>
              <a:latin typeface="Calibri"/>
              <a:ea typeface="Calibri"/>
              <a:cs typeface="Calibri"/>
              <a:sym typeface="Calibri"/>
            </a:endParaRPr>
          </a:p>
        </p:txBody>
      </p:sp>
      <p:sp>
        <p:nvSpPr>
          <p:cNvPr id="477" name="Google Shape;477;p18"/>
          <p:cNvSpPr/>
          <p:nvPr/>
        </p:nvSpPr>
        <p:spPr>
          <a:xfrm>
            <a:off x="548640" y="2587752"/>
            <a:ext cx="6903720" cy="841248"/>
          </a:xfrm>
          <a:prstGeom prst="roundRect">
            <a:avLst>
              <a:gd name="adj" fmla="val 6522"/>
            </a:avLst>
          </a:prstGeom>
          <a:solidFill>
            <a:srgbClr val="FFFFFF"/>
          </a:solidFill>
          <a:ln w="15225"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8"/>
          <p:cNvSpPr/>
          <p:nvPr/>
        </p:nvSpPr>
        <p:spPr>
          <a:xfrm>
            <a:off x="804672" y="2715768"/>
            <a:ext cx="2011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Courier New"/>
              <a:buNone/>
            </a:pPr>
            <a:r>
              <a:rPr lang="en-US" sz="1250" b="1" i="0" u="none" strike="noStrike" cap="none">
                <a:solidFill>
                  <a:srgbClr val="028090"/>
                </a:solidFill>
                <a:latin typeface="Courier New"/>
                <a:ea typeface="Courier New"/>
                <a:cs typeface="Courier New"/>
                <a:sym typeface="Courier New"/>
              </a:rPr>
              <a:t>input_images</a:t>
            </a:r>
            <a:endParaRPr sz="1250" b="0" i="0" u="none" strike="noStrike" cap="none">
              <a:solidFill>
                <a:schemeClr val="dk1"/>
              </a:solidFill>
              <a:latin typeface="Calibri"/>
              <a:ea typeface="Calibri"/>
              <a:cs typeface="Calibri"/>
              <a:sym typeface="Calibri"/>
            </a:endParaRPr>
          </a:p>
        </p:txBody>
      </p:sp>
      <p:sp>
        <p:nvSpPr>
          <p:cNvPr id="479" name="Google Shape;479;p18"/>
          <p:cNvSpPr/>
          <p:nvPr/>
        </p:nvSpPr>
        <p:spPr>
          <a:xfrm>
            <a:off x="2880360" y="2715768"/>
            <a:ext cx="2286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Courier New"/>
              <a:buNone/>
            </a:pPr>
            <a:r>
              <a:rPr lang="en-US" sz="1250" b="1" i="0" u="none" strike="noStrike" cap="none">
                <a:solidFill>
                  <a:srgbClr val="1B2B31"/>
                </a:solidFill>
                <a:latin typeface="Courier New"/>
                <a:ea typeface="Courier New"/>
                <a:cs typeface="Courier New"/>
                <a:sym typeface="Courier New"/>
              </a:rPr>
              <a:t>[1, 8, 224, 224, 3]</a:t>
            </a:r>
            <a:endParaRPr sz="1250" b="0" i="0" u="none" strike="noStrike" cap="none">
              <a:solidFill>
                <a:schemeClr val="dk1"/>
              </a:solidFill>
              <a:latin typeface="Calibri"/>
              <a:ea typeface="Calibri"/>
              <a:cs typeface="Calibri"/>
              <a:sym typeface="Calibri"/>
            </a:endParaRPr>
          </a:p>
        </p:txBody>
      </p:sp>
      <p:sp>
        <p:nvSpPr>
          <p:cNvPr id="480" name="Google Shape;480;p18"/>
          <p:cNvSpPr/>
          <p:nvPr/>
        </p:nvSpPr>
        <p:spPr>
          <a:xfrm>
            <a:off x="5257800" y="2734056"/>
            <a:ext cx="201168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050"/>
              <a:buFont typeface="Arial"/>
              <a:buNone/>
            </a:pPr>
            <a:r>
              <a:rPr lang="en-US" sz="1050" b="0" i="1" u="none" strike="noStrike" cap="none">
                <a:solidFill>
                  <a:srgbClr val="5C6E73"/>
                </a:solidFill>
                <a:latin typeface="Arial"/>
                <a:ea typeface="Arial"/>
                <a:cs typeface="Arial"/>
                <a:sym typeface="Arial"/>
              </a:rPr>
              <a:t>float32, [0, 1]</a:t>
            </a:r>
            <a:endParaRPr sz="1050" b="0" i="0" u="none" strike="noStrike" cap="none">
              <a:solidFill>
                <a:schemeClr val="dk1"/>
              </a:solidFill>
              <a:latin typeface="Calibri"/>
              <a:ea typeface="Calibri"/>
              <a:cs typeface="Calibri"/>
              <a:sym typeface="Calibri"/>
            </a:endParaRPr>
          </a:p>
        </p:txBody>
      </p:sp>
      <p:sp>
        <p:nvSpPr>
          <p:cNvPr id="481" name="Google Shape;481;p18"/>
          <p:cNvSpPr/>
          <p:nvPr/>
        </p:nvSpPr>
        <p:spPr>
          <a:xfrm>
            <a:off x="804672" y="3044952"/>
            <a:ext cx="6400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8 RGB history frame; frame thiếu được zero-pad</a:t>
            </a:r>
            <a:endParaRPr sz="1100" b="0" i="0" u="none" strike="noStrike" cap="none">
              <a:solidFill>
                <a:schemeClr val="dk1"/>
              </a:solidFill>
              <a:latin typeface="Calibri"/>
              <a:ea typeface="Calibri"/>
              <a:cs typeface="Calibri"/>
              <a:sym typeface="Calibri"/>
            </a:endParaRPr>
          </a:p>
        </p:txBody>
      </p:sp>
      <p:sp>
        <p:nvSpPr>
          <p:cNvPr id="482" name="Google Shape;482;p18"/>
          <p:cNvSpPr/>
          <p:nvPr/>
        </p:nvSpPr>
        <p:spPr>
          <a:xfrm>
            <a:off x="548640" y="3547872"/>
            <a:ext cx="6903720" cy="841248"/>
          </a:xfrm>
          <a:prstGeom prst="roundRect">
            <a:avLst>
              <a:gd name="adj" fmla="val 6522"/>
            </a:avLst>
          </a:prstGeom>
          <a:solidFill>
            <a:srgbClr val="FBF1E5"/>
          </a:solidFill>
          <a:ln w="152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8"/>
          <p:cNvSpPr/>
          <p:nvPr/>
        </p:nvSpPr>
        <p:spPr>
          <a:xfrm>
            <a:off x="804672" y="3675888"/>
            <a:ext cx="2011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Courier New"/>
              <a:buNone/>
            </a:pPr>
            <a:r>
              <a:rPr lang="en-US" sz="1250" b="1" i="0" u="none" strike="noStrike" cap="none">
                <a:solidFill>
                  <a:srgbClr val="D98324"/>
                </a:solidFill>
                <a:latin typeface="Courier New"/>
                <a:ea typeface="Courier New"/>
                <a:cs typeface="Courier New"/>
                <a:sym typeface="Courier New"/>
              </a:rPr>
              <a:t>input_depths</a:t>
            </a:r>
            <a:endParaRPr sz="1250" b="0" i="0" u="none" strike="noStrike" cap="none">
              <a:solidFill>
                <a:schemeClr val="dk1"/>
              </a:solidFill>
              <a:latin typeface="Calibri"/>
              <a:ea typeface="Calibri"/>
              <a:cs typeface="Calibri"/>
              <a:sym typeface="Calibri"/>
            </a:endParaRPr>
          </a:p>
        </p:txBody>
      </p:sp>
      <p:sp>
        <p:nvSpPr>
          <p:cNvPr id="484" name="Google Shape;484;p18"/>
          <p:cNvSpPr/>
          <p:nvPr/>
        </p:nvSpPr>
        <p:spPr>
          <a:xfrm>
            <a:off x="2880360" y="3675888"/>
            <a:ext cx="2286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Courier New"/>
              <a:buNone/>
            </a:pPr>
            <a:r>
              <a:rPr lang="en-US" sz="1250" b="1" i="0" u="none" strike="noStrike" cap="none">
                <a:solidFill>
                  <a:srgbClr val="1B2B31"/>
                </a:solidFill>
                <a:latin typeface="Courier New"/>
                <a:ea typeface="Courier New"/>
                <a:cs typeface="Courier New"/>
                <a:sym typeface="Courier New"/>
              </a:rPr>
              <a:t>[1, 224, 224, 1]</a:t>
            </a:r>
            <a:endParaRPr sz="1250" b="0" i="0" u="none" strike="noStrike" cap="none">
              <a:solidFill>
                <a:schemeClr val="dk1"/>
              </a:solidFill>
              <a:latin typeface="Calibri"/>
              <a:ea typeface="Calibri"/>
              <a:cs typeface="Calibri"/>
              <a:sym typeface="Calibri"/>
            </a:endParaRPr>
          </a:p>
        </p:txBody>
      </p:sp>
      <p:sp>
        <p:nvSpPr>
          <p:cNvPr id="485" name="Google Shape;485;p18"/>
          <p:cNvSpPr/>
          <p:nvPr/>
        </p:nvSpPr>
        <p:spPr>
          <a:xfrm>
            <a:off x="5257800" y="3694176"/>
            <a:ext cx="201168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C6E73"/>
              </a:buClr>
              <a:buSzPts val="1050"/>
              <a:buFont typeface="Arial"/>
              <a:buNone/>
            </a:pPr>
            <a:r>
              <a:rPr lang="en-US" sz="1050" b="0" i="1" u="none" strike="noStrike" cap="none">
                <a:solidFill>
                  <a:srgbClr val="5C6E73"/>
                </a:solidFill>
                <a:latin typeface="Arial"/>
                <a:ea typeface="Arial"/>
                <a:cs typeface="Arial"/>
                <a:sym typeface="Arial"/>
              </a:rPr>
              <a:t>float32, mét</a:t>
            </a:r>
            <a:endParaRPr sz="1050" b="0" i="0" u="none" strike="noStrike" cap="none">
              <a:solidFill>
                <a:schemeClr val="dk1"/>
              </a:solidFill>
              <a:latin typeface="Calibri"/>
              <a:ea typeface="Calibri"/>
              <a:cs typeface="Calibri"/>
              <a:sym typeface="Calibri"/>
            </a:endParaRPr>
          </a:p>
        </p:txBody>
      </p:sp>
      <p:sp>
        <p:nvSpPr>
          <p:cNvPr id="486" name="Google Shape;486;p18"/>
          <p:cNvSpPr/>
          <p:nvPr/>
        </p:nvSpPr>
        <p:spPr>
          <a:xfrm>
            <a:off x="804672" y="4005072"/>
            <a:ext cx="6400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CHỈ depth của frame hiện tại</a:t>
            </a:r>
            <a:endParaRPr sz="1100" b="0" i="0" u="none" strike="noStrike" cap="none">
              <a:solidFill>
                <a:schemeClr val="dk1"/>
              </a:solidFill>
              <a:latin typeface="Calibri"/>
              <a:ea typeface="Calibri"/>
              <a:cs typeface="Calibri"/>
              <a:sym typeface="Calibri"/>
            </a:endParaRPr>
          </a:p>
        </p:txBody>
      </p:sp>
      <p:sp>
        <p:nvSpPr>
          <p:cNvPr id="487" name="Google Shape;487;p18"/>
          <p:cNvSpPr/>
          <p:nvPr/>
        </p:nvSpPr>
        <p:spPr>
          <a:xfrm>
            <a:off x="7772400" y="1353312"/>
            <a:ext cx="3657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050"/>
              <a:buFont typeface="Arial"/>
              <a:buNone/>
            </a:pPr>
            <a:r>
              <a:rPr lang="en-US" sz="1050" b="1" i="0" u="none" strike="noStrike" cap="none">
                <a:solidFill>
                  <a:srgbClr val="00A896"/>
                </a:solidFill>
                <a:latin typeface="Arial"/>
                <a:ea typeface="Arial"/>
                <a:cs typeface="Arial"/>
                <a:sym typeface="Arial"/>
              </a:rPr>
              <a:t>ĐẦU RA</a:t>
            </a:r>
            <a:endParaRPr sz="1050" b="0" i="0" u="none" strike="noStrike" cap="none">
              <a:solidFill>
                <a:schemeClr val="dk1"/>
              </a:solidFill>
              <a:latin typeface="Calibri"/>
              <a:ea typeface="Calibri"/>
              <a:cs typeface="Calibri"/>
              <a:sym typeface="Calibri"/>
            </a:endParaRPr>
          </a:p>
        </p:txBody>
      </p:sp>
      <p:sp>
        <p:nvSpPr>
          <p:cNvPr id="488" name="Google Shape;488;p18"/>
          <p:cNvSpPr/>
          <p:nvPr/>
        </p:nvSpPr>
        <p:spPr>
          <a:xfrm>
            <a:off x="7772400" y="1627632"/>
            <a:ext cx="3867912" cy="841248"/>
          </a:xfrm>
          <a:prstGeom prst="roundRect">
            <a:avLst>
              <a:gd name="adj" fmla="val 6522"/>
            </a:avLst>
          </a:prstGeom>
          <a:solidFill>
            <a:srgbClr val="FFFFFF"/>
          </a:solidFill>
          <a:ln w="15225"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8"/>
          <p:cNvSpPr/>
          <p:nvPr/>
        </p:nvSpPr>
        <p:spPr>
          <a:xfrm>
            <a:off x="8001000" y="1737360"/>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150"/>
              <a:buFont typeface="Arial"/>
              <a:buNone/>
            </a:pPr>
            <a:r>
              <a:rPr lang="en-US" sz="1150" b="1" i="0" u="none" strike="noStrike" cap="none">
                <a:solidFill>
                  <a:srgbClr val="00A896"/>
                </a:solidFill>
                <a:latin typeface="Arial"/>
                <a:ea typeface="Arial"/>
                <a:cs typeface="Arial"/>
                <a:sym typeface="Arial"/>
              </a:rPr>
              <a:t>positive trajectories</a:t>
            </a:r>
            <a:endParaRPr sz="1150" b="0" i="0" u="none" strike="noStrike" cap="none">
              <a:solidFill>
                <a:schemeClr val="dk1"/>
              </a:solidFill>
              <a:latin typeface="Calibri"/>
              <a:ea typeface="Calibri"/>
              <a:cs typeface="Calibri"/>
              <a:sym typeface="Calibri"/>
            </a:endParaRPr>
          </a:p>
        </p:txBody>
      </p:sp>
      <p:sp>
        <p:nvSpPr>
          <p:cNvPr id="490" name="Google Shape;490;p18"/>
          <p:cNvSpPr/>
          <p:nvPr/>
        </p:nvSpPr>
        <p:spPr>
          <a:xfrm>
            <a:off x="8001000" y="1975104"/>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Courier New"/>
              <a:buNone/>
            </a:pPr>
            <a:r>
              <a:rPr lang="en-US" sz="1200" b="1" i="0" u="none" strike="noStrike" cap="none">
                <a:solidFill>
                  <a:srgbClr val="1B2B31"/>
                </a:solidFill>
                <a:latin typeface="Courier New"/>
                <a:ea typeface="Courier New"/>
                <a:cs typeface="Courier New"/>
                <a:sym typeface="Courier New"/>
              </a:rPr>
              <a:t>[K, 24, 3]</a:t>
            </a:r>
            <a:endParaRPr sz="1200" b="0" i="0" u="none" strike="noStrike" cap="none">
              <a:solidFill>
                <a:schemeClr val="dk1"/>
              </a:solidFill>
              <a:latin typeface="Calibri"/>
              <a:ea typeface="Calibri"/>
              <a:cs typeface="Calibri"/>
              <a:sym typeface="Calibri"/>
            </a:endParaRPr>
          </a:p>
        </p:txBody>
      </p:sp>
      <p:sp>
        <p:nvSpPr>
          <p:cNvPr id="491" name="Google Shape;491;p18"/>
          <p:cNvSpPr/>
          <p:nvPr/>
        </p:nvSpPr>
        <p:spPr>
          <a:xfrm>
            <a:off x="8001000" y="2212848"/>
            <a:ext cx="34747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Critic giảm dần — ứng viên tốt nhất</a:t>
            </a:r>
            <a:endParaRPr sz="1000" b="0" i="0" u="none" strike="noStrike" cap="none">
              <a:solidFill>
                <a:schemeClr val="dk1"/>
              </a:solidFill>
              <a:latin typeface="Calibri"/>
              <a:ea typeface="Calibri"/>
              <a:cs typeface="Calibri"/>
              <a:sym typeface="Calibri"/>
            </a:endParaRPr>
          </a:p>
        </p:txBody>
      </p:sp>
      <p:sp>
        <p:nvSpPr>
          <p:cNvPr id="492" name="Google Shape;492;p18"/>
          <p:cNvSpPr/>
          <p:nvPr/>
        </p:nvSpPr>
        <p:spPr>
          <a:xfrm>
            <a:off x="7772400" y="2587752"/>
            <a:ext cx="3867912" cy="841248"/>
          </a:xfrm>
          <a:prstGeom prst="roundRect">
            <a:avLst>
              <a:gd name="adj" fmla="val 6522"/>
            </a:avLst>
          </a:prstGeom>
          <a:solidFill>
            <a:srgbClr val="FFFFFF"/>
          </a:solidFill>
          <a:ln w="15225"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8"/>
          <p:cNvSpPr/>
          <p:nvPr/>
        </p:nvSpPr>
        <p:spPr>
          <a:xfrm>
            <a:off x="8001000" y="2697480"/>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150"/>
              <a:buFont typeface="Arial"/>
              <a:buNone/>
            </a:pPr>
            <a:r>
              <a:rPr lang="en-US" sz="1150" b="1" i="0" u="none" strike="noStrike" cap="none">
                <a:solidFill>
                  <a:srgbClr val="00A896"/>
                </a:solidFill>
                <a:latin typeface="Arial"/>
                <a:ea typeface="Arial"/>
                <a:cs typeface="Arial"/>
                <a:sym typeface="Arial"/>
              </a:rPr>
              <a:t>negative trajectories</a:t>
            </a:r>
            <a:endParaRPr sz="1150" b="0" i="0" u="none" strike="noStrike" cap="none">
              <a:solidFill>
                <a:schemeClr val="dk1"/>
              </a:solidFill>
              <a:latin typeface="Calibri"/>
              <a:ea typeface="Calibri"/>
              <a:cs typeface="Calibri"/>
              <a:sym typeface="Calibri"/>
            </a:endParaRPr>
          </a:p>
        </p:txBody>
      </p:sp>
      <p:sp>
        <p:nvSpPr>
          <p:cNvPr id="494" name="Google Shape;494;p18"/>
          <p:cNvSpPr/>
          <p:nvPr/>
        </p:nvSpPr>
        <p:spPr>
          <a:xfrm>
            <a:off x="8001000" y="2935224"/>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Courier New"/>
              <a:buNone/>
            </a:pPr>
            <a:r>
              <a:rPr lang="en-US" sz="1200" b="1" i="0" u="none" strike="noStrike" cap="none">
                <a:solidFill>
                  <a:srgbClr val="1B2B31"/>
                </a:solidFill>
                <a:latin typeface="Courier New"/>
                <a:ea typeface="Courier New"/>
                <a:cs typeface="Courier New"/>
                <a:sym typeface="Courier New"/>
              </a:rPr>
              <a:t>[K, 24, 3]</a:t>
            </a:r>
            <a:endParaRPr sz="1200" b="0" i="0" u="none" strike="noStrike" cap="none">
              <a:solidFill>
                <a:schemeClr val="dk1"/>
              </a:solidFill>
              <a:latin typeface="Calibri"/>
              <a:ea typeface="Calibri"/>
              <a:cs typeface="Calibri"/>
              <a:sym typeface="Calibri"/>
            </a:endParaRPr>
          </a:p>
        </p:txBody>
      </p:sp>
      <p:sp>
        <p:nvSpPr>
          <p:cNvPr id="495" name="Google Shape;495;p18"/>
          <p:cNvSpPr/>
          <p:nvPr/>
        </p:nvSpPr>
        <p:spPr>
          <a:xfrm>
            <a:off x="8001000" y="3172968"/>
            <a:ext cx="34747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Critic tăng dần — ứng viên kém nhất</a:t>
            </a:r>
            <a:endParaRPr sz="1000" b="0" i="0" u="none" strike="noStrike" cap="none">
              <a:solidFill>
                <a:schemeClr val="dk1"/>
              </a:solidFill>
              <a:latin typeface="Calibri"/>
              <a:ea typeface="Calibri"/>
              <a:cs typeface="Calibri"/>
              <a:sym typeface="Calibri"/>
            </a:endParaRPr>
          </a:p>
        </p:txBody>
      </p:sp>
      <p:sp>
        <p:nvSpPr>
          <p:cNvPr id="496" name="Google Shape;496;p18"/>
          <p:cNvSpPr/>
          <p:nvPr/>
        </p:nvSpPr>
        <p:spPr>
          <a:xfrm>
            <a:off x="7772400" y="3547872"/>
            <a:ext cx="3867912" cy="841248"/>
          </a:xfrm>
          <a:prstGeom prst="roundRect">
            <a:avLst>
              <a:gd name="adj" fmla="val 6522"/>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8"/>
          <p:cNvSpPr/>
          <p:nvPr/>
        </p:nvSpPr>
        <p:spPr>
          <a:xfrm>
            <a:off x="8001000" y="3547872"/>
            <a:ext cx="3474720" cy="841248"/>
          </a:xfrm>
          <a:prstGeom prst="rect">
            <a:avLst/>
          </a:prstGeom>
          <a:noFill/>
          <a:ln>
            <a:noFill/>
          </a:ln>
        </p:spPr>
        <p:txBody>
          <a:bodyPr spcFirstLastPara="1" wrap="square" lIns="0" tIns="0" rIns="0" bIns="0" anchor="ctr" anchorCtr="0">
            <a:noAutofit/>
          </a:bodyPr>
          <a:lstStyle/>
          <a:p>
            <a:pPr marL="0" marR="0" lvl="0" indent="0" algn="l" rtl="0">
              <a:lnSpc>
                <a:spcPct val="127272"/>
              </a:lnSpc>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K ≤ 8, đồng thời phụ thuộc sample_num × B</a:t>
            </a:r>
            <a:endParaRPr sz="1100" b="0" i="0" u="none" strike="noStrike" cap="none">
              <a:solidFill>
                <a:schemeClr val="dk1"/>
              </a:solidFill>
              <a:latin typeface="Calibri"/>
              <a:ea typeface="Calibri"/>
              <a:cs typeface="Calibri"/>
              <a:sym typeface="Calibri"/>
            </a:endParaRPr>
          </a:p>
        </p:txBody>
      </p:sp>
      <p:sp>
        <p:nvSpPr>
          <p:cNvPr id="498" name="Google Shape;498;p18"/>
          <p:cNvSpPr/>
          <p:nvPr/>
        </p:nvSpPr>
        <p:spPr>
          <a:xfrm>
            <a:off x="548640" y="4617720"/>
            <a:ext cx="11091672" cy="1600200"/>
          </a:xfrm>
          <a:prstGeom prst="roundRect">
            <a:avLst>
              <a:gd name="adj" fmla="val 3429"/>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8"/>
          <p:cNvSpPr/>
          <p:nvPr/>
        </p:nvSpPr>
        <p:spPr>
          <a:xfrm>
            <a:off x="868680" y="480060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NavDPNet là episode-stateless</a:t>
            </a:r>
            <a:endParaRPr sz="1350" b="0" i="0" u="none" strike="noStrike" cap="none">
              <a:solidFill>
                <a:schemeClr val="dk1"/>
              </a:solidFill>
              <a:latin typeface="Calibri"/>
              <a:ea typeface="Calibri"/>
              <a:cs typeface="Calibri"/>
              <a:sym typeface="Calibri"/>
            </a:endParaRPr>
          </a:p>
        </p:txBody>
      </p:sp>
      <p:sp>
        <p:nvSpPr>
          <p:cNvPr id="500" name="Google Shape;500;p18"/>
          <p:cNvSpPr/>
          <p:nvPr/>
        </p:nvSpPr>
        <p:spPr>
          <a:xfrm>
            <a:off x="868680" y="5120640"/>
            <a:ext cx="10424160" cy="86868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Mỗi lần gọi predict_pointgoal_batch_action_vel đều nhận đầy đủ goal và observation tensor. Diffusion scheduler là state của model, không phải lịch sử điều hướng. Toàn bộ state điều hướng nằm ở tầng agent, không nằm trong NavDPNet.</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1</a:t>
            </a:r>
            <a:endParaRPr sz="1050" b="0" i="0" u="none" strike="noStrike" cap="none">
              <a:solidFill>
                <a:schemeClr val="dk1"/>
              </a:solidFill>
              <a:latin typeface="Calibri"/>
              <a:ea typeface="Calibri"/>
              <a:cs typeface="Calibri"/>
              <a:sym typeface="Calibri"/>
            </a:endParaRPr>
          </a:p>
        </p:txBody>
      </p:sp>
      <p:sp>
        <p:nvSpPr>
          <p:cNvPr id="507" name="Google Shape;507;p1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RGB-D backbone: từ ảnh sang token nhớ</a:t>
            </a:r>
            <a:endParaRPr sz="2500" b="0" i="0" u="none" strike="noStrike" cap="none">
              <a:solidFill>
                <a:schemeClr val="dk1"/>
              </a:solidFill>
              <a:latin typeface="Calibri"/>
              <a:ea typeface="Calibri"/>
              <a:cs typeface="Calibri"/>
              <a:sym typeface="Calibri"/>
            </a:endParaRPr>
          </a:p>
        </p:txBody>
      </p:sp>
      <p:sp>
        <p:nvSpPr>
          <p:cNvPr id="508" name="Google Shape;508;p19"/>
          <p:cNvSpPr/>
          <p:nvPr/>
        </p:nvSpPr>
        <p:spPr>
          <a:xfrm>
            <a:off x="548640" y="1554480"/>
            <a:ext cx="1828800" cy="603504"/>
          </a:xfrm>
          <a:prstGeom prst="roundRect">
            <a:avLst>
              <a:gd name="adj" fmla="val 7576"/>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603504" y="1554480"/>
            <a:ext cx="171907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8 RGB frames</a:t>
            </a:r>
            <a:endParaRPr sz="1100" b="0" i="0" u="none" strike="noStrike" cap="none">
              <a:solidFill>
                <a:schemeClr val="dk1"/>
              </a:solidFill>
              <a:latin typeface="Calibri"/>
              <a:ea typeface="Calibri"/>
              <a:cs typeface="Calibri"/>
              <a:sym typeface="Calibri"/>
            </a:endParaRPr>
          </a:p>
        </p:txBody>
      </p:sp>
      <p:cxnSp>
        <p:nvCxnSpPr>
          <p:cNvPr id="510" name="Google Shape;510;p19"/>
          <p:cNvCxnSpPr/>
          <p:nvPr/>
        </p:nvCxnSpPr>
        <p:spPr>
          <a:xfrm>
            <a:off x="2377440" y="1856232"/>
            <a:ext cx="384048" cy="0"/>
          </a:xfrm>
          <a:prstGeom prst="straightConnector1">
            <a:avLst/>
          </a:prstGeom>
          <a:noFill/>
          <a:ln w="15875" cap="flat" cmpd="sng">
            <a:solidFill>
              <a:srgbClr val="5C6E73"/>
            </a:solidFill>
            <a:prstDash val="solid"/>
            <a:round/>
            <a:headEnd type="none" w="sm" len="sm"/>
            <a:tailEnd type="triangle" w="med" len="med"/>
          </a:ln>
        </p:spPr>
      </p:cxnSp>
      <p:sp>
        <p:nvSpPr>
          <p:cNvPr id="511" name="Google Shape;511;p19"/>
          <p:cNvSpPr/>
          <p:nvPr/>
        </p:nvSpPr>
        <p:spPr>
          <a:xfrm>
            <a:off x="2761488" y="1554480"/>
            <a:ext cx="1783080" cy="603504"/>
          </a:xfrm>
          <a:prstGeom prst="roundRect">
            <a:avLst>
              <a:gd name="adj" fmla="val 7576"/>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9"/>
          <p:cNvSpPr/>
          <p:nvPr/>
        </p:nvSpPr>
        <p:spPr>
          <a:xfrm>
            <a:off x="2816352" y="1554480"/>
            <a:ext cx="167335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ImageNet normalize</a:t>
            </a:r>
            <a:endParaRPr sz="1000" b="0" i="0" u="none" strike="noStrike" cap="none">
              <a:solidFill>
                <a:schemeClr val="dk1"/>
              </a:solidFill>
              <a:latin typeface="Calibri"/>
              <a:ea typeface="Calibri"/>
              <a:cs typeface="Calibri"/>
              <a:sym typeface="Calibri"/>
            </a:endParaRPr>
          </a:p>
        </p:txBody>
      </p:sp>
      <p:cxnSp>
        <p:nvCxnSpPr>
          <p:cNvPr id="513" name="Google Shape;513;p19"/>
          <p:cNvCxnSpPr/>
          <p:nvPr/>
        </p:nvCxnSpPr>
        <p:spPr>
          <a:xfrm>
            <a:off x="4544568" y="1856232"/>
            <a:ext cx="384048" cy="0"/>
          </a:xfrm>
          <a:prstGeom prst="straightConnector1">
            <a:avLst/>
          </a:prstGeom>
          <a:noFill/>
          <a:ln w="15875" cap="flat" cmpd="sng">
            <a:solidFill>
              <a:srgbClr val="028090"/>
            </a:solidFill>
            <a:prstDash val="solid"/>
            <a:round/>
            <a:headEnd type="none" w="sm" len="sm"/>
            <a:tailEnd type="triangle" w="med" len="med"/>
          </a:ln>
        </p:spPr>
      </p:cxnSp>
      <p:sp>
        <p:nvSpPr>
          <p:cNvPr id="514" name="Google Shape;514;p19"/>
          <p:cNvSpPr/>
          <p:nvPr/>
        </p:nvSpPr>
        <p:spPr>
          <a:xfrm>
            <a:off x="4928616" y="1481328"/>
            <a:ext cx="2286000" cy="749808"/>
          </a:xfrm>
          <a:prstGeom prst="roundRect">
            <a:avLst>
              <a:gd name="adj" fmla="val 6098"/>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9"/>
          <p:cNvSpPr/>
          <p:nvPr/>
        </p:nvSpPr>
        <p:spPr>
          <a:xfrm>
            <a:off x="4983480" y="1572768"/>
            <a:ext cx="21762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DepthAnything ViT-S</a:t>
            </a:r>
            <a:endParaRPr sz="1100" b="0" i="0" u="none" strike="noStrike" cap="none">
              <a:solidFill>
                <a:schemeClr val="dk1"/>
              </a:solidFill>
              <a:latin typeface="Calibri"/>
              <a:ea typeface="Calibri"/>
              <a:cs typeface="Calibri"/>
              <a:sym typeface="Calibri"/>
            </a:endParaRPr>
          </a:p>
        </p:txBody>
      </p:sp>
      <p:sp>
        <p:nvSpPr>
          <p:cNvPr id="516" name="Google Shape;516;p19"/>
          <p:cNvSpPr/>
          <p:nvPr/>
        </p:nvSpPr>
        <p:spPr>
          <a:xfrm>
            <a:off x="4983480" y="1847088"/>
            <a:ext cx="21762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RGB feature extractor</a:t>
            </a:r>
            <a:endParaRPr sz="900" b="0" i="0" u="none" strike="noStrike" cap="none">
              <a:solidFill>
                <a:schemeClr val="dk1"/>
              </a:solidFill>
              <a:latin typeface="Calibri"/>
              <a:ea typeface="Calibri"/>
              <a:cs typeface="Calibri"/>
              <a:sym typeface="Calibri"/>
            </a:endParaRPr>
          </a:p>
        </p:txBody>
      </p:sp>
      <p:sp>
        <p:nvSpPr>
          <p:cNvPr id="517" name="Google Shape;517;p19"/>
          <p:cNvSpPr/>
          <p:nvPr/>
        </p:nvSpPr>
        <p:spPr>
          <a:xfrm>
            <a:off x="548640" y="2834640"/>
            <a:ext cx="1828800" cy="603504"/>
          </a:xfrm>
          <a:prstGeom prst="roundRect">
            <a:avLst>
              <a:gd name="adj" fmla="val 7576"/>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9"/>
          <p:cNvSpPr/>
          <p:nvPr/>
        </p:nvSpPr>
        <p:spPr>
          <a:xfrm>
            <a:off x="603504" y="2834640"/>
            <a:ext cx="171907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1 depth frame</a:t>
            </a:r>
            <a:endParaRPr sz="1100" b="0" i="0" u="none" strike="noStrike" cap="none">
              <a:solidFill>
                <a:schemeClr val="dk1"/>
              </a:solidFill>
              <a:latin typeface="Calibri"/>
              <a:ea typeface="Calibri"/>
              <a:cs typeface="Calibri"/>
              <a:sym typeface="Calibri"/>
            </a:endParaRPr>
          </a:p>
        </p:txBody>
      </p:sp>
      <p:cxnSp>
        <p:nvCxnSpPr>
          <p:cNvPr id="519" name="Google Shape;519;p19"/>
          <p:cNvCxnSpPr/>
          <p:nvPr/>
        </p:nvCxnSpPr>
        <p:spPr>
          <a:xfrm>
            <a:off x="2377440" y="3136392"/>
            <a:ext cx="384048" cy="0"/>
          </a:xfrm>
          <a:prstGeom prst="straightConnector1">
            <a:avLst/>
          </a:prstGeom>
          <a:noFill/>
          <a:ln w="15875" cap="flat" cmpd="sng">
            <a:solidFill>
              <a:srgbClr val="5C6E73"/>
            </a:solidFill>
            <a:prstDash val="solid"/>
            <a:round/>
            <a:headEnd type="none" w="sm" len="sm"/>
            <a:tailEnd type="triangle" w="med" len="med"/>
          </a:ln>
        </p:spPr>
      </p:cxnSp>
      <p:sp>
        <p:nvSpPr>
          <p:cNvPr id="520" name="Google Shape;520;p19"/>
          <p:cNvSpPr/>
          <p:nvPr/>
        </p:nvSpPr>
        <p:spPr>
          <a:xfrm>
            <a:off x="2761488" y="2834640"/>
            <a:ext cx="1783080" cy="603504"/>
          </a:xfrm>
          <a:prstGeom prst="roundRect">
            <a:avLst>
              <a:gd name="adj" fmla="val 7576"/>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9"/>
          <p:cNvSpPr/>
          <p:nvPr/>
        </p:nvSpPr>
        <p:spPr>
          <a:xfrm>
            <a:off x="2816352" y="2834640"/>
            <a:ext cx="1673352" cy="6035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Repeat kênh 1 → 3</a:t>
            </a:r>
            <a:endParaRPr sz="1000" b="0" i="0" u="none" strike="noStrike" cap="none">
              <a:solidFill>
                <a:schemeClr val="dk1"/>
              </a:solidFill>
              <a:latin typeface="Calibri"/>
              <a:ea typeface="Calibri"/>
              <a:cs typeface="Calibri"/>
              <a:sym typeface="Calibri"/>
            </a:endParaRPr>
          </a:p>
        </p:txBody>
      </p:sp>
      <p:cxnSp>
        <p:nvCxnSpPr>
          <p:cNvPr id="522" name="Google Shape;522;p19"/>
          <p:cNvCxnSpPr/>
          <p:nvPr/>
        </p:nvCxnSpPr>
        <p:spPr>
          <a:xfrm>
            <a:off x="4544568" y="3136392"/>
            <a:ext cx="384048" cy="0"/>
          </a:xfrm>
          <a:prstGeom prst="straightConnector1">
            <a:avLst/>
          </a:prstGeom>
          <a:noFill/>
          <a:ln w="15875" cap="flat" cmpd="sng">
            <a:solidFill>
              <a:srgbClr val="028090"/>
            </a:solidFill>
            <a:prstDash val="solid"/>
            <a:round/>
            <a:headEnd type="none" w="sm" len="sm"/>
            <a:tailEnd type="triangle" w="med" len="med"/>
          </a:ln>
        </p:spPr>
      </p:cxnSp>
      <p:sp>
        <p:nvSpPr>
          <p:cNvPr id="523" name="Google Shape;523;p19"/>
          <p:cNvSpPr/>
          <p:nvPr/>
        </p:nvSpPr>
        <p:spPr>
          <a:xfrm>
            <a:off x="4928616" y="2761488"/>
            <a:ext cx="2286000" cy="749808"/>
          </a:xfrm>
          <a:prstGeom prst="roundRect">
            <a:avLst>
              <a:gd name="adj" fmla="val 6098"/>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9"/>
          <p:cNvSpPr/>
          <p:nvPr/>
        </p:nvSpPr>
        <p:spPr>
          <a:xfrm>
            <a:off x="4983480" y="2852928"/>
            <a:ext cx="21762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DepthAnything ViT-S</a:t>
            </a:r>
            <a:endParaRPr sz="1100" b="0" i="0" u="none" strike="noStrike" cap="none">
              <a:solidFill>
                <a:schemeClr val="dk1"/>
              </a:solidFill>
              <a:latin typeface="Calibri"/>
              <a:ea typeface="Calibri"/>
              <a:cs typeface="Calibri"/>
              <a:sym typeface="Calibri"/>
            </a:endParaRPr>
          </a:p>
        </p:txBody>
      </p:sp>
      <p:sp>
        <p:nvSpPr>
          <p:cNvPr id="525" name="Google Shape;525;p19"/>
          <p:cNvSpPr/>
          <p:nvPr/>
        </p:nvSpPr>
        <p:spPr>
          <a:xfrm>
            <a:off x="4983480" y="3127248"/>
            <a:ext cx="21762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depth feature extractor</a:t>
            </a:r>
            <a:endParaRPr sz="900" b="0" i="0" u="none" strike="noStrike" cap="none">
              <a:solidFill>
                <a:schemeClr val="dk1"/>
              </a:solidFill>
              <a:latin typeface="Calibri"/>
              <a:ea typeface="Calibri"/>
              <a:cs typeface="Calibri"/>
              <a:sym typeface="Calibri"/>
            </a:endParaRPr>
          </a:p>
        </p:txBody>
      </p:sp>
      <p:cxnSp>
        <p:nvCxnSpPr>
          <p:cNvPr id="526" name="Google Shape;526;p19"/>
          <p:cNvCxnSpPr/>
          <p:nvPr/>
        </p:nvCxnSpPr>
        <p:spPr>
          <a:xfrm>
            <a:off x="7214616" y="1856232"/>
            <a:ext cx="320040" cy="0"/>
          </a:xfrm>
          <a:prstGeom prst="straightConnector1">
            <a:avLst/>
          </a:prstGeom>
          <a:noFill/>
          <a:ln w="15875" cap="flat" cmpd="sng">
            <a:solidFill>
              <a:srgbClr val="028090"/>
            </a:solidFill>
            <a:prstDash val="solid"/>
            <a:round/>
            <a:headEnd type="none" w="sm" len="sm"/>
            <a:tailEnd type="none" w="sm" len="sm"/>
          </a:ln>
        </p:spPr>
      </p:cxnSp>
      <p:cxnSp>
        <p:nvCxnSpPr>
          <p:cNvPr id="527" name="Google Shape;527;p19"/>
          <p:cNvCxnSpPr/>
          <p:nvPr/>
        </p:nvCxnSpPr>
        <p:spPr>
          <a:xfrm>
            <a:off x="7214616" y="3136392"/>
            <a:ext cx="320040" cy="0"/>
          </a:xfrm>
          <a:prstGeom prst="straightConnector1">
            <a:avLst/>
          </a:prstGeom>
          <a:noFill/>
          <a:ln w="15875" cap="flat" cmpd="sng">
            <a:solidFill>
              <a:srgbClr val="028090"/>
            </a:solidFill>
            <a:prstDash val="solid"/>
            <a:round/>
            <a:headEnd type="none" w="sm" len="sm"/>
            <a:tailEnd type="none" w="sm" len="sm"/>
          </a:ln>
        </p:spPr>
      </p:cxnSp>
      <p:cxnSp>
        <p:nvCxnSpPr>
          <p:cNvPr id="528" name="Google Shape;528;p19"/>
          <p:cNvCxnSpPr/>
          <p:nvPr/>
        </p:nvCxnSpPr>
        <p:spPr>
          <a:xfrm>
            <a:off x="7534656" y="1856232"/>
            <a:ext cx="0" cy="1280160"/>
          </a:xfrm>
          <a:prstGeom prst="straightConnector1">
            <a:avLst/>
          </a:prstGeom>
          <a:noFill/>
          <a:ln w="15875" cap="flat" cmpd="sng">
            <a:solidFill>
              <a:srgbClr val="028090"/>
            </a:solidFill>
            <a:prstDash val="solid"/>
            <a:round/>
            <a:headEnd type="none" w="sm" len="sm"/>
            <a:tailEnd type="none" w="sm" len="sm"/>
          </a:ln>
        </p:spPr>
      </p:cxnSp>
      <p:cxnSp>
        <p:nvCxnSpPr>
          <p:cNvPr id="529" name="Google Shape;529;p19"/>
          <p:cNvCxnSpPr/>
          <p:nvPr/>
        </p:nvCxnSpPr>
        <p:spPr>
          <a:xfrm>
            <a:off x="7534656" y="2496312"/>
            <a:ext cx="384048" cy="0"/>
          </a:xfrm>
          <a:prstGeom prst="straightConnector1">
            <a:avLst/>
          </a:prstGeom>
          <a:noFill/>
          <a:ln w="15875" cap="flat" cmpd="sng">
            <a:solidFill>
              <a:srgbClr val="028090"/>
            </a:solidFill>
            <a:prstDash val="solid"/>
            <a:round/>
            <a:headEnd type="none" w="sm" len="sm"/>
            <a:tailEnd type="triangle" w="med" len="med"/>
          </a:ln>
        </p:spPr>
      </p:cxnSp>
      <p:sp>
        <p:nvSpPr>
          <p:cNvPr id="530" name="Google Shape;530;p19"/>
          <p:cNvSpPr/>
          <p:nvPr/>
        </p:nvSpPr>
        <p:spPr>
          <a:xfrm>
            <a:off x="7818120" y="2148840"/>
            <a:ext cx="1600200" cy="713232"/>
          </a:xfrm>
          <a:prstGeom prst="roundRect">
            <a:avLst>
              <a:gd name="adj" fmla="val 6410"/>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9"/>
          <p:cNvSpPr/>
          <p:nvPr/>
        </p:nvSpPr>
        <p:spPr>
          <a:xfrm>
            <a:off x="7872984" y="2148840"/>
            <a:ext cx="1490472"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Concat visual tokens</a:t>
            </a:r>
            <a:endParaRPr sz="1050" b="0" i="0" u="none" strike="noStrike" cap="none">
              <a:solidFill>
                <a:schemeClr val="dk1"/>
              </a:solidFill>
              <a:latin typeface="Calibri"/>
              <a:ea typeface="Calibri"/>
              <a:cs typeface="Calibri"/>
              <a:sym typeface="Calibri"/>
            </a:endParaRPr>
          </a:p>
        </p:txBody>
      </p:sp>
      <p:cxnSp>
        <p:nvCxnSpPr>
          <p:cNvPr id="532" name="Google Shape;532;p19"/>
          <p:cNvCxnSpPr/>
          <p:nvPr/>
        </p:nvCxnSpPr>
        <p:spPr>
          <a:xfrm>
            <a:off x="9418320" y="2496312"/>
            <a:ext cx="228600" cy="0"/>
          </a:xfrm>
          <a:prstGeom prst="straightConnector1">
            <a:avLst/>
          </a:prstGeom>
          <a:noFill/>
          <a:ln w="15875" cap="flat" cmpd="sng">
            <a:solidFill>
              <a:srgbClr val="D98324"/>
            </a:solidFill>
            <a:prstDash val="solid"/>
            <a:round/>
            <a:headEnd type="none" w="sm" len="sm"/>
            <a:tailEnd type="triangle" w="med" len="med"/>
          </a:ln>
        </p:spPr>
      </p:cxnSp>
      <p:sp>
        <p:nvSpPr>
          <p:cNvPr id="533" name="Google Shape;533;p19"/>
          <p:cNvSpPr/>
          <p:nvPr/>
        </p:nvSpPr>
        <p:spPr>
          <a:xfrm>
            <a:off x="9646920" y="1993392"/>
            <a:ext cx="1993392" cy="1005840"/>
          </a:xfrm>
          <a:prstGeom prst="roundRect">
            <a:avLst>
              <a:gd name="adj" fmla="val 4545"/>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9"/>
          <p:cNvSpPr/>
          <p:nvPr/>
        </p:nvSpPr>
        <p:spPr>
          <a:xfrm>
            <a:off x="9701784" y="2212848"/>
            <a:ext cx="1883664"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Transformer decoder</a:t>
            </a:r>
            <a:endParaRPr sz="1050" b="0" i="0" u="none" strike="noStrike" cap="none">
              <a:solidFill>
                <a:schemeClr val="dk1"/>
              </a:solidFill>
              <a:latin typeface="Calibri"/>
              <a:ea typeface="Calibri"/>
              <a:cs typeface="Calibri"/>
              <a:sym typeface="Calibri"/>
            </a:endParaRPr>
          </a:p>
        </p:txBody>
      </p:sp>
      <p:sp>
        <p:nvSpPr>
          <p:cNvPr id="535" name="Google Shape;535;p19"/>
          <p:cNvSpPr/>
          <p:nvPr/>
        </p:nvSpPr>
        <p:spPr>
          <a:xfrm>
            <a:off x="9701784" y="2487168"/>
            <a:ext cx="1883664"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learned queries</a:t>
            </a:r>
            <a:endParaRPr sz="900" b="0" i="0" u="none" strike="noStrike" cap="none">
              <a:solidFill>
                <a:schemeClr val="dk1"/>
              </a:solidFill>
              <a:latin typeface="Calibri"/>
              <a:ea typeface="Calibri"/>
              <a:cs typeface="Calibri"/>
              <a:sym typeface="Calibri"/>
            </a:endParaRPr>
          </a:p>
        </p:txBody>
      </p:sp>
      <p:cxnSp>
        <p:nvCxnSpPr>
          <p:cNvPr id="536" name="Google Shape;536;p19"/>
          <p:cNvCxnSpPr/>
          <p:nvPr/>
        </p:nvCxnSpPr>
        <p:spPr>
          <a:xfrm>
            <a:off x="10643616" y="2999232"/>
            <a:ext cx="0" cy="292608"/>
          </a:xfrm>
          <a:prstGeom prst="straightConnector1">
            <a:avLst/>
          </a:prstGeom>
          <a:noFill/>
          <a:ln w="15875" cap="flat" cmpd="sng">
            <a:solidFill>
              <a:srgbClr val="D98324"/>
            </a:solidFill>
            <a:prstDash val="solid"/>
            <a:round/>
            <a:headEnd type="none" w="sm" len="sm"/>
            <a:tailEnd type="triangle" w="med" len="med"/>
          </a:ln>
        </p:spPr>
      </p:cxnSp>
      <p:sp>
        <p:nvSpPr>
          <p:cNvPr id="537" name="Google Shape;537;p19"/>
          <p:cNvSpPr/>
          <p:nvPr/>
        </p:nvSpPr>
        <p:spPr>
          <a:xfrm>
            <a:off x="9418320" y="3291840"/>
            <a:ext cx="2221992" cy="868680"/>
          </a:xfrm>
          <a:prstGeom prst="roundRect">
            <a:avLst>
              <a:gd name="adj" fmla="val 5263"/>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9"/>
          <p:cNvSpPr/>
          <p:nvPr/>
        </p:nvSpPr>
        <p:spPr>
          <a:xfrm>
            <a:off x="9473184" y="3442716"/>
            <a:ext cx="2112264"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950"/>
              <a:buFont typeface="Arial"/>
              <a:buNone/>
            </a:pPr>
            <a:r>
              <a:rPr lang="en-US" sz="950" b="1" i="0" u="none" strike="noStrike" cap="none">
                <a:solidFill>
                  <a:srgbClr val="1B2B31"/>
                </a:solidFill>
                <a:latin typeface="Arial"/>
                <a:ea typeface="Arial"/>
                <a:cs typeface="Arial"/>
                <a:sym typeface="Arial"/>
              </a:rPr>
              <a:t>Compressed RGB-D memory</a:t>
            </a:r>
            <a:endParaRPr sz="950" b="0" i="0" u="none" strike="noStrike" cap="none">
              <a:solidFill>
                <a:schemeClr val="dk1"/>
              </a:solidFill>
              <a:latin typeface="Calibri"/>
              <a:ea typeface="Calibri"/>
              <a:cs typeface="Calibri"/>
              <a:sym typeface="Calibri"/>
            </a:endParaRPr>
          </a:p>
        </p:txBody>
      </p:sp>
      <p:sp>
        <p:nvSpPr>
          <p:cNvPr id="539" name="Google Shape;539;p19"/>
          <p:cNvSpPr/>
          <p:nvPr/>
        </p:nvSpPr>
        <p:spPr>
          <a:xfrm>
            <a:off x="9473184" y="3717036"/>
            <a:ext cx="2112264"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[B, 128, 384]</a:t>
            </a:r>
            <a:endParaRPr sz="950" b="0" i="0" u="none" strike="noStrike" cap="none">
              <a:solidFill>
                <a:schemeClr val="dk1"/>
              </a:solidFill>
              <a:latin typeface="Calibri"/>
              <a:ea typeface="Calibri"/>
              <a:cs typeface="Calibri"/>
              <a:sym typeface="Calibri"/>
            </a:endParaRPr>
          </a:p>
        </p:txBody>
      </p:sp>
      <p:sp>
        <p:nvSpPr>
          <p:cNvPr id="540" name="Google Shape;540;p19"/>
          <p:cNvSpPr/>
          <p:nvPr/>
        </p:nvSpPr>
        <p:spPr>
          <a:xfrm>
            <a:off x="548640" y="4224528"/>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50"/>
              <a:buFont typeface="Arial"/>
              <a:buNone/>
            </a:pPr>
            <a:r>
              <a:rPr lang="en-US" sz="1350" b="1" i="0" u="none" strike="noStrike" cap="none">
                <a:solidFill>
                  <a:srgbClr val="1B2B31"/>
                </a:solidFill>
                <a:latin typeface="Arial"/>
                <a:ea typeface="Arial"/>
                <a:cs typeface="Arial"/>
                <a:sym typeface="Arial"/>
              </a:rPr>
              <a:t>Phép đếm token</a:t>
            </a:r>
            <a:endParaRPr sz="1350" b="0" i="0" u="none" strike="noStrike" cap="none">
              <a:solidFill>
                <a:schemeClr val="dk1"/>
              </a:solidFill>
              <a:latin typeface="Calibri"/>
              <a:ea typeface="Calibri"/>
              <a:cs typeface="Calibri"/>
              <a:sym typeface="Calibri"/>
            </a:endParaRPr>
          </a:p>
        </p:txBody>
      </p:sp>
      <p:sp>
        <p:nvSpPr>
          <p:cNvPr id="541" name="Google Shape;541;p19"/>
          <p:cNvSpPr/>
          <p:nvPr/>
        </p:nvSpPr>
        <p:spPr>
          <a:xfrm>
            <a:off x="548640" y="4572000"/>
            <a:ext cx="7406640" cy="420624"/>
          </a:xfrm>
          <a:prstGeom prst="roundRect">
            <a:avLst>
              <a:gd name="adj" fmla="val 130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9"/>
          <p:cNvSpPr/>
          <p:nvPr/>
        </p:nvSpPr>
        <p:spPr>
          <a:xfrm>
            <a:off x="749808" y="4572000"/>
            <a:ext cx="228600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Mỗi frame 224×224</a:t>
            </a:r>
            <a:endParaRPr sz="1100" b="0" i="0" u="none" strike="noStrike" cap="none">
              <a:solidFill>
                <a:schemeClr val="dk1"/>
              </a:solidFill>
              <a:latin typeface="Calibri"/>
              <a:ea typeface="Calibri"/>
              <a:cs typeface="Calibri"/>
              <a:sym typeface="Calibri"/>
            </a:endParaRPr>
          </a:p>
        </p:txBody>
      </p:sp>
      <p:sp>
        <p:nvSpPr>
          <p:cNvPr id="543" name="Google Shape;543;p19"/>
          <p:cNvSpPr/>
          <p:nvPr/>
        </p:nvSpPr>
        <p:spPr>
          <a:xfrm>
            <a:off x="3090672" y="4572000"/>
            <a:ext cx="475488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 256 patch token</a:t>
            </a:r>
            <a:endParaRPr sz="1100" b="0" i="0" u="none" strike="noStrike" cap="none">
              <a:solidFill>
                <a:schemeClr val="dk1"/>
              </a:solidFill>
              <a:latin typeface="Calibri"/>
              <a:ea typeface="Calibri"/>
              <a:cs typeface="Calibri"/>
              <a:sym typeface="Calibri"/>
            </a:endParaRPr>
          </a:p>
        </p:txBody>
      </p:sp>
      <p:sp>
        <p:nvSpPr>
          <p:cNvPr id="544" name="Google Shape;544;p19"/>
          <p:cNvSpPr/>
          <p:nvPr/>
        </p:nvSpPr>
        <p:spPr>
          <a:xfrm>
            <a:off x="548640" y="5084064"/>
            <a:ext cx="7406640" cy="420624"/>
          </a:xfrm>
          <a:prstGeom prst="roundRect">
            <a:avLst>
              <a:gd name="adj" fmla="val 13043"/>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9"/>
          <p:cNvSpPr/>
          <p:nvPr/>
        </p:nvSpPr>
        <p:spPr>
          <a:xfrm>
            <a:off x="749808" y="5084064"/>
            <a:ext cx="228600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8 RGB + 1 depth</a:t>
            </a:r>
            <a:endParaRPr sz="1100" b="0" i="0" u="none" strike="noStrike" cap="none">
              <a:solidFill>
                <a:schemeClr val="dk1"/>
              </a:solidFill>
              <a:latin typeface="Calibri"/>
              <a:ea typeface="Calibri"/>
              <a:cs typeface="Calibri"/>
              <a:sym typeface="Calibri"/>
            </a:endParaRPr>
          </a:p>
        </p:txBody>
      </p:sp>
      <p:sp>
        <p:nvSpPr>
          <p:cNvPr id="546" name="Google Shape;546;p19"/>
          <p:cNvSpPr/>
          <p:nvPr/>
        </p:nvSpPr>
        <p:spPr>
          <a:xfrm>
            <a:off x="3090672" y="5084064"/>
            <a:ext cx="475488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 9 × 256 token, khớp sức chứa (memory_size + 1) × 256</a:t>
            </a:r>
            <a:endParaRPr sz="1100" b="0" i="0" u="none" strike="noStrike" cap="none">
              <a:solidFill>
                <a:schemeClr val="dk1"/>
              </a:solidFill>
              <a:latin typeface="Calibri"/>
              <a:ea typeface="Calibri"/>
              <a:cs typeface="Calibri"/>
              <a:sym typeface="Calibri"/>
            </a:endParaRPr>
          </a:p>
        </p:txBody>
      </p:sp>
      <p:sp>
        <p:nvSpPr>
          <p:cNvPr id="547" name="Google Shape;547;p19"/>
          <p:cNvSpPr/>
          <p:nvPr/>
        </p:nvSpPr>
        <p:spPr>
          <a:xfrm>
            <a:off x="548640" y="5596128"/>
            <a:ext cx="7406640" cy="420624"/>
          </a:xfrm>
          <a:prstGeom prst="roundRect">
            <a:avLst>
              <a:gd name="adj" fmla="val 13043"/>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9"/>
          <p:cNvSpPr/>
          <p:nvPr/>
        </p:nvSpPr>
        <p:spPr>
          <a:xfrm>
            <a:off x="749808" y="5596128"/>
            <a:ext cx="228600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100"/>
              <a:buFont typeface="Arial"/>
              <a:buNone/>
            </a:pPr>
            <a:r>
              <a:rPr lang="en-US" sz="1100" b="1" i="0" u="none" strike="noStrike" cap="none">
                <a:solidFill>
                  <a:srgbClr val="028090"/>
                </a:solidFill>
                <a:latin typeface="Arial"/>
                <a:ea typeface="Arial"/>
                <a:cs typeface="Arial"/>
                <a:sym typeface="Arial"/>
              </a:rPr>
              <a:t>Learned queries nén</a:t>
            </a:r>
            <a:endParaRPr sz="1100" b="0" i="0" u="none" strike="noStrike" cap="none">
              <a:solidFill>
                <a:schemeClr val="dk1"/>
              </a:solidFill>
              <a:latin typeface="Calibri"/>
              <a:ea typeface="Calibri"/>
              <a:cs typeface="Calibri"/>
              <a:sym typeface="Calibri"/>
            </a:endParaRPr>
          </a:p>
        </p:txBody>
      </p:sp>
      <p:sp>
        <p:nvSpPr>
          <p:cNvPr id="549" name="Google Shape;549;p19"/>
          <p:cNvSpPr/>
          <p:nvPr/>
        </p:nvSpPr>
        <p:spPr>
          <a:xfrm>
            <a:off x="3090672" y="5596128"/>
            <a:ext cx="475488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 memory_size × 16 = 128 token, mỗi token 384 chiều</a:t>
            </a:r>
            <a:endParaRPr sz="1100" b="0" i="0" u="none" strike="noStrike" cap="none">
              <a:solidFill>
                <a:schemeClr val="dk1"/>
              </a:solidFill>
              <a:latin typeface="Calibri"/>
              <a:ea typeface="Calibri"/>
              <a:cs typeface="Calibri"/>
              <a:sym typeface="Calibri"/>
            </a:endParaRPr>
          </a:p>
        </p:txBody>
      </p:sp>
      <p:sp>
        <p:nvSpPr>
          <p:cNvPr id="550" name="Google Shape;550;p19"/>
          <p:cNvSpPr/>
          <p:nvPr/>
        </p:nvSpPr>
        <p:spPr>
          <a:xfrm>
            <a:off x="8229600" y="4526280"/>
            <a:ext cx="3410712" cy="1600200"/>
          </a:xfrm>
          <a:prstGeom prst="roundRect">
            <a:avLst>
              <a:gd name="adj" fmla="val 3429"/>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9"/>
          <p:cNvSpPr/>
          <p:nvPr/>
        </p:nvSpPr>
        <p:spPr>
          <a:xfrm>
            <a:off x="8458200" y="4709160"/>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Đừng nhầm</a:t>
            </a:r>
            <a:endParaRPr sz="1250" b="0" i="0" u="none" strike="noStrike" cap="none">
              <a:solidFill>
                <a:schemeClr val="dk1"/>
              </a:solidFill>
              <a:latin typeface="Calibri"/>
              <a:ea typeface="Calibri"/>
              <a:cs typeface="Calibri"/>
              <a:sym typeface="Calibri"/>
            </a:endParaRPr>
          </a:p>
        </p:txBody>
      </p:sp>
      <p:sp>
        <p:nvSpPr>
          <p:cNvPr id="552" name="Google Shape;552;p19"/>
          <p:cNvSpPr/>
          <p:nvPr/>
        </p:nvSpPr>
        <p:spPr>
          <a:xfrm>
            <a:off x="8458200" y="5010912"/>
            <a:ext cx="2971800" cy="960120"/>
          </a:xfrm>
          <a:prstGeom prst="rect">
            <a:avLst/>
          </a:prstGeom>
          <a:noFill/>
          <a:ln>
            <a:noFill/>
          </a:ln>
        </p:spPr>
        <p:txBody>
          <a:bodyPr spcFirstLastPara="1" wrap="square" lIns="0" tIns="0" rIns="0" bIns="0" anchor="ctr" anchorCtr="0">
            <a:noAutofit/>
          </a:bodyPr>
          <a:lstStyle/>
          <a:p>
            <a:pPr marL="0" marR="0" lvl="0" indent="0" algn="l" rtl="0">
              <a:lnSpc>
                <a:spcPct val="136363"/>
              </a:lnSpc>
              <a:spcBef>
                <a:spcPts val="0"/>
              </a:spcBef>
              <a:spcAft>
                <a:spcPts val="0"/>
              </a:spcAft>
              <a:buClr>
                <a:srgbClr val="C7DADC"/>
              </a:buClr>
              <a:buSzPts val="1100"/>
              <a:buFont typeface="Arial"/>
              <a:buNone/>
            </a:pPr>
            <a:r>
              <a:rPr lang="en-US" sz="1100" b="0" i="0" u="none" strike="noStrike" cap="none">
                <a:solidFill>
                  <a:srgbClr val="C7DADC"/>
                </a:solidFill>
                <a:latin typeface="Arial"/>
                <a:ea typeface="Arial"/>
                <a:cs typeface="Arial"/>
                <a:sym typeface="Arial"/>
              </a:rPr>
              <a:t>Depth 1 kênh được lặp thành 3 kênh để đi qua ViT. Đó là channel conversion nội bộ — KHÔNG phải lặp depth thành 8 frame theo thời gian.</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20"/>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1</a:t>
            </a:r>
            <a:endParaRPr sz="1050" b="0" i="0" u="none" strike="noStrike" cap="none">
              <a:solidFill>
                <a:schemeClr val="dk1"/>
              </a:solidFill>
              <a:latin typeface="Calibri"/>
              <a:ea typeface="Calibri"/>
              <a:cs typeface="Calibri"/>
              <a:sym typeface="Calibri"/>
            </a:endParaRPr>
          </a:p>
        </p:txBody>
      </p:sp>
      <p:sp>
        <p:nvSpPr>
          <p:cNvPr id="559" name="Google Shape;559;p20"/>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Sinh quỹ đạo bằng diffusion</a:t>
            </a:r>
            <a:endParaRPr sz="2500" b="0" i="0" u="none" strike="noStrike" cap="none">
              <a:solidFill>
                <a:schemeClr val="dk1"/>
              </a:solidFill>
              <a:latin typeface="Calibri"/>
              <a:ea typeface="Calibri"/>
              <a:cs typeface="Calibri"/>
              <a:sym typeface="Calibri"/>
            </a:endParaRPr>
          </a:p>
        </p:txBody>
      </p:sp>
      <p:sp>
        <p:nvSpPr>
          <p:cNvPr id="560" name="Google Shape;560;p20"/>
          <p:cNvSpPr/>
          <p:nvPr/>
        </p:nvSpPr>
        <p:spPr>
          <a:xfrm>
            <a:off x="548640" y="1463040"/>
            <a:ext cx="2377440" cy="658368"/>
          </a:xfrm>
          <a:prstGeom prst="roundRect">
            <a:avLst>
              <a:gd name="adj" fmla="val 6944"/>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03504" y="1508760"/>
            <a:ext cx="22677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Gaussian noise</a:t>
            </a:r>
            <a:endParaRPr sz="1100" b="0" i="0" u="none" strike="noStrike" cap="none">
              <a:solidFill>
                <a:schemeClr val="dk1"/>
              </a:solidFill>
              <a:latin typeface="Calibri"/>
              <a:ea typeface="Calibri"/>
              <a:cs typeface="Calibri"/>
              <a:sym typeface="Calibri"/>
            </a:endParaRPr>
          </a:p>
        </p:txBody>
      </p:sp>
      <p:sp>
        <p:nvSpPr>
          <p:cNvPr id="562" name="Google Shape;562;p20"/>
          <p:cNvSpPr/>
          <p:nvPr/>
        </p:nvSpPr>
        <p:spPr>
          <a:xfrm>
            <a:off x="603504" y="1783080"/>
            <a:ext cx="22677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50"/>
              <a:buFont typeface="Courier New"/>
              <a:buNone/>
            </a:pPr>
            <a:r>
              <a:rPr lang="en-US" sz="950" b="0" i="0" u="none" strike="noStrike" cap="none">
                <a:solidFill>
                  <a:srgbClr val="5C6E73"/>
                </a:solidFill>
                <a:latin typeface="Courier New"/>
                <a:ea typeface="Courier New"/>
                <a:cs typeface="Courier New"/>
                <a:sym typeface="Courier New"/>
              </a:rPr>
              <a:t>[K×B, 24, 3]</a:t>
            </a:r>
            <a:endParaRPr sz="950" b="0" i="0" u="none" strike="noStrike" cap="none">
              <a:solidFill>
                <a:schemeClr val="dk1"/>
              </a:solidFill>
              <a:latin typeface="Calibri"/>
              <a:ea typeface="Calibri"/>
              <a:cs typeface="Calibri"/>
              <a:sym typeface="Calibri"/>
            </a:endParaRPr>
          </a:p>
        </p:txBody>
      </p:sp>
      <p:cxnSp>
        <p:nvCxnSpPr>
          <p:cNvPr id="563" name="Google Shape;563;p20"/>
          <p:cNvCxnSpPr/>
          <p:nvPr/>
        </p:nvCxnSpPr>
        <p:spPr>
          <a:xfrm>
            <a:off x="1737360" y="2121408"/>
            <a:ext cx="0" cy="310896"/>
          </a:xfrm>
          <a:prstGeom prst="straightConnector1">
            <a:avLst/>
          </a:prstGeom>
          <a:noFill/>
          <a:ln w="15875" cap="flat" cmpd="sng">
            <a:solidFill>
              <a:srgbClr val="5C6E73"/>
            </a:solidFill>
            <a:prstDash val="solid"/>
            <a:round/>
            <a:headEnd type="none" w="sm" len="sm"/>
            <a:tailEnd type="triangle" w="med" len="med"/>
          </a:ln>
        </p:spPr>
      </p:cxnSp>
      <p:sp>
        <p:nvSpPr>
          <p:cNvPr id="564" name="Google Shape;564;p20"/>
          <p:cNvSpPr/>
          <p:nvPr/>
        </p:nvSpPr>
        <p:spPr>
          <a:xfrm>
            <a:off x="548640" y="2432304"/>
            <a:ext cx="237744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03504" y="2432304"/>
            <a:ext cx="226771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00"/>
              <a:buFont typeface="Arial"/>
              <a:buNone/>
            </a:pPr>
            <a:r>
              <a:rPr lang="en-US" sz="1000" b="1" i="0" u="none" strike="noStrike" cap="none">
                <a:solidFill>
                  <a:srgbClr val="1B2B31"/>
                </a:solidFill>
                <a:latin typeface="Arial"/>
                <a:ea typeface="Arial"/>
                <a:cs typeface="Arial"/>
                <a:sym typeface="Arial"/>
              </a:rPr>
              <a:t>Action embedding + position</a:t>
            </a:r>
            <a:endParaRPr sz="1000" b="0" i="0" u="none" strike="noStrike" cap="none">
              <a:solidFill>
                <a:schemeClr val="dk1"/>
              </a:solidFill>
              <a:latin typeface="Calibri"/>
              <a:ea typeface="Calibri"/>
              <a:cs typeface="Calibri"/>
              <a:sym typeface="Calibri"/>
            </a:endParaRPr>
          </a:p>
        </p:txBody>
      </p:sp>
      <p:cxnSp>
        <p:nvCxnSpPr>
          <p:cNvPr id="566" name="Google Shape;566;p20"/>
          <p:cNvCxnSpPr/>
          <p:nvPr/>
        </p:nvCxnSpPr>
        <p:spPr>
          <a:xfrm>
            <a:off x="1737360" y="2999232"/>
            <a:ext cx="0" cy="310896"/>
          </a:xfrm>
          <a:prstGeom prst="straightConnector1">
            <a:avLst/>
          </a:prstGeom>
          <a:noFill/>
          <a:ln w="15875" cap="flat" cmpd="sng">
            <a:solidFill>
              <a:srgbClr val="028090"/>
            </a:solidFill>
            <a:prstDash val="solid"/>
            <a:round/>
            <a:headEnd type="none" w="sm" len="sm"/>
            <a:tailEnd type="triangle" w="med" len="med"/>
          </a:ln>
        </p:spPr>
      </p:cxnSp>
      <p:sp>
        <p:nvSpPr>
          <p:cNvPr id="567" name="Google Shape;567;p20"/>
          <p:cNvSpPr/>
          <p:nvPr/>
        </p:nvSpPr>
        <p:spPr>
          <a:xfrm>
            <a:off x="548640" y="3310128"/>
            <a:ext cx="2377440" cy="685800"/>
          </a:xfrm>
          <a:prstGeom prst="roundRect">
            <a:avLst>
              <a:gd name="adj" fmla="val 6667"/>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603504" y="3369564"/>
            <a:ext cx="226771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Transformer decoder</a:t>
            </a:r>
            <a:endParaRPr sz="1100" b="0" i="0" u="none" strike="noStrike" cap="none">
              <a:solidFill>
                <a:schemeClr val="dk1"/>
              </a:solidFill>
              <a:latin typeface="Calibri"/>
              <a:ea typeface="Calibri"/>
              <a:cs typeface="Calibri"/>
              <a:sym typeface="Calibri"/>
            </a:endParaRPr>
          </a:p>
        </p:txBody>
      </p:sp>
      <p:sp>
        <p:nvSpPr>
          <p:cNvPr id="569" name="Google Shape;569;p20"/>
          <p:cNvSpPr/>
          <p:nvPr/>
        </p:nvSpPr>
        <p:spPr>
          <a:xfrm>
            <a:off x="603504" y="3643884"/>
            <a:ext cx="226771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 temporal_depth</a:t>
            </a:r>
            <a:endParaRPr sz="900" b="0" i="0" u="none" strike="noStrike" cap="none">
              <a:solidFill>
                <a:schemeClr val="dk1"/>
              </a:solidFill>
              <a:latin typeface="Calibri"/>
              <a:ea typeface="Calibri"/>
              <a:cs typeface="Calibri"/>
              <a:sym typeface="Calibri"/>
            </a:endParaRPr>
          </a:p>
        </p:txBody>
      </p:sp>
      <p:cxnSp>
        <p:nvCxnSpPr>
          <p:cNvPr id="570" name="Google Shape;570;p20"/>
          <p:cNvCxnSpPr/>
          <p:nvPr/>
        </p:nvCxnSpPr>
        <p:spPr>
          <a:xfrm>
            <a:off x="1737360" y="3995928"/>
            <a:ext cx="0" cy="310896"/>
          </a:xfrm>
          <a:prstGeom prst="straightConnector1">
            <a:avLst/>
          </a:prstGeom>
          <a:noFill/>
          <a:ln w="15875" cap="flat" cmpd="sng">
            <a:solidFill>
              <a:srgbClr val="D98324"/>
            </a:solidFill>
            <a:prstDash val="solid"/>
            <a:round/>
            <a:headEnd type="none" w="sm" len="sm"/>
            <a:tailEnd type="triangle" w="med" len="med"/>
          </a:ln>
        </p:spPr>
      </p:cxnSp>
      <p:sp>
        <p:nvSpPr>
          <p:cNvPr id="571" name="Google Shape;571;p20"/>
          <p:cNvSpPr/>
          <p:nvPr/>
        </p:nvSpPr>
        <p:spPr>
          <a:xfrm>
            <a:off x="548640" y="4306824"/>
            <a:ext cx="2377440" cy="566928"/>
          </a:xfrm>
          <a:prstGeom prst="roundRect">
            <a:avLst>
              <a:gd name="adj" fmla="val 8065"/>
            </a:avLst>
          </a:prstGeom>
          <a:solidFill>
            <a:srgbClr val="FFFFFF"/>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603504" y="4306824"/>
            <a:ext cx="226771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Predicted noise</a:t>
            </a:r>
            <a:endParaRPr sz="1050" b="0" i="0" u="none" strike="noStrike" cap="none">
              <a:solidFill>
                <a:schemeClr val="dk1"/>
              </a:solidFill>
              <a:latin typeface="Calibri"/>
              <a:ea typeface="Calibri"/>
              <a:cs typeface="Calibri"/>
              <a:sym typeface="Calibri"/>
            </a:endParaRPr>
          </a:p>
        </p:txBody>
      </p:sp>
      <p:cxnSp>
        <p:nvCxnSpPr>
          <p:cNvPr id="573" name="Google Shape;573;p20"/>
          <p:cNvCxnSpPr/>
          <p:nvPr/>
        </p:nvCxnSpPr>
        <p:spPr>
          <a:xfrm>
            <a:off x="1737360" y="4873752"/>
            <a:ext cx="0" cy="310896"/>
          </a:xfrm>
          <a:prstGeom prst="straightConnector1">
            <a:avLst/>
          </a:prstGeom>
          <a:noFill/>
          <a:ln w="15875" cap="flat" cmpd="sng">
            <a:solidFill>
              <a:srgbClr val="D98324"/>
            </a:solidFill>
            <a:prstDash val="solid"/>
            <a:round/>
            <a:headEnd type="none" w="sm" len="sm"/>
            <a:tailEnd type="triangle" w="med" len="med"/>
          </a:ln>
        </p:spPr>
      </p:cxnSp>
      <p:sp>
        <p:nvSpPr>
          <p:cNvPr id="574" name="Google Shape;574;p20"/>
          <p:cNvSpPr/>
          <p:nvPr/>
        </p:nvSpPr>
        <p:spPr>
          <a:xfrm>
            <a:off x="548640" y="5184648"/>
            <a:ext cx="2377440" cy="566928"/>
          </a:xfrm>
          <a:prstGeom prst="roundRect">
            <a:avLst>
              <a:gd name="adj" fmla="val 8065"/>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603504" y="5184648"/>
            <a:ext cx="2267712" cy="5669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Arial"/>
              <a:buNone/>
            </a:pPr>
            <a:r>
              <a:rPr lang="en-US" sz="1050" b="1" i="0" u="none" strike="noStrike" cap="none">
                <a:solidFill>
                  <a:srgbClr val="1B2B31"/>
                </a:solidFill>
                <a:latin typeface="Arial"/>
                <a:ea typeface="Arial"/>
                <a:cs typeface="Arial"/>
                <a:sym typeface="Arial"/>
              </a:rPr>
              <a:t>DDPM scheduler step</a:t>
            </a:r>
            <a:endParaRPr sz="1050" b="0" i="0" u="none" strike="noStrike" cap="none">
              <a:solidFill>
                <a:schemeClr val="dk1"/>
              </a:solidFill>
              <a:latin typeface="Calibri"/>
              <a:ea typeface="Calibri"/>
              <a:cs typeface="Calibri"/>
              <a:sym typeface="Calibri"/>
            </a:endParaRPr>
          </a:p>
        </p:txBody>
      </p:sp>
      <p:cxnSp>
        <p:nvCxnSpPr>
          <p:cNvPr id="576" name="Google Shape;576;p20"/>
          <p:cNvCxnSpPr/>
          <p:nvPr/>
        </p:nvCxnSpPr>
        <p:spPr>
          <a:xfrm rot="10800000">
            <a:off x="310896" y="5468112"/>
            <a:ext cx="237744" cy="0"/>
          </a:xfrm>
          <a:prstGeom prst="straightConnector1">
            <a:avLst/>
          </a:prstGeom>
          <a:noFill/>
          <a:ln w="15875" cap="flat" cmpd="sng">
            <a:solidFill>
              <a:srgbClr val="028090"/>
            </a:solidFill>
            <a:prstDash val="solid"/>
            <a:round/>
            <a:headEnd type="none" w="sm" len="sm"/>
            <a:tailEnd type="none" w="sm" len="sm"/>
          </a:ln>
        </p:spPr>
      </p:cxnSp>
      <p:cxnSp>
        <p:nvCxnSpPr>
          <p:cNvPr id="577" name="Google Shape;577;p20"/>
          <p:cNvCxnSpPr/>
          <p:nvPr/>
        </p:nvCxnSpPr>
        <p:spPr>
          <a:xfrm rot="10800000">
            <a:off x="310896" y="2715768"/>
            <a:ext cx="0" cy="2752344"/>
          </a:xfrm>
          <a:prstGeom prst="straightConnector1">
            <a:avLst/>
          </a:prstGeom>
          <a:noFill/>
          <a:ln w="15875" cap="flat" cmpd="sng">
            <a:solidFill>
              <a:srgbClr val="028090"/>
            </a:solidFill>
            <a:prstDash val="solid"/>
            <a:round/>
            <a:headEnd type="none" w="sm" len="sm"/>
            <a:tailEnd type="none" w="sm" len="sm"/>
          </a:ln>
        </p:spPr>
      </p:cxnSp>
      <p:cxnSp>
        <p:nvCxnSpPr>
          <p:cNvPr id="578" name="Google Shape;578;p20"/>
          <p:cNvCxnSpPr/>
          <p:nvPr/>
        </p:nvCxnSpPr>
        <p:spPr>
          <a:xfrm>
            <a:off x="310896" y="2715768"/>
            <a:ext cx="237744" cy="0"/>
          </a:xfrm>
          <a:prstGeom prst="straightConnector1">
            <a:avLst/>
          </a:prstGeom>
          <a:noFill/>
          <a:ln w="15875" cap="flat" cmpd="sng">
            <a:solidFill>
              <a:srgbClr val="028090"/>
            </a:solidFill>
            <a:prstDash val="solid"/>
            <a:round/>
            <a:headEnd type="none" w="sm" len="sm"/>
            <a:tailEnd type="triangle" w="med" len="med"/>
          </a:ln>
        </p:spPr>
      </p:cxnSp>
      <p:sp>
        <p:nvSpPr>
          <p:cNvPr id="579" name="Google Shape;579;p20"/>
          <p:cNvSpPr/>
          <p:nvPr/>
        </p:nvSpPr>
        <p:spPr>
          <a:xfrm>
            <a:off x="109728" y="3913632"/>
            <a:ext cx="402336" cy="292608"/>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91440" y="3913632"/>
            <a:ext cx="438912"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1000"/>
              <a:buFont typeface="Arial"/>
              <a:buNone/>
            </a:pPr>
            <a:r>
              <a:rPr lang="en-US" sz="1000" b="1" i="0" u="none" strike="noStrike" cap="none">
                <a:solidFill>
                  <a:srgbClr val="028090"/>
                </a:solidFill>
                <a:latin typeface="Arial"/>
                <a:ea typeface="Arial"/>
                <a:cs typeface="Arial"/>
                <a:sym typeface="Arial"/>
              </a:rPr>
              <a:t>× 10</a:t>
            </a:r>
            <a:endParaRPr sz="1000" b="0" i="0" u="none" strike="noStrike" cap="none">
              <a:solidFill>
                <a:schemeClr val="dk1"/>
              </a:solidFill>
              <a:latin typeface="Calibri"/>
              <a:ea typeface="Calibri"/>
              <a:cs typeface="Calibri"/>
              <a:sym typeface="Calibri"/>
            </a:endParaRPr>
          </a:p>
        </p:txBody>
      </p:sp>
      <p:sp>
        <p:nvSpPr>
          <p:cNvPr id="581" name="Google Shape;581;p20"/>
          <p:cNvSpPr/>
          <p:nvPr/>
        </p:nvSpPr>
        <p:spPr>
          <a:xfrm>
            <a:off x="3246120" y="1463040"/>
            <a:ext cx="3063240" cy="4297680"/>
          </a:xfrm>
          <a:prstGeom prst="roundRect">
            <a:avLst>
              <a:gd name="adj" fmla="val 1791"/>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3474720" y="1664208"/>
            <a:ext cx="2651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US" sz="1300" b="1" i="0" u="none" strike="noStrike" cap="none">
                <a:solidFill>
                  <a:srgbClr val="028090"/>
                </a:solidFill>
                <a:latin typeface="Arial"/>
                <a:ea typeface="Arial"/>
                <a:cs typeface="Arial"/>
                <a:sym typeface="Arial"/>
              </a:rPr>
              <a:t>Condition memory</a:t>
            </a:r>
            <a:endParaRPr sz="1300" b="0" i="0" u="none" strike="noStrike" cap="none">
              <a:solidFill>
                <a:schemeClr val="dk1"/>
              </a:solidFill>
              <a:latin typeface="Calibri"/>
              <a:ea typeface="Calibri"/>
              <a:cs typeface="Calibri"/>
              <a:sym typeface="Calibri"/>
            </a:endParaRPr>
          </a:p>
        </p:txBody>
      </p:sp>
      <p:sp>
        <p:nvSpPr>
          <p:cNvPr id="583" name="Google Shape;583;p20"/>
          <p:cNvSpPr/>
          <p:nvPr/>
        </p:nvSpPr>
        <p:spPr>
          <a:xfrm>
            <a:off x="3474720" y="2084832"/>
            <a:ext cx="2606040" cy="731520"/>
          </a:xfrm>
          <a:prstGeom prst="roundRect">
            <a:avLst>
              <a:gd name="adj" fmla="val 5000"/>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3611880" y="2176272"/>
            <a:ext cx="23774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Time token</a:t>
            </a:r>
            <a:endParaRPr sz="1150" b="0" i="0" u="none" strike="noStrike" cap="none">
              <a:solidFill>
                <a:schemeClr val="dk1"/>
              </a:solidFill>
              <a:latin typeface="Calibri"/>
              <a:ea typeface="Calibri"/>
              <a:cs typeface="Calibri"/>
              <a:sym typeface="Calibri"/>
            </a:endParaRPr>
          </a:p>
        </p:txBody>
      </p:sp>
      <p:sp>
        <p:nvSpPr>
          <p:cNvPr id="585" name="Google Shape;585;p20"/>
          <p:cNvSpPr/>
          <p:nvPr/>
        </p:nvSpPr>
        <p:spPr>
          <a:xfrm>
            <a:off x="3611880" y="2414016"/>
            <a:ext cx="2377440" cy="32918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sinusoidal timestep encoding</a:t>
            </a:r>
            <a:endParaRPr sz="1000" b="0" i="0" u="none" strike="noStrike" cap="none">
              <a:solidFill>
                <a:schemeClr val="dk1"/>
              </a:solidFill>
              <a:latin typeface="Calibri"/>
              <a:ea typeface="Calibri"/>
              <a:cs typeface="Calibri"/>
              <a:sym typeface="Calibri"/>
            </a:endParaRPr>
          </a:p>
        </p:txBody>
      </p:sp>
      <p:sp>
        <p:nvSpPr>
          <p:cNvPr id="586" name="Google Shape;586;p20"/>
          <p:cNvSpPr/>
          <p:nvPr/>
        </p:nvSpPr>
        <p:spPr>
          <a:xfrm>
            <a:off x="3474720" y="2953512"/>
            <a:ext cx="2606040" cy="731520"/>
          </a:xfrm>
          <a:prstGeom prst="roundRect">
            <a:avLst>
              <a:gd name="adj" fmla="val 5000"/>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3611880" y="3044952"/>
            <a:ext cx="23774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Goal token × 3</a:t>
            </a:r>
            <a:endParaRPr sz="1150" b="0" i="0" u="none" strike="noStrike" cap="none">
              <a:solidFill>
                <a:schemeClr val="dk1"/>
              </a:solidFill>
              <a:latin typeface="Calibri"/>
              <a:ea typeface="Calibri"/>
              <a:cs typeface="Calibri"/>
              <a:sym typeface="Calibri"/>
            </a:endParaRPr>
          </a:p>
        </p:txBody>
      </p:sp>
      <p:sp>
        <p:nvSpPr>
          <p:cNvPr id="588" name="Google Shape;588;p20"/>
          <p:cNvSpPr/>
          <p:nvPr/>
        </p:nvSpPr>
        <p:spPr>
          <a:xfrm>
            <a:off x="3611880" y="3282696"/>
            <a:ext cx="2377440" cy="32918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point goal: Linear(3 → 384)</a:t>
            </a:r>
            <a:endParaRPr sz="1000" b="0" i="0" u="none" strike="noStrike" cap="none">
              <a:solidFill>
                <a:schemeClr val="dk1"/>
              </a:solidFill>
              <a:latin typeface="Calibri"/>
              <a:ea typeface="Calibri"/>
              <a:cs typeface="Calibri"/>
              <a:sym typeface="Calibri"/>
            </a:endParaRPr>
          </a:p>
        </p:txBody>
      </p:sp>
      <p:sp>
        <p:nvSpPr>
          <p:cNvPr id="589" name="Google Shape;589;p20"/>
          <p:cNvSpPr/>
          <p:nvPr/>
        </p:nvSpPr>
        <p:spPr>
          <a:xfrm>
            <a:off x="3474720" y="3822192"/>
            <a:ext cx="2606040" cy="731520"/>
          </a:xfrm>
          <a:prstGeom prst="roundRect">
            <a:avLst>
              <a:gd name="adj" fmla="val 5000"/>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3611880" y="3913632"/>
            <a:ext cx="23774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RGB-D memory</a:t>
            </a:r>
            <a:endParaRPr sz="1150" b="0" i="0" u="none" strike="noStrike" cap="none">
              <a:solidFill>
                <a:schemeClr val="dk1"/>
              </a:solidFill>
              <a:latin typeface="Calibri"/>
              <a:ea typeface="Calibri"/>
              <a:cs typeface="Calibri"/>
              <a:sym typeface="Calibri"/>
            </a:endParaRPr>
          </a:p>
        </p:txBody>
      </p:sp>
      <p:sp>
        <p:nvSpPr>
          <p:cNvPr id="591" name="Google Shape;591;p20"/>
          <p:cNvSpPr/>
          <p:nvPr/>
        </p:nvSpPr>
        <p:spPr>
          <a:xfrm>
            <a:off x="3611880" y="4151376"/>
            <a:ext cx="2377440" cy="329184"/>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128 token × 384 chiều</a:t>
            </a:r>
            <a:endParaRPr sz="1000" b="0" i="0" u="none" strike="noStrike" cap="none">
              <a:solidFill>
                <a:schemeClr val="dk1"/>
              </a:solidFill>
              <a:latin typeface="Calibri"/>
              <a:ea typeface="Calibri"/>
              <a:cs typeface="Calibri"/>
              <a:sym typeface="Calibri"/>
            </a:endParaRPr>
          </a:p>
        </p:txBody>
      </p:sp>
      <p:cxnSp>
        <p:nvCxnSpPr>
          <p:cNvPr id="592" name="Google Shape;592;p20"/>
          <p:cNvCxnSpPr/>
          <p:nvPr/>
        </p:nvCxnSpPr>
        <p:spPr>
          <a:xfrm>
            <a:off x="2926080" y="3648456"/>
            <a:ext cx="320040" cy="0"/>
          </a:xfrm>
          <a:prstGeom prst="straightConnector1">
            <a:avLst/>
          </a:prstGeom>
          <a:noFill/>
          <a:ln w="15875" cap="flat" cmpd="sng">
            <a:solidFill>
              <a:srgbClr val="028090"/>
            </a:solidFill>
            <a:prstDash val="solid"/>
            <a:round/>
            <a:headEnd type="none" w="sm" len="sm"/>
            <a:tailEnd type="triangle" w="med" len="med"/>
          </a:ln>
        </p:spPr>
      </p:cxnSp>
      <p:sp>
        <p:nvSpPr>
          <p:cNvPr id="593" name="Google Shape;593;p20"/>
          <p:cNvSpPr/>
          <p:nvPr/>
        </p:nvSpPr>
        <p:spPr>
          <a:xfrm>
            <a:off x="3474720" y="4828032"/>
            <a:ext cx="2651760" cy="685800"/>
          </a:xfrm>
          <a:prstGeom prst="rect">
            <a:avLst/>
          </a:prstGeom>
          <a:noFill/>
          <a:ln>
            <a:noFill/>
          </a:ln>
        </p:spPr>
        <p:txBody>
          <a:bodyPr spcFirstLastPara="1" wrap="square" lIns="0" tIns="0" rIns="0" bIns="0" anchor="ctr" anchorCtr="0">
            <a:noAutofit/>
          </a:bodyPr>
          <a:lstStyle/>
          <a:p>
            <a:pPr marL="0" marR="0" lvl="0" indent="0" algn="l" rtl="0">
              <a:lnSpc>
                <a:spcPct val="127272"/>
              </a:lnSpc>
              <a:spcBef>
                <a:spcPts val="0"/>
              </a:spcBef>
              <a:spcAft>
                <a:spcPts val="0"/>
              </a:spcAft>
              <a:buClr>
                <a:srgbClr val="1B2B31"/>
              </a:buClr>
              <a:buSzPts val="1100"/>
              <a:buFont typeface="Arial"/>
              <a:buNone/>
            </a:pPr>
            <a:r>
              <a:rPr lang="en-US" sz="1100" b="0" i="1" u="none" strike="noStrike" cap="none">
                <a:solidFill>
                  <a:srgbClr val="1B2B31"/>
                </a:solidFill>
                <a:latin typeface="Arial"/>
                <a:ea typeface="Arial"/>
                <a:cs typeface="Arial"/>
                <a:sym typeface="Arial"/>
              </a:rPr>
              <a:t>Goal điều kiện hoá từng bước khử nhiễu, không chỉ ở bước đầu.</a:t>
            </a:r>
            <a:endParaRPr sz="1100" b="0" i="0" u="none" strike="noStrike" cap="none">
              <a:solidFill>
                <a:schemeClr val="dk1"/>
              </a:solidFill>
              <a:latin typeface="Calibri"/>
              <a:ea typeface="Calibri"/>
              <a:cs typeface="Calibri"/>
              <a:sym typeface="Calibri"/>
            </a:endParaRPr>
          </a:p>
        </p:txBody>
      </p:sp>
      <p:sp>
        <p:nvSpPr>
          <p:cNvPr id="594" name="Google Shape;594;p20"/>
          <p:cNvSpPr/>
          <p:nvPr/>
        </p:nvSpPr>
        <p:spPr>
          <a:xfrm>
            <a:off x="6583680" y="1463040"/>
            <a:ext cx="5056632" cy="2011680"/>
          </a:xfrm>
          <a:prstGeom prst="roundRect">
            <a:avLst>
              <a:gd name="adj" fmla="val 2727"/>
            </a:avLst>
          </a:prstGeom>
          <a:solidFill>
            <a:srgbClr val="FFFFFF"/>
          </a:solidFill>
          <a:ln w="1777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6858000" y="1664208"/>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50"/>
              <a:buFont typeface="Arial"/>
              <a:buNone/>
            </a:pPr>
            <a:r>
              <a:rPr lang="en-US" sz="1350" b="1" i="0" u="none" strike="noStrike" cap="none">
                <a:solidFill>
                  <a:srgbClr val="D98324"/>
                </a:solidFill>
                <a:latin typeface="Arial"/>
                <a:ea typeface="Arial"/>
                <a:cs typeface="Arial"/>
                <a:sym typeface="Arial"/>
              </a:rPr>
              <a:t>Vì sao sinh nhiều ứng viên?</a:t>
            </a:r>
            <a:endParaRPr sz="1350" b="0" i="0" u="none" strike="noStrike" cap="none">
              <a:solidFill>
                <a:schemeClr val="dk1"/>
              </a:solidFill>
              <a:latin typeface="Calibri"/>
              <a:ea typeface="Calibri"/>
              <a:cs typeface="Calibri"/>
              <a:sym typeface="Calibri"/>
            </a:endParaRPr>
          </a:p>
        </p:txBody>
      </p:sp>
      <p:sp>
        <p:nvSpPr>
          <p:cNvPr id="596" name="Google Shape;596;p20"/>
          <p:cNvSpPr/>
          <p:nvPr/>
        </p:nvSpPr>
        <p:spPr>
          <a:xfrm>
            <a:off x="6858000" y="2029968"/>
            <a:ext cx="4572000" cy="1280160"/>
          </a:xfrm>
          <a:prstGeom prst="rect">
            <a:avLst/>
          </a:prstGeom>
          <a:noFill/>
          <a:ln>
            <a:noFill/>
          </a:ln>
        </p:spPr>
        <p:txBody>
          <a:bodyPr spcFirstLastPara="1" wrap="square" lIns="0" tIns="0" rIns="0" bIns="0" anchor="ctr" anchorCtr="0">
            <a:noAutofit/>
          </a:bodyPr>
          <a:lstStyle/>
          <a:p>
            <a:pPr marL="0" marR="0" lvl="0" indent="0" algn="l" rtl="0">
              <a:lnSpc>
                <a:spcPct val="141666"/>
              </a:lnSpc>
              <a:spcBef>
                <a:spcPts val="0"/>
              </a:spcBef>
              <a:spcAft>
                <a:spcPts val="0"/>
              </a:spcAft>
              <a:buClr>
                <a:srgbClr val="1B2B31"/>
              </a:buClr>
              <a:buSzPts val="1200"/>
              <a:buFont typeface="Arial"/>
              <a:buNone/>
            </a:pPr>
            <a:r>
              <a:rPr lang="en-US" sz="1200" b="0" i="0" u="none" strike="noStrike" cap="none">
                <a:solidFill>
                  <a:srgbClr val="1B2B31"/>
                </a:solidFill>
                <a:latin typeface="Arial"/>
                <a:ea typeface="Arial"/>
                <a:cs typeface="Arial"/>
                <a:sym typeface="Arial"/>
              </a:rPr>
              <a:t>Từ một quan sát có thể tồn tại nhiều đường đi đều hợp lý — đi vòng trái hay vòng phải quanh một chiếc ghế đều đúng. Diffusion giữ được tính đa phương án thay vì ép model trả về một quỹ đạo trung bình vô nghĩa.</a:t>
            </a:r>
            <a:endParaRPr sz="1200" b="0" i="0" u="none" strike="noStrike" cap="none">
              <a:solidFill>
                <a:schemeClr val="dk1"/>
              </a:solidFill>
              <a:latin typeface="Calibri"/>
              <a:ea typeface="Calibri"/>
              <a:cs typeface="Calibri"/>
              <a:sym typeface="Calibri"/>
            </a:endParaRPr>
          </a:p>
        </p:txBody>
      </p:sp>
      <p:sp>
        <p:nvSpPr>
          <p:cNvPr id="597" name="Google Shape;597;p20"/>
          <p:cNvSpPr/>
          <p:nvPr/>
        </p:nvSpPr>
        <p:spPr>
          <a:xfrm>
            <a:off x="6583680" y="3657600"/>
            <a:ext cx="1572768" cy="1051560"/>
          </a:xfrm>
          <a:prstGeom prst="roundRect">
            <a:avLst>
              <a:gd name="adj" fmla="val 521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583680" y="3767328"/>
            <a:ext cx="1572768"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24</a:t>
            </a:r>
            <a:endParaRPr sz="3000" b="0" i="0" u="none" strike="noStrike" cap="none">
              <a:solidFill>
                <a:schemeClr val="dk1"/>
              </a:solidFill>
              <a:latin typeface="Calibri"/>
              <a:ea typeface="Calibri"/>
              <a:cs typeface="Calibri"/>
              <a:sym typeface="Calibri"/>
            </a:endParaRPr>
          </a:p>
        </p:txBody>
      </p:sp>
      <p:sp>
        <p:nvSpPr>
          <p:cNvPr id="599" name="Google Shape;599;p20"/>
          <p:cNvSpPr/>
          <p:nvPr/>
        </p:nvSpPr>
        <p:spPr>
          <a:xfrm>
            <a:off x="6583680" y="4315968"/>
            <a:ext cx="15727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bước dự đoán</a:t>
            </a:r>
            <a:endParaRPr sz="1000" b="0" i="0" u="none" strike="noStrike" cap="none">
              <a:solidFill>
                <a:schemeClr val="dk1"/>
              </a:solidFill>
              <a:latin typeface="Calibri"/>
              <a:ea typeface="Calibri"/>
              <a:cs typeface="Calibri"/>
              <a:sym typeface="Calibri"/>
            </a:endParaRPr>
          </a:p>
        </p:txBody>
      </p:sp>
      <p:sp>
        <p:nvSpPr>
          <p:cNvPr id="600" name="Google Shape;600;p20"/>
          <p:cNvSpPr/>
          <p:nvPr/>
        </p:nvSpPr>
        <p:spPr>
          <a:xfrm>
            <a:off x="8302752" y="3657600"/>
            <a:ext cx="1572768" cy="1051560"/>
          </a:xfrm>
          <a:prstGeom prst="roundRect">
            <a:avLst>
              <a:gd name="adj" fmla="val 521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8302752" y="3767328"/>
            <a:ext cx="1572768"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10</a:t>
            </a:r>
            <a:endParaRPr sz="3000" b="0" i="0" u="none" strike="noStrike" cap="none">
              <a:solidFill>
                <a:schemeClr val="dk1"/>
              </a:solidFill>
              <a:latin typeface="Calibri"/>
              <a:ea typeface="Calibri"/>
              <a:cs typeface="Calibri"/>
              <a:sym typeface="Calibri"/>
            </a:endParaRPr>
          </a:p>
        </p:txBody>
      </p:sp>
      <p:sp>
        <p:nvSpPr>
          <p:cNvPr id="602" name="Google Shape;602;p20"/>
          <p:cNvSpPr/>
          <p:nvPr/>
        </p:nvSpPr>
        <p:spPr>
          <a:xfrm>
            <a:off x="8302752" y="4315968"/>
            <a:ext cx="15727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DDPM timestep</a:t>
            </a:r>
            <a:endParaRPr sz="1000" b="0" i="0" u="none" strike="noStrike" cap="none">
              <a:solidFill>
                <a:schemeClr val="dk1"/>
              </a:solidFill>
              <a:latin typeface="Calibri"/>
              <a:ea typeface="Calibri"/>
              <a:cs typeface="Calibri"/>
              <a:sym typeface="Calibri"/>
            </a:endParaRPr>
          </a:p>
        </p:txBody>
      </p:sp>
      <p:sp>
        <p:nvSpPr>
          <p:cNvPr id="603" name="Google Shape;603;p20"/>
          <p:cNvSpPr/>
          <p:nvPr/>
        </p:nvSpPr>
        <p:spPr>
          <a:xfrm>
            <a:off x="10021824" y="3657600"/>
            <a:ext cx="1572768" cy="1051560"/>
          </a:xfrm>
          <a:prstGeom prst="roundRect">
            <a:avLst>
              <a:gd name="adj" fmla="val 521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10021824" y="3767328"/>
            <a:ext cx="1572768"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3</a:t>
            </a:r>
            <a:endParaRPr sz="3000" b="0" i="0" u="none" strike="noStrike" cap="none">
              <a:solidFill>
                <a:schemeClr val="dk1"/>
              </a:solidFill>
              <a:latin typeface="Calibri"/>
              <a:ea typeface="Calibri"/>
              <a:cs typeface="Calibri"/>
              <a:sym typeface="Calibri"/>
            </a:endParaRPr>
          </a:p>
        </p:txBody>
      </p:sp>
      <p:sp>
        <p:nvSpPr>
          <p:cNvPr id="605" name="Google Shape;605;p20"/>
          <p:cNvSpPr/>
          <p:nvPr/>
        </p:nvSpPr>
        <p:spPr>
          <a:xfrm>
            <a:off x="10021824" y="4315968"/>
            <a:ext cx="157276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kênh (x, y, yaw)</a:t>
            </a:r>
            <a:endParaRPr sz="1000" b="0" i="0" u="none" strike="noStrike" cap="none">
              <a:solidFill>
                <a:schemeClr val="dk1"/>
              </a:solidFill>
              <a:latin typeface="Calibri"/>
              <a:ea typeface="Calibri"/>
              <a:cs typeface="Calibri"/>
              <a:sym typeface="Calibri"/>
            </a:endParaRPr>
          </a:p>
        </p:txBody>
      </p:sp>
      <p:sp>
        <p:nvSpPr>
          <p:cNvPr id="606" name="Google Shape;606;p20"/>
          <p:cNvSpPr/>
          <p:nvPr/>
        </p:nvSpPr>
        <p:spPr>
          <a:xfrm>
            <a:off x="6583680" y="4892040"/>
            <a:ext cx="5056632" cy="868680"/>
          </a:xfrm>
          <a:prstGeom prst="roundRect">
            <a:avLst>
              <a:gd name="adj" fmla="val 6316"/>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6858000" y="4892040"/>
            <a:ext cx="45720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Courier New"/>
              <a:buNone/>
            </a:pPr>
            <a:r>
              <a:rPr lang="en-US" sz="1150" b="1" i="0" u="none" strike="noStrike" cap="none">
                <a:solidFill>
                  <a:srgbClr val="1B2B31"/>
                </a:solidFill>
                <a:latin typeface="Courier New"/>
                <a:ea typeface="Courier New"/>
                <a:cs typeface="Courier New"/>
                <a:sym typeface="Courier New"/>
              </a:rPr>
              <a:t>naction ~ N(0, I),  shape [K×B, 24, 3]</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21"/>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1</a:t>
            </a:r>
            <a:endParaRPr sz="1050" b="0" i="0" u="none" strike="noStrike" cap="none">
              <a:solidFill>
                <a:schemeClr val="dk1"/>
              </a:solidFill>
              <a:latin typeface="Calibri"/>
              <a:ea typeface="Calibri"/>
              <a:cs typeface="Calibri"/>
              <a:sym typeface="Calibri"/>
            </a:endParaRPr>
          </a:p>
        </p:txBody>
      </p:sp>
      <p:sp>
        <p:nvSpPr>
          <p:cNvPr id="614" name="Google Shape;614;p21"/>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Critic xếp hạng và định dạng output standalone</a:t>
            </a:r>
            <a:endParaRPr sz="2500" b="0" i="0" u="none" strike="noStrike" cap="none">
              <a:solidFill>
                <a:schemeClr val="dk1"/>
              </a:solidFill>
              <a:latin typeface="Calibri"/>
              <a:ea typeface="Calibri"/>
              <a:cs typeface="Calibri"/>
              <a:sym typeface="Calibri"/>
            </a:endParaRPr>
          </a:p>
        </p:txBody>
      </p:sp>
      <p:sp>
        <p:nvSpPr>
          <p:cNvPr id="615" name="Google Shape;615;p21"/>
          <p:cNvSpPr/>
          <p:nvPr/>
        </p:nvSpPr>
        <p:spPr>
          <a:xfrm>
            <a:off x="548640" y="1600200"/>
            <a:ext cx="2194560" cy="777240"/>
          </a:xfrm>
          <a:prstGeom prst="roundRect">
            <a:avLst>
              <a:gd name="adj" fmla="val 5882"/>
            </a:avLst>
          </a:prstGeom>
          <a:solidFill>
            <a:srgbClr val="F6F9F9"/>
          </a:solidFill>
          <a:ln w="1395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1"/>
          <p:cNvSpPr/>
          <p:nvPr/>
        </p:nvSpPr>
        <p:spPr>
          <a:xfrm>
            <a:off x="603504" y="1705356"/>
            <a:ext cx="208483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K quỹ đạo thô</a:t>
            </a:r>
            <a:endParaRPr sz="1150" b="0" i="0" u="none" strike="noStrike" cap="none">
              <a:solidFill>
                <a:schemeClr val="dk1"/>
              </a:solidFill>
              <a:latin typeface="Calibri"/>
              <a:ea typeface="Calibri"/>
              <a:cs typeface="Calibri"/>
              <a:sym typeface="Calibri"/>
            </a:endParaRPr>
          </a:p>
        </p:txBody>
      </p:sp>
      <p:sp>
        <p:nvSpPr>
          <p:cNvPr id="617" name="Google Shape;617;p21"/>
          <p:cNvSpPr/>
          <p:nvPr/>
        </p:nvSpPr>
        <p:spPr>
          <a:xfrm>
            <a:off x="603504" y="1979676"/>
            <a:ext cx="208483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delta chuẩn hoá</a:t>
            </a:r>
            <a:endParaRPr sz="900" b="0" i="0" u="none" strike="noStrike" cap="none">
              <a:solidFill>
                <a:schemeClr val="dk1"/>
              </a:solidFill>
              <a:latin typeface="Calibri"/>
              <a:ea typeface="Calibri"/>
              <a:cs typeface="Calibri"/>
              <a:sym typeface="Calibri"/>
            </a:endParaRPr>
          </a:p>
        </p:txBody>
      </p:sp>
      <p:cxnSp>
        <p:nvCxnSpPr>
          <p:cNvPr id="618" name="Google Shape;618;p21"/>
          <p:cNvCxnSpPr/>
          <p:nvPr/>
        </p:nvCxnSpPr>
        <p:spPr>
          <a:xfrm>
            <a:off x="2743200" y="1984248"/>
            <a:ext cx="411480" cy="0"/>
          </a:xfrm>
          <a:prstGeom prst="straightConnector1">
            <a:avLst/>
          </a:prstGeom>
          <a:noFill/>
          <a:ln w="15875" cap="flat" cmpd="sng">
            <a:solidFill>
              <a:srgbClr val="5C6E73"/>
            </a:solidFill>
            <a:prstDash val="solid"/>
            <a:round/>
            <a:headEnd type="none" w="sm" len="sm"/>
            <a:tailEnd type="triangle" w="med" len="med"/>
          </a:ln>
        </p:spPr>
      </p:cxnSp>
      <p:sp>
        <p:nvSpPr>
          <p:cNvPr id="619" name="Google Shape;619;p21"/>
          <p:cNvSpPr/>
          <p:nvPr/>
        </p:nvSpPr>
        <p:spPr>
          <a:xfrm>
            <a:off x="3154680" y="1600200"/>
            <a:ext cx="2194560" cy="777240"/>
          </a:xfrm>
          <a:prstGeom prst="roundRect">
            <a:avLst>
              <a:gd name="adj" fmla="val 5882"/>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1"/>
          <p:cNvSpPr/>
          <p:nvPr/>
        </p:nvSpPr>
        <p:spPr>
          <a:xfrm>
            <a:off x="3209544" y="1705356"/>
            <a:ext cx="208483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Critic</a:t>
            </a:r>
            <a:endParaRPr sz="1200" b="0" i="0" u="none" strike="noStrike" cap="none">
              <a:solidFill>
                <a:schemeClr val="dk1"/>
              </a:solidFill>
              <a:latin typeface="Calibri"/>
              <a:ea typeface="Calibri"/>
              <a:cs typeface="Calibri"/>
              <a:sym typeface="Calibri"/>
            </a:endParaRPr>
          </a:p>
        </p:txBody>
      </p:sp>
      <p:sp>
        <p:nvSpPr>
          <p:cNvPr id="621" name="Google Shape;621;p21"/>
          <p:cNvSpPr/>
          <p:nvPr/>
        </p:nvSpPr>
        <p:spPr>
          <a:xfrm>
            <a:off x="3209544" y="1979676"/>
            <a:ext cx="208483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Arial"/>
              <a:buNone/>
            </a:pPr>
            <a:r>
              <a:rPr lang="en-US" sz="900" b="0" i="0" u="none" strike="noStrike" cap="none">
                <a:solidFill>
                  <a:srgbClr val="5C6E73"/>
                </a:solidFill>
                <a:latin typeface="Arial"/>
                <a:ea typeface="Arial"/>
                <a:cs typeface="Arial"/>
                <a:sym typeface="Arial"/>
              </a:rPr>
              <a:t>+ RGB-D memory</a:t>
            </a:r>
            <a:endParaRPr sz="900" b="0" i="0" u="none" strike="noStrike" cap="none">
              <a:solidFill>
                <a:schemeClr val="dk1"/>
              </a:solidFill>
              <a:latin typeface="Calibri"/>
              <a:ea typeface="Calibri"/>
              <a:cs typeface="Calibri"/>
              <a:sym typeface="Calibri"/>
            </a:endParaRPr>
          </a:p>
        </p:txBody>
      </p:sp>
      <p:cxnSp>
        <p:nvCxnSpPr>
          <p:cNvPr id="622" name="Google Shape;622;p21"/>
          <p:cNvCxnSpPr/>
          <p:nvPr/>
        </p:nvCxnSpPr>
        <p:spPr>
          <a:xfrm>
            <a:off x="5349240" y="1984248"/>
            <a:ext cx="411480" cy="0"/>
          </a:xfrm>
          <a:prstGeom prst="straightConnector1">
            <a:avLst/>
          </a:prstGeom>
          <a:noFill/>
          <a:ln w="15875" cap="flat" cmpd="sng">
            <a:solidFill>
              <a:srgbClr val="028090"/>
            </a:solidFill>
            <a:prstDash val="solid"/>
            <a:round/>
            <a:headEnd type="none" w="sm" len="sm"/>
            <a:tailEnd type="triangle" w="med" len="med"/>
          </a:ln>
        </p:spPr>
      </p:cxnSp>
      <p:sp>
        <p:nvSpPr>
          <p:cNvPr id="623" name="Google Shape;623;p21"/>
          <p:cNvSpPr/>
          <p:nvPr/>
        </p:nvSpPr>
        <p:spPr>
          <a:xfrm>
            <a:off x="5760720" y="1600200"/>
            <a:ext cx="2194560" cy="777240"/>
          </a:xfrm>
          <a:prstGeom prst="roundRect">
            <a:avLst>
              <a:gd name="adj" fmla="val 5882"/>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1"/>
          <p:cNvSpPr/>
          <p:nvPr/>
        </p:nvSpPr>
        <p:spPr>
          <a:xfrm>
            <a:off x="5815584" y="1600200"/>
            <a:ext cx="2084832"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Scalar mỗi ứng viên</a:t>
            </a:r>
            <a:endParaRPr sz="1100" b="0" i="0" u="none" strike="noStrike" cap="none">
              <a:solidFill>
                <a:schemeClr val="dk1"/>
              </a:solidFill>
              <a:latin typeface="Calibri"/>
              <a:ea typeface="Calibri"/>
              <a:cs typeface="Calibri"/>
              <a:sym typeface="Calibri"/>
            </a:endParaRPr>
          </a:p>
        </p:txBody>
      </p:sp>
      <p:cxnSp>
        <p:nvCxnSpPr>
          <p:cNvPr id="625" name="Google Shape;625;p21"/>
          <p:cNvCxnSpPr/>
          <p:nvPr/>
        </p:nvCxnSpPr>
        <p:spPr>
          <a:xfrm>
            <a:off x="7955280" y="1984248"/>
            <a:ext cx="411480" cy="0"/>
          </a:xfrm>
          <a:prstGeom prst="straightConnector1">
            <a:avLst/>
          </a:prstGeom>
          <a:noFill/>
          <a:ln w="15875" cap="flat" cmpd="sng">
            <a:solidFill>
              <a:srgbClr val="028090"/>
            </a:solidFill>
            <a:prstDash val="solid"/>
            <a:round/>
            <a:headEnd type="none" w="sm" len="sm"/>
            <a:tailEnd type="triangle" w="med" len="med"/>
          </a:ln>
        </p:spPr>
      </p:cxnSp>
      <p:sp>
        <p:nvSpPr>
          <p:cNvPr id="626" name="Google Shape;626;p21"/>
          <p:cNvSpPr/>
          <p:nvPr/>
        </p:nvSpPr>
        <p:spPr>
          <a:xfrm>
            <a:off x="8366760" y="1600200"/>
            <a:ext cx="3273552" cy="777240"/>
          </a:xfrm>
          <a:prstGeom prst="roundRect">
            <a:avLst>
              <a:gd name="adj" fmla="val 5882"/>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1"/>
          <p:cNvSpPr/>
          <p:nvPr/>
        </p:nvSpPr>
        <p:spPr>
          <a:xfrm>
            <a:off x="8421624" y="1600200"/>
            <a:ext cx="3163824"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Sắp xếp &amp; cắt top-8</a:t>
            </a:r>
            <a:endParaRPr sz="1150" b="0" i="0" u="none" strike="noStrike" cap="none">
              <a:solidFill>
                <a:schemeClr val="dk1"/>
              </a:solidFill>
              <a:latin typeface="Calibri"/>
              <a:ea typeface="Calibri"/>
              <a:cs typeface="Calibri"/>
              <a:sym typeface="Calibri"/>
            </a:endParaRPr>
          </a:p>
        </p:txBody>
      </p:sp>
      <p:sp>
        <p:nvSpPr>
          <p:cNvPr id="628" name="Google Shape;628;p21"/>
          <p:cNvSpPr/>
          <p:nvPr/>
        </p:nvSpPr>
        <p:spPr>
          <a:xfrm>
            <a:off x="548640" y="2697480"/>
            <a:ext cx="5349240" cy="1600200"/>
          </a:xfrm>
          <a:prstGeom prst="roundRect">
            <a:avLst>
              <a:gd name="adj" fmla="val 3429"/>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1"/>
          <p:cNvSpPr/>
          <p:nvPr/>
        </p:nvSpPr>
        <p:spPr>
          <a:xfrm>
            <a:off x="822960" y="28803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00"/>
              <a:buFont typeface="Arial"/>
              <a:buNone/>
            </a:pPr>
            <a:r>
              <a:rPr lang="en-US" sz="1300" b="1" i="0" u="none" strike="noStrike" cap="none">
                <a:solidFill>
                  <a:srgbClr val="00A896"/>
                </a:solidFill>
                <a:latin typeface="Arial"/>
                <a:ea typeface="Arial"/>
                <a:cs typeface="Arial"/>
                <a:sym typeface="Arial"/>
              </a:rPr>
              <a:t>positive_trajectory</a:t>
            </a:r>
            <a:endParaRPr sz="1300" b="0" i="0" u="none" strike="noStrike" cap="none">
              <a:solidFill>
                <a:schemeClr val="dk1"/>
              </a:solidFill>
              <a:latin typeface="Calibri"/>
              <a:ea typeface="Calibri"/>
              <a:cs typeface="Calibri"/>
              <a:sym typeface="Calibri"/>
            </a:endParaRPr>
          </a:p>
        </p:txBody>
      </p:sp>
      <p:sp>
        <p:nvSpPr>
          <p:cNvPr id="630" name="Google Shape;630;p21"/>
          <p:cNvSpPr/>
          <p:nvPr/>
        </p:nvSpPr>
        <p:spPr>
          <a:xfrm>
            <a:off x="822960" y="3200400"/>
            <a:ext cx="4754880" cy="5029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Sắp theo critic giảm dần, lấy tối đa 8 ứng viên điểm cao nhất.</a:t>
            </a:r>
            <a:endParaRPr sz="1150" b="0" i="0" u="none" strike="noStrike" cap="none">
              <a:solidFill>
                <a:schemeClr val="dk1"/>
              </a:solidFill>
              <a:latin typeface="Calibri"/>
              <a:ea typeface="Calibri"/>
              <a:cs typeface="Calibri"/>
              <a:sym typeface="Calibri"/>
            </a:endParaRPr>
          </a:p>
        </p:txBody>
      </p:sp>
      <p:sp>
        <p:nvSpPr>
          <p:cNvPr id="631" name="Google Shape;631;p21"/>
          <p:cNvSpPr/>
          <p:nvPr/>
        </p:nvSpPr>
        <p:spPr>
          <a:xfrm>
            <a:off x="822960" y="379476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Courier New"/>
              <a:buNone/>
            </a:pPr>
            <a:r>
              <a:rPr lang="en-US" sz="1150" b="1" i="0" u="none" strike="noStrike" cap="none">
                <a:solidFill>
                  <a:srgbClr val="1B2B31"/>
                </a:solidFill>
                <a:latin typeface="Courier New"/>
                <a:ea typeface="Courier New"/>
                <a:cs typeface="Courier New"/>
                <a:sym typeface="Courier New"/>
              </a:rPr>
              <a:t>shape [min(K, 8), 24, 3]</a:t>
            </a:r>
            <a:endParaRPr sz="1150" b="0" i="0" u="none" strike="noStrike" cap="none">
              <a:solidFill>
                <a:schemeClr val="dk1"/>
              </a:solidFill>
              <a:latin typeface="Calibri"/>
              <a:ea typeface="Calibri"/>
              <a:cs typeface="Calibri"/>
              <a:sym typeface="Calibri"/>
            </a:endParaRPr>
          </a:p>
        </p:txBody>
      </p:sp>
      <p:sp>
        <p:nvSpPr>
          <p:cNvPr id="632" name="Google Shape;632;p21"/>
          <p:cNvSpPr/>
          <p:nvPr/>
        </p:nvSpPr>
        <p:spPr>
          <a:xfrm>
            <a:off x="6291072" y="2697480"/>
            <a:ext cx="5349240" cy="1600200"/>
          </a:xfrm>
          <a:prstGeom prst="roundRect">
            <a:avLst>
              <a:gd name="adj" fmla="val 3429"/>
            </a:avLst>
          </a:prstGeom>
          <a:solidFill>
            <a:srgbClr val="FFFFFF"/>
          </a:solidFill>
          <a:ln w="16500"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1"/>
          <p:cNvSpPr/>
          <p:nvPr/>
        </p:nvSpPr>
        <p:spPr>
          <a:xfrm>
            <a:off x="6565392" y="28803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300"/>
              <a:buFont typeface="Arial"/>
              <a:buNone/>
            </a:pPr>
            <a:r>
              <a:rPr lang="en-US" sz="1300" b="1" i="0" u="none" strike="noStrike" cap="none">
                <a:solidFill>
                  <a:srgbClr val="5C6E73"/>
                </a:solidFill>
                <a:latin typeface="Arial"/>
                <a:ea typeface="Arial"/>
                <a:cs typeface="Arial"/>
                <a:sym typeface="Arial"/>
              </a:rPr>
              <a:t>negative_trajectory</a:t>
            </a:r>
            <a:endParaRPr sz="1300" b="0" i="0" u="none" strike="noStrike" cap="none">
              <a:solidFill>
                <a:schemeClr val="dk1"/>
              </a:solidFill>
              <a:latin typeface="Calibri"/>
              <a:ea typeface="Calibri"/>
              <a:cs typeface="Calibri"/>
              <a:sym typeface="Calibri"/>
            </a:endParaRPr>
          </a:p>
        </p:txBody>
      </p:sp>
      <p:sp>
        <p:nvSpPr>
          <p:cNvPr id="634" name="Google Shape;634;p21"/>
          <p:cNvSpPr/>
          <p:nvPr/>
        </p:nvSpPr>
        <p:spPr>
          <a:xfrm>
            <a:off x="6565392" y="3200400"/>
            <a:ext cx="4754880" cy="5029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Sắp theo critic tăng dần, lấy tối đa 8 ứng viên điểm thấp nhất.</a:t>
            </a:r>
            <a:endParaRPr sz="1150" b="0" i="0" u="none" strike="noStrike" cap="none">
              <a:solidFill>
                <a:schemeClr val="dk1"/>
              </a:solidFill>
              <a:latin typeface="Calibri"/>
              <a:ea typeface="Calibri"/>
              <a:cs typeface="Calibri"/>
              <a:sym typeface="Calibri"/>
            </a:endParaRPr>
          </a:p>
        </p:txBody>
      </p:sp>
      <p:sp>
        <p:nvSpPr>
          <p:cNvPr id="635" name="Google Shape;635;p21"/>
          <p:cNvSpPr/>
          <p:nvPr/>
        </p:nvSpPr>
        <p:spPr>
          <a:xfrm>
            <a:off x="6565392" y="379476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Courier New"/>
              <a:buNone/>
            </a:pPr>
            <a:r>
              <a:rPr lang="en-US" sz="1150" b="1" i="0" u="none" strike="noStrike" cap="none">
                <a:solidFill>
                  <a:srgbClr val="1B2B31"/>
                </a:solidFill>
                <a:latin typeface="Courier New"/>
                <a:ea typeface="Courier New"/>
                <a:cs typeface="Courier New"/>
                <a:sym typeface="Courier New"/>
              </a:rPr>
              <a:t>shape [min(K, 8), 24, 3]</a:t>
            </a:r>
            <a:endParaRPr sz="1150" b="0" i="0" u="none" strike="noStrike" cap="none">
              <a:solidFill>
                <a:schemeClr val="dk1"/>
              </a:solidFill>
              <a:latin typeface="Calibri"/>
              <a:ea typeface="Calibri"/>
              <a:cs typeface="Calibri"/>
              <a:sym typeface="Calibri"/>
            </a:endParaRPr>
          </a:p>
        </p:txBody>
      </p:sp>
      <p:sp>
        <p:nvSpPr>
          <p:cNvPr id="636" name="Google Shape;636;p21"/>
          <p:cNvSpPr/>
          <p:nvPr/>
        </p:nvSpPr>
        <p:spPr>
          <a:xfrm>
            <a:off x="548640" y="4526280"/>
            <a:ext cx="5349240" cy="1600200"/>
          </a:xfrm>
          <a:prstGeom prst="roundRect">
            <a:avLst>
              <a:gd name="adj" fmla="val 34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a:off x="822960" y="47091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US" sz="1300" b="1" i="0" u="none" strike="noStrike" cap="none">
                <a:solidFill>
                  <a:srgbClr val="028090"/>
                </a:solidFill>
                <a:latin typeface="Arial"/>
                <a:ea typeface="Arial"/>
                <a:cs typeface="Arial"/>
                <a:sym typeface="Arial"/>
              </a:rPr>
              <a:t>Bước cuối trước khi trả về</a:t>
            </a:r>
            <a:endParaRPr sz="1300" b="0" i="0" u="none" strike="noStrike" cap="none">
              <a:solidFill>
                <a:schemeClr val="dk1"/>
              </a:solidFill>
              <a:latin typeface="Calibri"/>
              <a:ea typeface="Calibri"/>
              <a:cs typeface="Calibri"/>
              <a:sym typeface="Calibri"/>
            </a:endParaRPr>
          </a:p>
        </p:txBody>
      </p:sp>
      <p:sp>
        <p:nvSpPr>
          <p:cNvPr id="638" name="Google Shape;638;p21"/>
          <p:cNvSpPr/>
          <p:nvPr/>
        </p:nvSpPr>
        <p:spPr>
          <a:xfrm>
            <a:off x="822960" y="5074920"/>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Courier New"/>
              <a:buNone/>
            </a:pPr>
            <a:r>
              <a:rPr lang="en-US" sz="1150" b="1" i="0" u="none" strike="noStrike" cap="none">
                <a:solidFill>
                  <a:srgbClr val="1B2B31"/>
                </a:solidFill>
                <a:latin typeface="Courier New"/>
                <a:ea typeface="Courier New"/>
                <a:cs typeface="Courier New"/>
                <a:sym typeface="Courier New"/>
              </a:rPr>
              <a:t>trajectory = cumsum(naction / 4.0, dim=1)</a:t>
            </a:r>
            <a:endParaRPr sz="1150" b="0" i="0" u="none" strike="noStrike" cap="none">
              <a:solidFill>
                <a:schemeClr val="dk1"/>
              </a:solidFill>
              <a:latin typeface="Calibri"/>
              <a:ea typeface="Calibri"/>
              <a:cs typeface="Calibri"/>
              <a:sym typeface="Calibri"/>
            </a:endParaRPr>
          </a:p>
        </p:txBody>
      </p:sp>
      <p:sp>
        <p:nvSpPr>
          <p:cNvPr id="639" name="Google Shape;639;p21"/>
          <p:cNvSpPr/>
          <p:nvPr/>
        </p:nvSpPr>
        <p:spPr>
          <a:xfrm>
            <a:off x="822960" y="5468112"/>
            <a:ext cx="4754880" cy="457200"/>
          </a:xfrm>
          <a:prstGeom prst="rect">
            <a:avLst/>
          </a:prstGeom>
          <a:noFill/>
          <a:ln>
            <a:noFill/>
          </a:ln>
        </p:spPr>
        <p:txBody>
          <a:bodyPr spcFirstLastPara="1" wrap="square" lIns="0" tIns="0" rIns="0" bIns="0" anchor="ctr" anchorCtr="0">
            <a:noAutofit/>
          </a:bodyPr>
          <a:lstStyle/>
          <a:p>
            <a:pPr marL="0" marR="0" lvl="0" indent="0" algn="l" rtl="0">
              <a:lnSpc>
                <a:spcPct val="127272"/>
              </a:lnSpc>
              <a:spcBef>
                <a:spcPts val="0"/>
              </a:spcBef>
              <a:spcAft>
                <a:spcPts val="0"/>
              </a:spcAft>
              <a:buClr>
                <a:srgbClr val="5C6E73"/>
              </a:buClr>
              <a:buSzPts val="1100"/>
              <a:buFont typeface="Arial"/>
              <a:buNone/>
            </a:pPr>
            <a:r>
              <a:rPr lang="en-US" sz="1100" b="0" i="0" u="none" strike="noStrike" cap="none">
                <a:solidFill>
                  <a:srgbClr val="5C6E73"/>
                </a:solidFill>
                <a:latin typeface="Arial"/>
                <a:ea typeface="Arial"/>
                <a:cs typeface="Arial"/>
                <a:sym typeface="Arial"/>
              </a:rPr>
              <a:t>Vì vậy output của API standalone là quỹ đạo cộng dồn, đơn vị mét/radian.</a:t>
            </a:r>
            <a:endParaRPr sz="1100" b="0" i="0" u="none" strike="noStrike" cap="none">
              <a:solidFill>
                <a:schemeClr val="dk1"/>
              </a:solidFill>
              <a:latin typeface="Calibri"/>
              <a:ea typeface="Calibri"/>
              <a:cs typeface="Calibri"/>
              <a:sym typeface="Calibri"/>
            </a:endParaRPr>
          </a:p>
        </p:txBody>
      </p:sp>
      <p:sp>
        <p:nvSpPr>
          <p:cNvPr id="640" name="Google Shape;640;p21"/>
          <p:cNvSpPr/>
          <p:nvPr/>
        </p:nvSpPr>
        <p:spPr>
          <a:xfrm>
            <a:off x="6291072" y="4526280"/>
            <a:ext cx="5349240" cy="1600200"/>
          </a:xfrm>
          <a:prstGeom prst="roundRect">
            <a:avLst>
              <a:gd name="adj" fmla="val 3429"/>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1"/>
          <p:cNvSpPr/>
          <p:nvPr/>
        </p:nvSpPr>
        <p:spPr>
          <a:xfrm>
            <a:off x="6565392" y="47091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00"/>
              <a:buFont typeface="Arial"/>
              <a:buNone/>
            </a:pPr>
            <a:r>
              <a:rPr lang="en-US" sz="1300" b="1" i="0" u="none" strike="noStrike" cap="none">
                <a:solidFill>
                  <a:srgbClr val="D98324"/>
                </a:solidFill>
                <a:latin typeface="Arial"/>
                <a:ea typeface="Arial"/>
                <a:cs typeface="Arial"/>
                <a:sym typeface="Arial"/>
              </a:rPr>
              <a:t>Bẫy khi K nhỏ</a:t>
            </a:r>
            <a:endParaRPr sz="1300" b="0" i="0" u="none" strike="noStrike" cap="none">
              <a:solidFill>
                <a:schemeClr val="dk1"/>
              </a:solidFill>
              <a:latin typeface="Calibri"/>
              <a:ea typeface="Calibri"/>
              <a:cs typeface="Calibri"/>
              <a:sym typeface="Calibri"/>
            </a:endParaRPr>
          </a:p>
        </p:txBody>
      </p:sp>
      <p:sp>
        <p:nvSpPr>
          <p:cNvPr id="642" name="Google Shape;642;p21"/>
          <p:cNvSpPr/>
          <p:nvPr/>
        </p:nvSpPr>
        <p:spPr>
          <a:xfrm>
            <a:off x="6565392" y="5029200"/>
            <a:ext cx="4754880" cy="914400"/>
          </a:xfrm>
          <a:prstGeom prst="rect">
            <a:avLst/>
          </a:prstGeom>
          <a:noFill/>
          <a:ln>
            <a:noFill/>
          </a:ln>
        </p:spPr>
        <p:txBody>
          <a:bodyPr spcFirstLastPara="1" wrap="square" lIns="0" tIns="0" rIns="0" bIns="0" anchor="ctr" anchorCtr="0">
            <a:noAutofit/>
          </a:bodyPr>
          <a:lstStyle/>
          <a:p>
            <a:pPr marL="0" marR="0" lvl="0" indent="0" algn="l" rtl="0">
              <a:lnSpc>
                <a:spcPct val="139130"/>
              </a:lnSpc>
              <a:spcBef>
                <a:spcPts val="0"/>
              </a:spcBef>
              <a:spcAft>
                <a:spcPts val="0"/>
              </a:spcAft>
              <a:buClr>
                <a:srgbClr val="C7DADC"/>
              </a:buClr>
              <a:buSzPts val="1150"/>
              <a:buFont typeface="Arial"/>
              <a:buNone/>
            </a:pPr>
            <a:r>
              <a:rPr lang="en-US" sz="1150" b="0" i="0" u="none" strike="noStrike" cap="none">
                <a:solidFill>
                  <a:srgbClr val="C7DADC"/>
                </a:solidFill>
                <a:latin typeface="Arial"/>
                <a:ea typeface="Arial"/>
                <a:cs typeface="Arial"/>
                <a:sym typeface="Arial"/>
              </a:rPr>
              <a:t>Với sample_num = 2, cả positive và negative đều chứa CÙNG hai ứng viên, chỉ khác thứ tự. Khi đó min/max của hai nhóm trùng nhau — đây là hành vi đúng, không phải lỗi.</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647"/>
        <p:cNvGrpSpPr/>
        <p:nvPr/>
      </p:nvGrpSpPr>
      <p:grpSpPr>
        <a:xfrm>
          <a:off x="0" y="0"/>
          <a:ext cx="0" cy="0"/>
          <a:chOff x="0" y="0"/>
          <a:chExt cx="0" cy="0"/>
        </a:xfrm>
      </p:grpSpPr>
      <p:sp>
        <p:nvSpPr>
          <p:cNvPr id="648" name="Google Shape;648;p22"/>
          <p:cNvSpPr/>
          <p:nvPr/>
        </p:nvSpPr>
        <p:spPr>
          <a:xfrm>
            <a:off x="-1097280" y="3840480"/>
            <a:ext cx="4206240" cy="420624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2"/>
          <p:cNvSpPr/>
          <p:nvPr/>
        </p:nvSpPr>
        <p:spPr>
          <a:xfrm>
            <a:off x="1280160" y="246888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Arial"/>
              <a:buNone/>
            </a:pPr>
            <a:r>
              <a:rPr lang="en-US" sz="1200" b="1" i="0" u="none" strike="noStrike" cap="none">
                <a:solidFill>
                  <a:srgbClr val="D98324"/>
                </a:solidFill>
                <a:latin typeface="Arial"/>
                <a:ea typeface="Arial"/>
                <a:cs typeface="Arial"/>
                <a:sym typeface="Arial"/>
              </a:rPr>
              <a:t>PHẦN 04</a:t>
            </a:r>
            <a:endParaRPr sz="1200" b="0" i="0" u="none" strike="noStrike" cap="none">
              <a:solidFill>
                <a:schemeClr val="dk1"/>
              </a:solidFill>
              <a:latin typeface="Calibri"/>
              <a:ea typeface="Calibri"/>
              <a:cs typeface="Calibri"/>
              <a:sym typeface="Calibri"/>
            </a:endParaRPr>
          </a:p>
        </p:txBody>
      </p:sp>
      <p:sp>
        <p:nvSpPr>
          <p:cNvPr id="650" name="Google Shape;650;p22"/>
          <p:cNvSpPr/>
          <p:nvPr/>
        </p:nvSpPr>
        <p:spPr>
          <a:xfrm>
            <a:off x="1280160" y="2834640"/>
            <a:ext cx="7315200" cy="1371600"/>
          </a:xfrm>
          <a:prstGeom prst="rect">
            <a:avLst/>
          </a:prstGeom>
          <a:noFill/>
          <a:ln>
            <a:noFill/>
          </a:ln>
        </p:spPr>
        <p:txBody>
          <a:bodyPr spcFirstLastPara="1" wrap="square" lIns="0" tIns="0" rIns="0" bIns="0" anchor="ctr" anchorCtr="0">
            <a:noAutofit/>
          </a:bodyPr>
          <a:lstStyle/>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Điểm ghép</a:t>
            </a:r>
            <a:endParaRPr sz="3600" b="0" i="0" u="none" strike="noStrike" cap="none">
              <a:solidFill>
                <a:schemeClr val="dk1"/>
              </a:solidFill>
              <a:latin typeface="Calibri"/>
              <a:ea typeface="Calibri"/>
              <a:cs typeface="Calibri"/>
              <a:sym typeface="Calibri"/>
            </a:endParaRPr>
          </a:p>
          <a:p>
            <a:pPr marL="0" marR="0" lvl="0" indent="0" algn="l" rtl="0">
              <a:lnSpc>
                <a:spcPct val="119444"/>
              </a:lnSpc>
              <a:spcBef>
                <a:spcPts val="0"/>
              </a:spcBef>
              <a:spcAft>
                <a:spcPts val="0"/>
              </a:spcAft>
              <a:buClr>
                <a:srgbClr val="FFFFFF"/>
              </a:buClr>
              <a:buSzPts val="3600"/>
              <a:buFont typeface="Arial"/>
              <a:buNone/>
            </a:pPr>
            <a:r>
              <a:rPr lang="en-US" sz="3600" b="1" i="0" u="none" strike="noStrike" cap="none">
                <a:solidFill>
                  <a:srgbClr val="FFFFFF"/>
                </a:solidFill>
                <a:latin typeface="Arial"/>
                <a:ea typeface="Arial"/>
                <a:cs typeface="Arial"/>
                <a:sym typeface="Arial"/>
              </a:rPr>
              <a:t>S2 → latent → S1</a:t>
            </a:r>
            <a:endParaRPr sz="3600" b="0" i="0" u="none" strike="noStrike" cap="none">
              <a:solidFill>
                <a:schemeClr val="dk1"/>
              </a:solidFill>
              <a:latin typeface="Calibri"/>
              <a:ea typeface="Calibri"/>
              <a:cs typeface="Calibri"/>
              <a:sym typeface="Calibri"/>
            </a:endParaRPr>
          </a:p>
        </p:txBody>
      </p:sp>
      <p:sp>
        <p:nvSpPr>
          <p:cNvPr id="651" name="Google Shape;651;p22"/>
          <p:cNvSpPr/>
          <p:nvPr/>
        </p:nvSpPr>
        <p:spPr>
          <a:xfrm>
            <a:off x="1280160" y="4315968"/>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400"/>
              <a:buFont typeface="Arial"/>
              <a:buNone/>
            </a:pPr>
            <a:r>
              <a:rPr lang="en-US" sz="1400" b="0" i="0" u="none" strike="noStrike" cap="none">
                <a:solidFill>
                  <a:srgbClr val="9FBEC2"/>
                </a:solidFill>
                <a:latin typeface="Arial"/>
                <a:ea typeface="Arial"/>
                <a:cs typeface="Arial"/>
                <a:sym typeface="Arial"/>
              </a:rPr>
              <a:t>Learned latent queries · token compressor · dual async</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23"/>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2</a:t>
            </a:r>
            <a:endParaRPr sz="1050" b="0" i="0" u="none" strike="noStrike" cap="none">
              <a:solidFill>
                <a:schemeClr val="dk1"/>
              </a:solidFill>
              <a:latin typeface="Calibri"/>
              <a:ea typeface="Calibri"/>
              <a:cs typeface="Calibri"/>
              <a:sym typeface="Calibri"/>
            </a:endParaRPr>
          </a:p>
        </p:txBody>
      </p:sp>
      <p:sp>
        <p:nvSpPr>
          <p:cNvPr id="658" name="Google Shape;658;p23"/>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Input, prompt và hai nhánh output</a:t>
            </a:r>
            <a:endParaRPr sz="2500" b="0" i="0" u="none" strike="noStrike" cap="none">
              <a:solidFill>
                <a:schemeClr val="dk1"/>
              </a:solidFill>
              <a:latin typeface="Calibri"/>
              <a:ea typeface="Calibri"/>
              <a:cs typeface="Calibri"/>
              <a:sym typeface="Calibri"/>
            </a:endParaRPr>
          </a:p>
        </p:txBody>
      </p:sp>
      <p:sp>
        <p:nvSpPr>
          <p:cNvPr id="659" name="Google Shape;659;p23"/>
          <p:cNvSpPr/>
          <p:nvPr/>
        </p:nvSpPr>
        <p:spPr>
          <a:xfrm>
            <a:off x="548640" y="1371600"/>
            <a:ext cx="3566160" cy="2514600"/>
          </a:xfrm>
          <a:prstGeom prst="roundRect">
            <a:avLst>
              <a:gd name="adj" fmla="val 2182"/>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3"/>
          <p:cNvSpPr/>
          <p:nvPr/>
        </p:nvSpPr>
        <p:spPr>
          <a:xfrm>
            <a:off x="804672" y="1554480"/>
            <a:ext cx="31089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US" sz="1300" b="1" i="0" u="none" strike="noStrike" cap="none">
                <a:solidFill>
                  <a:srgbClr val="028090"/>
                </a:solidFill>
                <a:latin typeface="Arial"/>
                <a:ea typeface="Arial"/>
                <a:cs typeface="Arial"/>
                <a:sym typeface="Arial"/>
              </a:rPr>
              <a:t>S2Input giữ gì?</a:t>
            </a:r>
            <a:endParaRPr sz="1300" b="0" i="0" u="none" strike="noStrike" cap="none">
              <a:solidFill>
                <a:schemeClr val="dk1"/>
              </a:solidFill>
              <a:latin typeface="Calibri"/>
              <a:ea typeface="Calibri"/>
              <a:cs typeface="Calibri"/>
              <a:sym typeface="Calibri"/>
            </a:endParaRPr>
          </a:p>
        </p:txBody>
      </p:sp>
      <p:sp>
        <p:nvSpPr>
          <p:cNvPr id="661" name="Google Shape;661;p23"/>
          <p:cNvSpPr/>
          <p:nvPr/>
        </p:nvSpPr>
        <p:spPr>
          <a:xfrm>
            <a:off x="804672" y="1901952"/>
            <a:ext cx="3154680" cy="182880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instruction — câu lệnh điều hướng</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rgb — frame hiện tại</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depth — không qua processor Qwen, nhưng lưu làm memory cho S1</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pose, look_down, idx, should_infer</a:t>
            </a:r>
            <a:endParaRPr sz="1050" b="0" i="0" u="none" strike="noStrike" cap="none">
              <a:solidFill>
                <a:schemeClr val="dk1"/>
              </a:solidFill>
              <a:latin typeface="Calibri"/>
              <a:ea typeface="Calibri"/>
              <a:cs typeface="Calibri"/>
              <a:sym typeface="Calibri"/>
            </a:endParaRPr>
          </a:p>
        </p:txBody>
      </p:sp>
      <p:sp>
        <p:nvSpPr>
          <p:cNvPr id="662" name="Google Shape;662;p23"/>
          <p:cNvSpPr/>
          <p:nvPr/>
        </p:nvSpPr>
        <p:spPr>
          <a:xfrm>
            <a:off x="4315968" y="1371600"/>
            <a:ext cx="3657600" cy="2514600"/>
          </a:xfrm>
          <a:prstGeom prst="roundRect">
            <a:avLst>
              <a:gd name="adj" fmla="val 2182"/>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3"/>
          <p:cNvSpPr/>
          <p:nvPr/>
        </p:nvSpPr>
        <p:spPr>
          <a:xfrm>
            <a:off x="4553712" y="1554480"/>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00"/>
              <a:buFont typeface="Arial"/>
              <a:buNone/>
            </a:pPr>
            <a:r>
              <a:rPr lang="en-US" sz="1300" b="1" i="0" u="none" strike="noStrike" cap="none">
                <a:solidFill>
                  <a:srgbClr val="00A896"/>
                </a:solidFill>
                <a:latin typeface="Arial"/>
                <a:ea typeface="Arial"/>
                <a:cs typeface="Arial"/>
                <a:sym typeface="Arial"/>
              </a:rPr>
              <a:t>Prompt trong code</a:t>
            </a:r>
            <a:endParaRPr sz="1300" b="0" i="0" u="none" strike="noStrike" cap="none">
              <a:solidFill>
                <a:schemeClr val="dk1"/>
              </a:solidFill>
              <a:latin typeface="Calibri"/>
              <a:ea typeface="Calibri"/>
              <a:cs typeface="Calibri"/>
              <a:sym typeface="Calibri"/>
            </a:endParaRPr>
          </a:p>
        </p:txBody>
      </p:sp>
      <p:sp>
        <p:nvSpPr>
          <p:cNvPr id="664" name="Google Shape;664;p23"/>
          <p:cNvSpPr/>
          <p:nvPr/>
        </p:nvSpPr>
        <p:spPr>
          <a:xfrm>
            <a:off x="4553712" y="1874520"/>
            <a:ext cx="3200400" cy="1874520"/>
          </a:xfrm>
          <a:prstGeom prst="rect">
            <a:avLst/>
          </a:prstGeom>
          <a:noFill/>
          <a:ln>
            <a:noFill/>
          </a:ln>
        </p:spPr>
        <p:txBody>
          <a:bodyPr spcFirstLastPara="1" wrap="square" lIns="0" tIns="0" rIns="0" bIns="0" anchor="ctr" anchorCtr="0">
            <a:noAutofit/>
          </a:bodyPr>
          <a:lstStyle/>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You are an autonomous navigation</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assistant.</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Your task is to &lt;instruction&gt;.</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Where should you go next to stay</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on track?</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Please output the next waypoint's</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coordinates in the image.</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Please output STOP when you have</a:t>
            </a:r>
            <a:endParaRPr sz="850" b="0" i="0" u="none" strike="noStrike" cap="none">
              <a:solidFill>
                <a:schemeClr val="dk1"/>
              </a:solidFill>
              <a:latin typeface="Calibri"/>
              <a:ea typeface="Calibri"/>
              <a:cs typeface="Calibri"/>
              <a:sym typeface="Calibri"/>
            </a:endParaRPr>
          </a:p>
          <a:p>
            <a:pPr marL="0" marR="0" lvl="0" indent="0" algn="l" rtl="0">
              <a:lnSpc>
                <a:spcPct val="147058"/>
              </a:lnSpc>
              <a:spcBef>
                <a:spcPts val="0"/>
              </a:spcBef>
              <a:spcAft>
                <a:spcPts val="0"/>
              </a:spcAft>
              <a:buClr>
                <a:srgbClr val="AFD2D6"/>
              </a:buClr>
              <a:buSzPts val="850"/>
              <a:buFont typeface="Courier New"/>
              <a:buNone/>
            </a:pPr>
            <a:r>
              <a:rPr lang="en-US" sz="850" b="0" i="0" u="none" strike="noStrike" cap="none">
                <a:solidFill>
                  <a:srgbClr val="AFD2D6"/>
                </a:solidFill>
                <a:latin typeface="Courier New"/>
                <a:ea typeface="Courier New"/>
                <a:cs typeface="Courier New"/>
                <a:sym typeface="Courier New"/>
              </a:rPr>
              <a:t>successfully completed the task.</a:t>
            </a:r>
            <a:endParaRPr sz="850" b="0" i="0" u="none" strike="noStrike" cap="none">
              <a:solidFill>
                <a:schemeClr val="dk1"/>
              </a:solidFill>
              <a:latin typeface="Calibri"/>
              <a:ea typeface="Calibri"/>
              <a:cs typeface="Calibri"/>
              <a:sym typeface="Calibri"/>
            </a:endParaRPr>
          </a:p>
        </p:txBody>
      </p:sp>
      <p:sp>
        <p:nvSpPr>
          <p:cNvPr id="665" name="Google Shape;665;p23"/>
          <p:cNvSpPr/>
          <p:nvPr/>
        </p:nvSpPr>
        <p:spPr>
          <a:xfrm>
            <a:off x="8156448" y="1371600"/>
            <a:ext cx="3483864" cy="2514600"/>
          </a:xfrm>
          <a:prstGeom prst="roundRect">
            <a:avLst>
              <a:gd name="adj" fmla="val 2182"/>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3"/>
          <p:cNvSpPr/>
          <p:nvPr/>
        </p:nvSpPr>
        <p:spPr>
          <a:xfrm>
            <a:off x="8412480" y="1554480"/>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US" sz="1300" b="1" i="0" u="none" strike="noStrike" cap="none">
                <a:solidFill>
                  <a:srgbClr val="028090"/>
                </a:solidFill>
                <a:latin typeface="Arial"/>
                <a:ea typeface="Arial"/>
                <a:cs typeface="Arial"/>
                <a:sym typeface="Arial"/>
              </a:rPr>
              <a:t>Chọn ảnh lịch sử</a:t>
            </a:r>
            <a:endParaRPr sz="1300" b="0" i="0" u="none" strike="noStrike" cap="none">
              <a:solidFill>
                <a:schemeClr val="dk1"/>
              </a:solidFill>
              <a:latin typeface="Calibri"/>
              <a:ea typeface="Calibri"/>
              <a:cs typeface="Calibri"/>
              <a:sym typeface="Calibri"/>
            </a:endParaRPr>
          </a:p>
        </p:txBody>
      </p:sp>
      <p:sp>
        <p:nvSpPr>
          <p:cNvPr id="667" name="Google Shape;667;p23"/>
          <p:cNvSpPr/>
          <p:nvPr/>
        </p:nvSpPr>
        <p:spPr>
          <a:xfrm>
            <a:off x="8412480" y="1901952"/>
            <a:ext cx="3063240" cy="1554480"/>
          </a:xfrm>
          <a:prstGeom prst="rect">
            <a:avLst/>
          </a:prstGeom>
          <a:noFill/>
          <a:ln>
            <a:noFill/>
          </a:ln>
        </p:spPr>
        <p:txBody>
          <a:bodyPr spcFirstLastPara="1" wrap="square" lIns="0" tIns="0" rIns="0" bIns="0" anchor="ctr" anchorCtr="0">
            <a:noAutofit/>
          </a:bodyPr>
          <a:lstStyle/>
          <a:p>
            <a:pPr marL="342900" marR="0" lvl="0" indent="-342900" algn="l" rtl="0">
              <a:lnSpc>
                <a:spcPct val="170000"/>
              </a:lnSpc>
              <a:spcBef>
                <a:spcPts val="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Append frame hiện tại vào rgb_list</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Chọn ≤ num_history index phân bố đều bằng linspace + unique</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Thêm frame hiện tại ở cuối</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Chèn &lt;image&gt; placeholder tương ứng</a:t>
            </a:r>
            <a:endParaRPr sz="1000" b="0" i="0" u="none" strike="noStrike" cap="none">
              <a:solidFill>
                <a:schemeClr val="dk1"/>
              </a:solidFill>
              <a:latin typeface="Calibri"/>
              <a:ea typeface="Calibri"/>
              <a:cs typeface="Calibri"/>
              <a:sym typeface="Calibri"/>
            </a:endParaRPr>
          </a:p>
        </p:txBody>
      </p:sp>
      <p:sp>
        <p:nvSpPr>
          <p:cNvPr id="668" name="Google Shape;668;p23"/>
          <p:cNvSpPr/>
          <p:nvPr/>
        </p:nvSpPr>
        <p:spPr>
          <a:xfrm>
            <a:off x="8412480" y="3493008"/>
            <a:ext cx="30632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000"/>
              <a:buFont typeface="Arial"/>
              <a:buNone/>
            </a:pPr>
            <a:r>
              <a:rPr lang="en-US" sz="1000" b="1" i="1" u="none" strike="noStrike" cap="none">
                <a:solidFill>
                  <a:srgbClr val="D98324"/>
                </a:solidFill>
                <a:latin typeface="Arial"/>
                <a:ea typeface="Arial"/>
                <a:cs typeface="Arial"/>
                <a:sym typeface="Arial"/>
              </a:rPr>
              <a:t>Là subsampling dài hạn, không phải 8 frame liền nhau.</a:t>
            </a:r>
            <a:endParaRPr sz="1000" b="0" i="0" u="none" strike="noStrike" cap="none">
              <a:solidFill>
                <a:schemeClr val="dk1"/>
              </a:solidFill>
              <a:latin typeface="Calibri"/>
              <a:ea typeface="Calibri"/>
              <a:cs typeface="Calibri"/>
              <a:sym typeface="Calibri"/>
            </a:endParaRPr>
          </a:p>
        </p:txBody>
      </p:sp>
      <p:sp>
        <p:nvSpPr>
          <p:cNvPr id="669" name="Google Shape;669;p23"/>
          <p:cNvSpPr/>
          <p:nvPr/>
        </p:nvSpPr>
        <p:spPr>
          <a:xfrm>
            <a:off x="548640" y="4114800"/>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Parser: nếu text có chữ số → pixel waypoint; nếu không → token hành động (STOP / forward / left / right / look-down)</a:t>
            </a:r>
            <a:endParaRPr sz="1200" b="0" i="0" u="none" strike="noStrike" cap="none">
              <a:solidFill>
                <a:schemeClr val="dk1"/>
              </a:solidFill>
              <a:latin typeface="Calibri"/>
              <a:ea typeface="Calibri"/>
              <a:cs typeface="Calibri"/>
              <a:sym typeface="Calibri"/>
            </a:endParaRPr>
          </a:p>
        </p:txBody>
      </p:sp>
      <p:sp>
        <p:nvSpPr>
          <p:cNvPr id="670" name="Google Shape;670;p23"/>
          <p:cNvSpPr/>
          <p:nvPr/>
        </p:nvSpPr>
        <p:spPr>
          <a:xfrm>
            <a:off x="548640" y="4526280"/>
            <a:ext cx="5349240" cy="1600200"/>
          </a:xfrm>
          <a:prstGeom prst="roundRect">
            <a:avLst>
              <a:gd name="adj" fmla="val 3429"/>
            </a:avLst>
          </a:prstGeom>
          <a:solidFill>
            <a:srgbClr val="EDF4F4"/>
          </a:solidFill>
          <a:ln w="152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3"/>
          <p:cNvSpPr/>
          <p:nvPr/>
        </p:nvSpPr>
        <p:spPr>
          <a:xfrm>
            <a:off x="822960" y="470916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300"/>
              <a:buFont typeface="Arial"/>
              <a:buNone/>
            </a:pPr>
            <a:r>
              <a:rPr lang="en-US" sz="1300" b="1" i="0" u="none" strike="noStrike" cap="none">
                <a:solidFill>
                  <a:srgbClr val="5C6E73"/>
                </a:solidFill>
                <a:latin typeface="Arial"/>
                <a:ea typeface="Arial"/>
                <a:cs typeface="Arial"/>
                <a:sym typeface="Arial"/>
              </a:rPr>
              <a:t>Nhánh A — discrete action</a:t>
            </a:r>
            <a:endParaRPr sz="1300" b="0" i="0" u="none" strike="noStrike" cap="none">
              <a:solidFill>
                <a:schemeClr val="dk1"/>
              </a:solidFill>
              <a:latin typeface="Calibri"/>
              <a:ea typeface="Calibri"/>
              <a:cs typeface="Calibri"/>
              <a:sym typeface="Calibri"/>
            </a:endParaRPr>
          </a:p>
        </p:txBody>
      </p:sp>
      <p:sp>
        <p:nvSpPr>
          <p:cNvPr id="672" name="Google Shape;672;p23"/>
          <p:cNvSpPr/>
          <p:nvPr/>
        </p:nvSpPr>
        <p:spPr>
          <a:xfrm>
            <a:off x="822960" y="5029200"/>
            <a:ext cx="4754880" cy="82296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1B2B31"/>
              </a:buClr>
              <a:buSzPts val="1200"/>
              <a:buFont typeface="Arial"/>
              <a:buNone/>
            </a:pPr>
            <a:r>
              <a:rPr lang="en-US" sz="1200" b="0" i="0" u="none" strike="noStrike" cap="none">
                <a:solidFill>
                  <a:srgbClr val="1B2B31"/>
                </a:solidFill>
                <a:latin typeface="Arial"/>
                <a:ea typeface="Arial"/>
                <a:cs typeface="Arial"/>
                <a:sym typeface="Arial"/>
              </a:rPr>
              <a:t>System 1 bị bypass hoàn toàn. Agent phát thẳng action ra environment.</a:t>
            </a:r>
            <a:endParaRPr sz="1200" b="0" i="0" u="none" strike="noStrike" cap="none">
              <a:solidFill>
                <a:schemeClr val="dk1"/>
              </a:solidFill>
              <a:latin typeface="Calibri"/>
              <a:ea typeface="Calibri"/>
              <a:cs typeface="Calibri"/>
              <a:sym typeface="Calibri"/>
            </a:endParaRPr>
          </a:p>
        </p:txBody>
      </p:sp>
      <p:sp>
        <p:nvSpPr>
          <p:cNvPr id="673" name="Google Shape;673;p23"/>
          <p:cNvSpPr/>
          <p:nvPr/>
        </p:nvSpPr>
        <p:spPr>
          <a:xfrm>
            <a:off x="6291072" y="4526280"/>
            <a:ext cx="5349240" cy="1600200"/>
          </a:xfrm>
          <a:prstGeom prst="roundRect">
            <a:avLst>
              <a:gd name="adj" fmla="val 3429"/>
            </a:avLst>
          </a:prstGeom>
          <a:solidFill>
            <a:srgbClr val="FFFFFF"/>
          </a:solidFill>
          <a:ln w="190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3"/>
          <p:cNvSpPr/>
          <p:nvPr/>
        </p:nvSpPr>
        <p:spPr>
          <a:xfrm>
            <a:off x="6565392" y="4709160"/>
            <a:ext cx="48463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00"/>
              <a:buFont typeface="Arial"/>
              <a:buNone/>
            </a:pPr>
            <a:r>
              <a:rPr lang="en-US" sz="1300" b="1" i="0" u="none" strike="noStrike" cap="none">
                <a:solidFill>
                  <a:srgbClr val="D98324"/>
                </a:solidFill>
                <a:latin typeface="Arial"/>
                <a:ea typeface="Arial"/>
                <a:cs typeface="Arial"/>
                <a:sym typeface="Arial"/>
              </a:rPr>
              <a:t>Nhánh B — pixel goal + latent plan</a:t>
            </a:r>
            <a:endParaRPr sz="1300" b="0" i="0" u="none" strike="noStrike" cap="none">
              <a:solidFill>
                <a:schemeClr val="dk1"/>
              </a:solidFill>
              <a:latin typeface="Calibri"/>
              <a:ea typeface="Calibri"/>
              <a:cs typeface="Calibri"/>
              <a:sym typeface="Calibri"/>
            </a:endParaRPr>
          </a:p>
        </p:txBody>
      </p:sp>
      <p:sp>
        <p:nvSpPr>
          <p:cNvPr id="675" name="Google Shape;675;p23"/>
          <p:cNvSpPr/>
          <p:nvPr/>
        </p:nvSpPr>
        <p:spPr>
          <a:xfrm>
            <a:off x="6565392" y="502920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Courier New"/>
              <a:buNone/>
            </a:pPr>
            <a:r>
              <a:rPr lang="en-US" sz="1100" b="1" i="0" u="none" strike="noStrike" cap="none">
                <a:solidFill>
                  <a:srgbClr val="1B2B31"/>
                </a:solidFill>
                <a:latin typeface="Courier New"/>
                <a:ea typeface="Courier New"/>
                <a:cs typeface="Courier New"/>
                <a:sym typeface="Courier New"/>
              </a:rPr>
              <a:t>pixel_goal = [coord[1], coord[0]] = [y, x]</a:t>
            </a:r>
            <a:endParaRPr sz="1100" b="0" i="0" u="none" strike="noStrike" cap="none">
              <a:solidFill>
                <a:schemeClr val="dk1"/>
              </a:solidFill>
              <a:latin typeface="Calibri"/>
              <a:ea typeface="Calibri"/>
              <a:cs typeface="Calibri"/>
              <a:sym typeface="Calibri"/>
            </a:endParaRPr>
          </a:p>
        </p:txBody>
      </p:sp>
      <p:sp>
        <p:nvSpPr>
          <p:cNvPr id="676" name="Google Shape;676;p23"/>
          <p:cNvSpPr/>
          <p:nvPr/>
        </p:nvSpPr>
        <p:spPr>
          <a:xfrm>
            <a:off x="6565392" y="5349240"/>
            <a:ext cx="47548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00"/>
              <a:buFont typeface="Arial"/>
              <a:buNone/>
            </a:pPr>
            <a:r>
              <a:rPr lang="en-US" sz="1200" b="0" i="0" u="none" strike="noStrike" cap="none">
                <a:solidFill>
                  <a:srgbClr val="1B2B31"/>
                </a:solidFill>
                <a:latin typeface="Arial"/>
                <a:ea typeface="Arial"/>
                <a:cs typeface="Arial"/>
                <a:sym typeface="Arial"/>
              </a:rPr>
              <a:t>Model tiếp tục sinh latent plan cho System 1.</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24"/>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ĐIỂM GHÉP</a:t>
            </a:r>
            <a:endParaRPr sz="1050" b="0" i="0" u="none" strike="noStrike" cap="none">
              <a:solidFill>
                <a:schemeClr val="dk1"/>
              </a:solidFill>
              <a:latin typeface="Calibri"/>
              <a:ea typeface="Calibri"/>
              <a:cs typeface="Calibri"/>
              <a:sym typeface="Calibri"/>
            </a:endParaRPr>
          </a:p>
        </p:txBody>
      </p:sp>
      <p:sp>
        <p:nvSpPr>
          <p:cNvPr id="683" name="Google Shape;683;p24"/>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Learned latent queries: latent plan được tạo ra thế nào</a:t>
            </a:r>
            <a:endParaRPr sz="2500" b="0" i="0" u="none" strike="noStrike" cap="none">
              <a:solidFill>
                <a:schemeClr val="dk1"/>
              </a:solidFill>
              <a:latin typeface="Calibri"/>
              <a:ea typeface="Calibri"/>
              <a:cs typeface="Calibri"/>
              <a:sym typeface="Calibri"/>
            </a:endParaRPr>
          </a:p>
        </p:txBody>
      </p:sp>
      <p:sp>
        <p:nvSpPr>
          <p:cNvPr id="684" name="Google Shape;684;p24"/>
          <p:cNvSpPr/>
          <p:nvPr/>
        </p:nvSpPr>
        <p:spPr>
          <a:xfrm>
            <a:off x="548640" y="1463040"/>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4"/>
          <p:cNvSpPr/>
          <p:nvPr/>
        </p:nvSpPr>
        <p:spPr>
          <a:xfrm>
            <a:off x="749808" y="1463040"/>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Instruction tokens</a:t>
            </a:r>
            <a:endParaRPr sz="1150" b="0" i="0" u="none" strike="noStrike" cap="none">
              <a:solidFill>
                <a:schemeClr val="dk1"/>
              </a:solidFill>
              <a:latin typeface="Calibri"/>
              <a:ea typeface="Calibri"/>
              <a:cs typeface="Calibri"/>
              <a:sym typeface="Calibri"/>
            </a:endParaRPr>
          </a:p>
        </p:txBody>
      </p:sp>
      <p:sp>
        <p:nvSpPr>
          <p:cNvPr id="686" name="Google Shape;686;p24"/>
          <p:cNvSpPr/>
          <p:nvPr/>
        </p:nvSpPr>
        <p:spPr>
          <a:xfrm>
            <a:off x="548640" y="2121408"/>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4"/>
          <p:cNvSpPr/>
          <p:nvPr/>
        </p:nvSpPr>
        <p:spPr>
          <a:xfrm>
            <a:off x="749808" y="2121408"/>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History + current image tokens</a:t>
            </a:r>
            <a:endParaRPr sz="1150" b="0" i="0" u="none" strike="noStrike" cap="none">
              <a:solidFill>
                <a:schemeClr val="dk1"/>
              </a:solidFill>
              <a:latin typeface="Calibri"/>
              <a:ea typeface="Calibri"/>
              <a:cs typeface="Calibri"/>
              <a:sym typeface="Calibri"/>
            </a:endParaRPr>
          </a:p>
        </p:txBody>
      </p:sp>
      <p:sp>
        <p:nvSpPr>
          <p:cNvPr id="688" name="Google Shape;688;p24"/>
          <p:cNvSpPr/>
          <p:nvPr/>
        </p:nvSpPr>
        <p:spPr>
          <a:xfrm>
            <a:off x="548640" y="2779776"/>
            <a:ext cx="3931920" cy="548640"/>
          </a:xfrm>
          <a:prstGeom prst="roundRect">
            <a:avLst>
              <a:gd name="adj" fmla="val 10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4"/>
          <p:cNvSpPr/>
          <p:nvPr/>
        </p:nvSpPr>
        <p:spPr>
          <a:xfrm>
            <a:off x="749808" y="2779776"/>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Generated pixel-goal text</a:t>
            </a:r>
            <a:endParaRPr sz="1150" b="0" i="0" u="none" strike="noStrike" cap="none">
              <a:solidFill>
                <a:schemeClr val="dk1"/>
              </a:solidFill>
              <a:latin typeface="Calibri"/>
              <a:ea typeface="Calibri"/>
              <a:cs typeface="Calibri"/>
              <a:sym typeface="Calibri"/>
            </a:endParaRPr>
          </a:p>
        </p:txBody>
      </p:sp>
      <p:sp>
        <p:nvSpPr>
          <p:cNvPr id="690" name="Google Shape;690;p24"/>
          <p:cNvSpPr/>
          <p:nvPr/>
        </p:nvSpPr>
        <p:spPr>
          <a:xfrm>
            <a:off x="548640" y="3438144"/>
            <a:ext cx="3931920" cy="548640"/>
          </a:xfrm>
          <a:prstGeom prst="roundRect">
            <a:avLst>
              <a:gd name="adj" fmla="val 10000"/>
            </a:avLst>
          </a:prstGeom>
          <a:solidFill>
            <a:srgbClr val="FBF1E5"/>
          </a:solidFill>
          <a:ln w="190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4"/>
          <p:cNvSpPr/>
          <p:nvPr/>
        </p:nvSpPr>
        <p:spPr>
          <a:xfrm>
            <a:off x="749808" y="3438144"/>
            <a:ext cx="3657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50"/>
              <a:buFont typeface="Arial"/>
              <a:buNone/>
            </a:pPr>
            <a:r>
              <a:rPr lang="en-US" sz="1150" b="1" i="0" u="none" strike="noStrike" cap="none">
                <a:solidFill>
                  <a:srgbClr val="D98324"/>
                </a:solidFill>
                <a:latin typeface="Arial"/>
                <a:ea typeface="Arial"/>
                <a:cs typeface="Arial"/>
                <a:sym typeface="Arial"/>
              </a:rPr>
              <a:t>Learned latent_queries</a:t>
            </a:r>
            <a:endParaRPr sz="1150" b="0" i="0" u="none" strike="noStrike" cap="none">
              <a:solidFill>
                <a:schemeClr val="dk1"/>
              </a:solidFill>
              <a:latin typeface="Calibri"/>
              <a:ea typeface="Calibri"/>
              <a:cs typeface="Calibri"/>
              <a:sym typeface="Calibri"/>
            </a:endParaRPr>
          </a:p>
        </p:txBody>
      </p:sp>
      <p:sp>
        <p:nvSpPr>
          <p:cNvPr id="692" name="Google Shape;692;p24"/>
          <p:cNvSpPr/>
          <p:nvPr/>
        </p:nvSpPr>
        <p:spPr>
          <a:xfrm>
            <a:off x="749808" y="402336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050"/>
              <a:buFont typeface="Courier New"/>
              <a:buNone/>
            </a:pPr>
            <a:r>
              <a:rPr lang="en-US" sz="1050" b="0" i="0" u="none" strike="noStrike" cap="none">
                <a:solidFill>
                  <a:srgbClr val="5C6E73"/>
                </a:solidFill>
                <a:latin typeface="Courier New"/>
                <a:ea typeface="Courier New"/>
                <a:cs typeface="Courier New"/>
                <a:sym typeface="Courier New"/>
              </a:rPr>
              <a:t>[1, n_query, hidden_size]</a:t>
            </a:r>
            <a:endParaRPr sz="1050" b="0" i="0" u="none" strike="noStrike" cap="none">
              <a:solidFill>
                <a:schemeClr val="dk1"/>
              </a:solidFill>
              <a:latin typeface="Calibri"/>
              <a:ea typeface="Calibri"/>
              <a:cs typeface="Calibri"/>
              <a:sym typeface="Calibri"/>
            </a:endParaRPr>
          </a:p>
        </p:txBody>
      </p:sp>
      <p:cxnSp>
        <p:nvCxnSpPr>
          <p:cNvPr id="693" name="Google Shape;693;p24"/>
          <p:cNvCxnSpPr/>
          <p:nvPr/>
        </p:nvCxnSpPr>
        <p:spPr>
          <a:xfrm>
            <a:off x="4480560" y="1737360"/>
            <a:ext cx="411480" cy="0"/>
          </a:xfrm>
          <a:prstGeom prst="straightConnector1">
            <a:avLst/>
          </a:prstGeom>
          <a:noFill/>
          <a:ln w="13950" cap="flat" cmpd="sng">
            <a:solidFill>
              <a:srgbClr val="028090"/>
            </a:solidFill>
            <a:prstDash val="solid"/>
            <a:round/>
            <a:headEnd type="none" w="sm" len="sm"/>
            <a:tailEnd type="none" w="sm" len="sm"/>
          </a:ln>
        </p:spPr>
      </p:cxnSp>
      <p:cxnSp>
        <p:nvCxnSpPr>
          <p:cNvPr id="694" name="Google Shape;694;p24"/>
          <p:cNvCxnSpPr/>
          <p:nvPr/>
        </p:nvCxnSpPr>
        <p:spPr>
          <a:xfrm>
            <a:off x="4480560" y="2395728"/>
            <a:ext cx="411480" cy="0"/>
          </a:xfrm>
          <a:prstGeom prst="straightConnector1">
            <a:avLst/>
          </a:prstGeom>
          <a:noFill/>
          <a:ln w="13950" cap="flat" cmpd="sng">
            <a:solidFill>
              <a:srgbClr val="028090"/>
            </a:solidFill>
            <a:prstDash val="solid"/>
            <a:round/>
            <a:headEnd type="none" w="sm" len="sm"/>
            <a:tailEnd type="none" w="sm" len="sm"/>
          </a:ln>
        </p:spPr>
      </p:cxnSp>
      <p:cxnSp>
        <p:nvCxnSpPr>
          <p:cNvPr id="695" name="Google Shape;695;p24"/>
          <p:cNvCxnSpPr/>
          <p:nvPr/>
        </p:nvCxnSpPr>
        <p:spPr>
          <a:xfrm>
            <a:off x="4480560" y="3054096"/>
            <a:ext cx="411480" cy="0"/>
          </a:xfrm>
          <a:prstGeom prst="straightConnector1">
            <a:avLst/>
          </a:prstGeom>
          <a:noFill/>
          <a:ln w="13950" cap="flat" cmpd="sng">
            <a:solidFill>
              <a:srgbClr val="028090"/>
            </a:solidFill>
            <a:prstDash val="solid"/>
            <a:round/>
            <a:headEnd type="none" w="sm" len="sm"/>
            <a:tailEnd type="none" w="sm" len="sm"/>
          </a:ln>
        </p:spPr>
      </p:cxnSp>
      <p:cxnSp>
        <p:nvCxnSpPr>
          <p:cNvPr id="696" name="Google Shape;696;p24"/>
          <p:cNvCxnSpPr/>
          <p:nvPr/>
        </p:nvCxnSpPr>
        <p:spPr>
          <a:xfrm>
            <a:off x="4480560" y="3712464"/>
            <a:ext cx="411480" cy="0"/>
          </a:xfrm>
          <a:prstGeom prst="straightConnector1">
            <a:avLst/>
          </a:prstGeom>
          <a:noFill/>
          <a:ln w="17775" cap="flat" cmpd="sng">
            <a:solidFill>
              <a:srgbClr val="D98324"/>
            </a:solidFill>
            <a:prstDash val="solid"/>
            <a:round/>
            <a:headEnd type="none" w="sm" len="sm"/>
            <a:tailEnd type="none" w="sm" len="sm"/>
          </a:ln>
        </p:spPr>
      </p:cxnSp>
      <p:cxnSp>
        <p:nvCxnSpPr>
          <p:cNvPr id="697" name="Google Shape;697;p24"/>
          <p:cNvCxnSpPr/>
          <p:nvPr/>
        </p:nvCxnSpPr>
        <p:spPr>
          <a:xfrm>
            <a:off x="4892040" y="1737360"/>
            <a:ext cx="0" cy="1975104"/>
          </a:xfrm>
          <a:prstGeom prst="straightConnector1">
            <a:avLst/>
          </a:prstGeom>
          <a:noFill/>
          <a:ln w="13950" cap="flat" cmpd="sng">
            <a:solidFill>
              <a:srgbClr val="028090"/>
            </a:solidFill>
            <a:prstDash val="solid"/>
            <a:round/>
            <a:headEnd type="none" w="sm" len="sm"/>
            <a:tailEnd type="none" w="sm" len="sm"/>
          </a:ln>
        </p:spPr>
      </p:cxnSp>
      <p:cxnSp>
        <p:nvCxnSpPr>
          <p:cNvPr id="698" name="Google Shape;698;p24"/>
          <p:cNvCxnSpPr/>
          <p:nvPr/>
        </p:nvCxnSpPr>
        <p:spPr>
          <a:xfrm>
            <a:off x="4892040" y="2724912"/>
            <a:ext cx="365760" cy="0"/>
          </a:xfrm>
          <a:prstGeom prst="straightConnector1">
            <a:avLst/>
          </a:prstGeom>
          <a:noFill/>
          <a:ln w="15875" cap="flat" cmpd="sng">
            <a:solidFill>
              <a:srgbClr val="028090"/>
            </a:solidFill>
            <a:prstDash val="solid"/>
            <a:round/>
            <a:headEnd type="none" w="sm" len="sm"/>
            <a:tailEnd type="triangle" w="med" len="med"/>
          </a:ln>
        </p:spPr>
      </p:cxnSp>
      <p:sp>
        <p:nvSpPr>
          <p:cNvPr id="699" name="Google Shape;699;p24"/>
          <p:cNvSpPr/>
          <p:nvPr/>
        </p:nvSpPr>
        <p:spPr>
          <a:xfrm>
            <a:off x="5257800" y="1965960"/>
            <a:ext cx="2743200" cy="1508760"/>
          </a:xfrm>
          <a:prstGeom prst="roundRect">
            <a:avLst>
              <a:gd name="adj" fmla="val 3030"/>
            </a:avLst>
          </a:prstGeom>
          <a:solidFill>
            <a:srgbClr val="EDF4F4"/>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4"/>
          <p:cNvSpPr/>
          <p:nvPr/>
        </p:nvSpPr>
        <p:spPr>
          <a:xfrm>
            <a:off x="5312664" y="2436876"/>
            <a:ext cx="2633472"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Qwen2.5-VL multimodal sequence</a:t>
            </a:r>
            <a:endParaRPr sz="1200" b="0" i="0" u="none" strike="noStrike" cap="none">
              <a:solidFill>
                <a:schemeClr val="dk1"/>
              </a:solidFill>
              <a:latin typeface="Calibri"/>
              <a:ea typeface="Calibri"/>
              <a:cs typeface="Calibri"/>
              <a:sym typeface="Calibri"/>
            </a:endParaRPr>
          </a:p>
        </p:txBody>
      </p:sp>
      <p:sp>
        <p:nvSpPr>
          <p:cNvPr id="701" name="Google Shape;701;p24"/>
          <p:cNvSpPr/>
          <p:nvPr/>
        </p:nvSpPr>
        <p:spPr>
          <a:xfrm>
            <a:off x="5312664" y="2711196"/>
            <a:ext cx="2633472"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900"/>
              <a:buFont typeface="Courier New"/>
              <a:buNone/>
            </a:pPr>
            <a:r>
              <a:rPr lang="en-US" sz="900" b="0" i="0" u="none" strike="noStrike" cap="none">
                <a:solidFill>
                  <a:srgbClr val="5C6E73"/>
                </a:solidFill>
                <a:latin typeface="Courier New"/>
                <a:ea typeface="Courier New"/>
                <a:cs typeface="Courier New"/>
                <a:sym typeface="Courier New"/>
              </a:rPr>
              <a:t>output_hidden_states=True</a:t>
            </a:r>
            <a:endParaRPr sz="900" b="0" i="0" u="none" strike="noStrike" cap="none">
              <a:solidFill>
                <a:schemeClr val="dk1"/>
              </a:solidFill>
              <a:latin typeface="Calibri"/>
              <a:ea typeface="Calibri"/>
              <a:cs typeface="Calibri"/>
              <a:sym typeface="Calibri"/>
            </a:endParaRPr>
          </a:p>
        </p:txBody>
      </p:sp>
      <p:cxnSp>
        <p:nvCxnSpPr>
          <p:cNvPr id="702" name="Google Shape;702;p24"/>
          <p:cNvCxnSpPr/>
          <p:nvPr/>
        </p:nvCxnSpPr>
        <p:spPr>
          <a:xfrm>
            <a:off x="8001000" y="2724912"/>
            <a:ext cx="365760" cy="0"/>
          </a:xfrm>
          <a:prstGeom prst="straightConnector1">
            <a:avLst/>
          </a:prstGeom>
          <a:noFill/>
          <a:ln w="15875" cap="flat" cmpd="sng">
            <a:solidFill>
              <a:srgbClr val="028090"/>
            </a:solidFill>
            <a:prstDash val="solid"/>
            <a:round/>
            <a:headEnd type="none" w="sm" len="sm"/>
            <a:tailEnd type="triangle" w="med" len="med"/>
          </a:ln>
        </p:spPr>
      </p:cxnSp>
      <p:sp>
        <p:nvSpPr>
          <p:cNvPr id="703" name="Google Shape;703;p24"/>
          <p:cNvSpPr/>
          <p:nvPr/>
        </p:nvSpPr>
        <p:spPr>
          <a:xfrm>
            <a:off x="8366760" y="2103120"/>
            <a:ext cx="3273552" cy="640080"/>
          </a:xfrm>
          <a:prstGeom prst="roundRect">
            <a:avLst>
              <a:gd name="adj" fmla="val 7143"/>
            </a:avLst>
          </a:prstGeom>
          <a:solidFill>
            <a:srgbClr val="FFFFFF"/>
          </a:solidFill>
          <a:ln w="1395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4"/>
          <p:cNvSpPr/>
          <p:nvPr/>
        </p:nvSpPr>
        <p:spPr>
          <a:xfrm>
            <a:off x="8421624" y="2103120"/>
            <a:ext cx="3163824"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100"/>
              <a:buFont typeface="Arial"/>
              <a:buNone/>
            </a:pPr>
            <a:r>
              <a:rPr lang="en-US" sz="1100" b="1" i="0" u="none" strike="noStrike" cap="none">
                <a:solidFill>
                  <a:srgbClr val="1B2B31"/>
                </a:solidFill>
                <a:latin typeface="Arial"/>
                <a:ea typeface="Arial"/>
                <a:cs typeface="Arial"/>
                <a:sym typeface="Arial"/>
              </a:rPr>
              <a:t>Last-layer hidden states</a:t>
            </a:r>
            <a:endParaRPr sz="1100" b="0" i="0" u="none" strike="noStrike" cap="none">
              <a:solidFill>
                <a:schemeClr val="dk1"/>
              </a:solidFill>
              <a:latin typeface="Calibri"/>
              <a:ea typeface="Calibri"/>
              <a:cs typeface="Calibri"/>
              <a:sym typeface="Calibri"/>
            </a:endParaRPr>
          </a:p>
        </p:txBody>
      </p:sp>
      <p:cxnSp>
        <p:nvCxnSpPr>
          <p:cNvPr id="705" name="Google Shape;705;p24"/>
          <p:cNvCxnSpPr/>
          <p:nvPr/>
        </p:nvCxnSpPr>
        <p:spPr>
          <a:xfrm>
            <a:off x="10003536" y="2743200"/>
            <a:ext cx="0" cy="274320"/>
          </a:xfrm>
          <a:prstGeom prst="straightConnector1">
            <a:avLst/>
          </a:prstGeom>
          <a:noFill/>
          <a:ln w="15875" cap="flat" cmpd="sng">
            <a:solidFill>
              <a:srgbClr val="D98324"/>
            </a:solidFill>
            <a:prstDash val="solid"/>
            <a:round/>
            <a:headEnd type="none" w="sm" len="sm"/>
            <a:tailEnd type="triangle" w="med" len="med"/>
          </a:ln>
        </p:spPr>
      </p:cxnSp>
      <p:sp>
        <p:nvSpPr>
          <p:cNvPr id="706" name="Google Shape;706;p24"/>
          <p:cNvSpPr/>
          <p:nvPr/>
        </p:nvSpPr>
        <p:spPr>
          <a:xfrm>
            <a:off x="8366760" y="3017520"/>
            <a:ext cx="3273552" cy="822960"/>
          </a:xfrm>
          <a:prstGeom prst="roundRect">
            <a:avLst>
              <a:gd name="adj" fmla="val 5556"/>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4"/>
          <p:cNvSpPr/>
          <p:nvPr/>
        </p:nvSpPr>
        <p:spPr>
          <a:xfrm>
            <a:off x="8421624" y="3017520"/>
            <a:ext cx="3163824"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B31"/>
              </a:buClr>
              <a:buSzPts val="1050"/>
              <a:buFont typeface="Courier New"/>
              <a:buNone/>
            </a:pPr>
            <a:r>
              <a:rPr lang="en-US" sz="1050" b="1" i="0" u="none" strike="noStrike" cap="none">
                <a:solidFill>
                  <a:srgbClr val="1B2B31"/>
                </a:solidFill>
                <a:latin typeface="Courier New"/>
                <a:ea typeface="Courier New"/>
                <a:cs typeface="Courier New"/>
                <a:sym typeface="Courier New"/>
              </a:rPr>
              <a:t>traj_latents = hidden[:, −n_query:, :]</a:t>
            </a:r>
            <a:endParaRPr sz="1050" b="0" i="0" u="none" strike="noStrike" cap="none">
              <a:solidFill>
                <a:schemeClr val="dk1"/>
              </a:solidFill>
              <a:latin typeface="Calibri"/>
              <a:ea typeface="Calibri"/>
              <a:cs typeface="Calibri"/>
              <a:sym typeface="Calibri"/>
            </a:endParaRPr>
          </a:p>
        </p:txBody>
      </p:sp>
      <p:cxnSp>
        <p:nvCxnSpPr>
          <p:cNvPr id="708" name="Google Shape;708;p24"/>
          <p:cNvCxnSpPr/>
          <p:nvPr/>
        </p:nvCxnSpPr>
        <p:spPr>
          <a:xfrm>
            <a:off x="10003536" y="3840480"/>
            <a:ext cx="0" cy="274320"/>
          </a:xfrm>
          <a:prstGeom prst="straightConnector1">
            <a:avLst/>
          </a:prstGeom>
          <a:noFill/>
          <a:ln w="15875" cap="flat" cmpd="sng">
            <a:solidFill>
              <a:srgbClr val="D98324"/>
            </a:solidFill>
            <a:prstDash val="solid"/>
            <a:round/>
            <a:headEnd type="none" w="sm" len="sm"/>
            <a:tailEnd type="triangle" w="med" len="med"/>
          </a:ln>
        </p:spPr>
      </p:cxnSp>
      <p:sp>
        <p:nvSpPr>
          <p:cNvPr id="709" name="Google Shape;709;p24"/>
          <p:cNvSpPr/>
          <p:nvPr/>
        </p:nvSpPr>
        <p:spPr>
          <a:xfrm>
            <a:off x="8366760" y="4114800"/>
            <a:ext cx="3273552" cy="731520"/>
          </a:xfrm>
          <a:prstGeom prst="roundRect">
            <a:avLst>
              <a:gd name="adj" fmla="val 6250"/>
            </a:avLst>
          </a:prstGeom>
          <a:solidFill>
            <a:srgbClr val="FBF1E5"/>
          </a:solidFill>
          <a:ln w="1395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4"/>
          <p:cNvSpPr/>
          <p:nvPr/>
        </p:nvSpPr>
        <p:spPr>
          <a:xfrm>
            <a:off x="8421624" y="4197096"/>
            <a:ext cx="3163824" cy="292608"/>
          </a:xfrm>
          <a:prstGeom prst="rect">
            <a:avLst/>
          </a:prstGeom>
          <a:noFill/>
          <a:ln>
            <a:noFill/>
          </a:ln>
        </p:spPr>
        <p:txBody>
          <a:bodyPr spcFirstLastPara="1" wrap="square" lIns="0" tIns="0" rIns="0" bIns="0" anchor="b" anchorCtr="0">
            <a:noAutofit/>
          </a:bodyPr>
          <a:lstStyle/>
          <a:p>
            <a:pPr marL="0" marR="0" lvl="0" indent="0" algn="ctr" rtl="0">
              <a:spcBef>
                <a:spcPts val="0"/>
              </a:spcBef>
              <a:spcAft>
                <a:spcPts val="0"/>
              </a:spcAft>
              <a:buClr>
                <a:srgbClr val="1B2B31"/>
              </a:buClr>
              <a:buSzPts val="1200"/>
              <a:buFont typeface="Arial"/>
              <a:buNone/>
            </a:pPr>
            <a:r>
              <a:rPr lang="en-US" sz="1200" b="1" i="0" u="none" strike="noStrike" cap="none">
                <a:solidFill>
                  <a:srgbClr val="1B2B31"/>
                </a:solidFill>
                <a:latin typeface="Arial"/>
                <a:ea typeface="Arial"/>
                <a:cs typeface="Arial"/>
                <a:sym typeface="Arial"/>
              </a:rPr>
              <a:t>Latent plan</a:t>
            </a:r>
            <a:endParaRPr sz="1200" b="0" i="0" u="none" strike="noStrike" cap="none">
              <a:solidFill>
                <a:schemeClr val="dk1"/>
              </a:solidFill>
              <a:latin typeface="Calibri"/>
              <a:ea typeface="Calibri"/>
              <a:cs typeface="Calibri"/>
              <a:sym typeface="Calibri"/>
            </a:endParaRPr>
          </a:p>
        </p:txBody>
      </p:sp>
      <p:sp>
        <p:nvSpPr>
          <p:cNvPr id="711" name="Google Shape;711;p24"/>
          <p:cNvSpPr/>
          <p:nvPr/>
        </p:nvSpPr>
        <p:spPr>
          <a:xfrm>
            <a:off x="8421624" y="4471416"/>
            <a:ext cx="3163824" cy="310896"/>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5C6E73"/>
              </a:buClr>
              <a:buSzPts val="1000"/>
              <a:buFont typeface="Courier New"/>
              <a:buNone/>
            </a:pPr>
            <a:r>
              <a:rPr lang="en-US" sz="1000" b="0" i="0" u="none" strike="noStrike" cap="none">
                <a:solidFill>
                  <a:srgbClr val="5C6E73"/>
                </a:solidFill>
                <a:latin typeface="Courier New"/>
                <a:ea typeface="Courier New"/>
                <a:cs typeface="Courier New"/>
                <a:sym typeface="Courier New"/>
              </a:rPr>
              <a:t>[B, n_query, 3584]</a:t>
            </a:r>
            <a:endParaRPr sz="1000" b="0" i="0" u="none" strike="noStrike" cap="none">
              <a:solidFill>
                <a:schemeClr val="dk1"/>
              </a:solidFill>
              <a:latin typeface="Calibri"/>
              <a:ea typeface="Calibri"/>
              <a:cs typeface="Calibri"/>
              <a:sym typeface="Calibri"/>
            </a:endParaRPr>
          </a:p>
        </p:txBody>
      </p:sp>
      <p:sp>
        <p:nvSpPr>
          <p:cNvPr id="712" name="Google Shape;712;p24"/>
          <p:cNvSpPr/>
          <p:nvPr/>
        </p:nvSpPr>
        <p:spPr>
          <a:xfrm>
            <a:off x="548640" y="4572000"/>
            <a:ext cx="7635240" cy="731520"/>
          </a:xfrm>
          <a:prstGeom prst="roundRect">
            <a:avLst>
              <a:gd name="adj" fmla="val 7500"/>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24"/>
          <p:cNvSpPr/>
          <p:nvPr/>
        </p:nvSpPr>
        <p:spPr>
          <a:xfrm>
            <a:off x="804672" y="4572000"/>
            <a:ext cx="7132320" cy="7315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Latent plan không phải hidden state lấy tuỳ ý. Nó là output của các learned query đã attention với instruction, ảnh lịch sử, ảnh hiện tại và output token của S2.</a:t>
            </a:r>
            <a:endParaRPr sz="1150" b="0" i="0" u="none" strike="noStrike" cap="none">
              <a:solidFill>
                <a:schemeClr val="dk1"/>
              </a:solidFill>
              <a:latin typeface="Calibri"/>
              <a:ea typeface="Calibri"/>
              <a:cs typeface="Calibri"/>
              <a:sym typeface="Calibri"/>
            </a:endParaRPr>
          </a:p>
        </p:txBody>
      </p:sp>
      <p:sp>
        <p:nvSpPr>
          <p:cNvPr id="714" name="Google Shape;714;p24"/>
          <p:cNvSpPr/>
          <p:nvPr/>
        </p:nvSpPr>
        <p:spPr>
          <a:xfrm>
            <a:off x="548640" y="5486400"/>
            <a:ext cx="11091672" cy="841248"/>
          </a:xfrm>
          <a:prstGeom prst="roundRect">
            <a:avLst>
              <a:gd name="adj" fmla="val 6522"/>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841248" y="5605272"/>
            <a:ext cx="5029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Vì sao load bằng Transformers thuần có thể sai?</a:t>
            </a:r>
            <a:endParaRPr sz="1250" b="0" i="0" u="none" strike="noStrike" cap="none">
              <a:solidFill>
                <a:schemeClr val="dk1"/>
              </a:solidFill>
              <a:latin typeface="Calibri"/>
              <a:ea typeface="Calibri"/>
              <a:cs typeface="Calibri"/>
              <a:sym typeface="Calibri"/>
            </a:endParaRPr>
          </a:p>
        </p:txBody>
      </p:sp>
      <p:sp>
        <p:nvSpPr>
          <p:cNvPr id="716" name="Google Shape;716;p24"/>
          <p:cNvSpPr/>
          <p:nvPr/>
        </p:nvSpPr>
        <p:spPr>
          <a:xfrm>
            <a:off x="841248" y="5870448"/>
            <a:ext cx="10515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100"/>
              <a:buFont typeface="Arial"/>
              <a:buNone/>
            </a:pPr>
            <a:r>
              <a:rPr lang="en-US" sz="1100" b="0" i="0" u="none" strike="noStrike" cap="none">
                <a:solidFill>
                  <a:srgbClr val="C7DADC"/>
                </a:solidFill>
                <a:latin typeface="Arial"/>
                <a:ea typeface="Arial"/>
                <a:cs typeface="Arial"/>
                <a:sym typeface="Arial"/>
              </a:rPr>
              <a:t>Checkpoint chứa latent_queries và toàn bộ module navdp.* — phải load bằng custom InternVLAN1ForCausalLM. Ép vào AutoModel Qwen thuần, các weight này bị báo unexpected/ignored: VLM vẫn chạy nhưng đường nối latent plan → NavDP đã mất.</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25"/>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ĐIỂM GHÉP</a:t>
            </a:r>
            <a:endParaRPr sz="1050" b="0" i="0" u="none" strike="noStrike" cap="none">
              <a:solidFill>
                <a:schemeClr val="dk1"/>
              </a:solidFill>
              <a:latin typeface="Calibri"/>
              <a:ea typeface="Calibri"/>
              <a:cs typeface="Calibri"/>
              <a:sym typeface="Calibri"/>
            </a:endParaRPr>
          </a:p>
        </p:txBody>
      </p:sp>
      <p:sp>
        <p:nvSpPr>
          <p:cNvPr id="723" name="Google Shape;723;p25"/>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Latent plan đi vào NavDP dual-system</a:t>
            </a:r>
            <a:endParaRPr sz="2500" b="0" i="0" u="none" strike="noStrike" cap="none">
              <a:solidFill>
                <a:schemeClr val="dk1"/>
              </a:solidFill>
              <a:latin typeface="Calibri"/>
              <a:ea typeface="Calibri"/>
              <a:cs typeface="Calibri"/>
              <a:sym typeface="Calibri"/>
            </a:endParaRPr>
          </a:p>
        </p:txBody>
      </p:sp>
      <p:sp>
        <p:nvSpPr>
          <p:cNvPr id="724" name="Google Shape;724;p25"/>
          <p:cNvSpPr/>
          <p:nvPr/>
        </p:nvSpPr>
        <p:spPr>
          <a:xfrm>
            <a:off x="548640" y="1371600"/>
            <a:ext cx="5486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Nén latent thành goal token</a:t>
            </a:r>
            <a:endParaRPr sz="1250" b="0" i="0" u="none" strike="noStrike" cap="none">
              <a:solidFill>
                <a:schemeClr val="dk1"/>
              </a:solidFill>
              <a:latin typeface="Calibri"/>
              <a:ea typeface="Calibri"/>
              <a:cs typeface="Calibri"/>
              <a:sym typeface="Calibri"/>
            </a:endParaRPr>
          </a:p>
        </p:txBody>
      </p:sp>
      <p:sp>
        <p:nvSpPr>
          <p:cNvPr id="725" name="Google Shape;725;p25"/>
          <p:cNvSpPr/>
          <p:nvPr/>
        </p:nvSpPr>
        <p:spPr>
          <a:xfrm>
            <a:off x="548640" y="1719072"/>
            <a:ext cx="3383280" cy="457200"/>
          </a:xfrm>
          <a:prstGeom prst="roundRect">
            <a:avLst>
              <a:gd name="adj" fmla="val 8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5"/>
          <p:cNvSpPr/>
          <p:nvPr/>
        </p:nvSpPr>
        <p:spPr>
          <a:xfrm>
            <a:off x="685800" y="1719072"/>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Courier New"/>
              <a:buNone/>
            </a:pPr>
            <a:r>
              <a:rPr lang="en-US" sz="1100" b="1" i="0" u="none" strike="noStrike" cap="none">
                <a:solidFill>
                  <a:srgbClr val="1B2B31"/>
                </a:solidFill>
                <a:latin typeface="Courier New"/>
                <a:ea typeface="Courier New"/>
                <a:cs typeface="Courier New"/>
                <a:sym typeface="Courier New"/>
              </a:rPr>
              <a:t>[B, Nq, 3584]</a:t>
            </a:r>
            <a:endParaRPr sz="1100" b="0" i="0" u="none" strike="noStrike" cap="none">
              <a:solidFill>
                <a:schemeClr val="dk1"/>
              </a:solidFill>
              <a:latin typeface="Calibri"/>
              <a:ea typeface="Calibri"/>
              <a:cs typeface="Calibri"/>
              <a:sym typeface="Calibri"/>
            </a:endParaRPr>
          </a:p>
        </p:txBody>
      </p:sp>
      <p:cxnSp>
        <p:nvCxnSpPr>
          <p:cNvPr id="727" name="Google Shape;727;p25"/>
          <p:cNvCxnSpPr/>
          <p:nvPr/>
        </p:nvCxnSpPr>
        <p:spPr>
          <a:xfrm>
            <a:off x="2240280" y="2176272"/>
            <a:ext cx="0" cy="109728"/>
          </a:xfrm>
          <a:prstGeom prst="straightConnector1">
            <a:avLst/>
          </a:prstGeom>
          <a:noFill/>
          <a:ln w="15875" cap="flat" cmpd="sng">
            <a:solidFill>
              <a:srgbClr val="028090"/>
            </a:solidFill>
            <a:prstDash val="solid"/>
            <a:round/>
            <a:headEnd type="none" w="sm" len="sm"/>
            <a:tailEnd type="triangle" w="med" len="med"/>
          </a:ln>
        </p:spPr>
      </p:cxnSp>
      <p:sp>
        <p:nvSpPr>
          <p:cNvPr id="728" name="Google Shape;728;p25"/>
          <p:cNvSpPr/>
          <p:nvPr/>
        </p:nvSpPr>
        <p:spPr>
          <a:xfrm>
            <a:off x="548640" y="2286000"/>
            <a:ext cx="3383280" cy="457200"/>
          </a:xfrm>
          <a:prstGeom prst="roundRect">
            <a:avLst>
              <a:gd name="adj" fmla="val 8000"/>
            </a:avLst>
          </a:prstGeom>
          <a:solidFill>
            <a:srgbClr val="FFFFFF"/>
          </a:solidFill>
          <a:ln w="11425"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5"/>
          <p:cNvSpPr/>
          <p:nvPr/>
        </p:nvSpPr>
        <p:spPr>
          <a:xfrm>
            <a:off x="685800" y="2286000"/>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MLP 3584→896→448→384</a:t>
            </a:r>
            <a:endParaRPr sz="1100" b="0" i="0" u="none" strike="noStrike" cap="none">
              <a:solidFill>
                <a:schemeClr val="dk1"/>
              </a:solidFill>
              <a:latin typeface="Calibri"/>
              <a:ea typeface="Calibri"/>
              <a:cs typeface="Calibri"/>
              <a:sym typeface="Calibri"/>
            </a:endParaRPr>
          </a:p>
        </p:txBody>
      </p:sp>
      <p:cxnSp>
        <p:nvCxnSpPr>
          <p:cNvPr id="730" name="Google Shape;730;p25"/>
          <p:cNvCxnSpPr/>
          <p:nvPr/>
        </p:nvCxnSpPr>
        <p:spPr>
          <a:xfrm>
            <a:off x="2240280" y="2743200"/>
            <a:ext cx="0" cy="109728"/>
          </a:xfrm>
          <a:prstGeom prst="straightConnector1">
            <a:avLst/>
          </a:prstGeom>
          <a:noFill/>
          <a:ln w="15875" cap="flat" cmpd="sng">
            <a:solidFill>
              <a:srgbClr val="028090"/>
            </a:solidFill>
            <a:prstDash val="solid"/>
            <a:round/>
            <a:headEnd type="none" w="sm" len="sm"/>
            <a:tailEnd type="triangle" w="med" len="med"/>
          </a:ln>
        </p:spPr>
      </p:cxnSp>
      <p:sp>
        <p:nvSpPr>
          <p:cNvPr id="731" name="Google Shape;731;p25"/>
          <p:cNvSpPr/>
          <p:nvPr/>
        </p:nvSpPr>
        <p:spPr>
          <a:xfrm>
            <a:off x="548640" y="2852928"/>
            <a:ext cx="3383280" cy="457200"/>
          </a:xfrm>
          <a:prstGeom prst="roundRect">
            <a:avLst>
              <a:gd name="adj" fmla="val 8000"/>
            </a:avLst>
          </a:prstGeom>
          <a:solidFill>
            <a:srgbClr val="FFFFFF"/>
          </a:solidFill>
          <a:ln w="11425" cap="flat" cmpd="sng">
            <a:solidFill>
              <a:srgbClr val="5C6E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5"/>
          <p:cNvSpPr/>
          <p:nvPr/>
        </p:nvSpPr>
        <p:spPr>
          <a:xfrm>
            <a:off x="685800" y="2852928"/>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Courier New"/>
              <a:buNone/>
            </a:pPr>
            <a:r>
              <a:rPr lang="en-US" sz="1100" b="1" i="0" u="none" strike="noStrike" cap="none">
                <a:solidFill>
                  <a:srgbClr val="1B2B31"/>
                </a:solidFill>
                <a:latin typeface="Courier New"/>
                <a:ea typeface="Courier New"/>
                <a:cs typeface="Courier New"/>
                <a:sym typeface="Courier New"/>
              </a:rPr>
              <a:t>[B, Nq, 384]</a:t>
            </a:r>
            <a:endParaRPr sz="1100" b="0" i="0" u="none" strike="noStrike" cap="none">
              <a:solidFill>
                <a:schemeClr val="dk1"/>
              </a:solidFill>
              <a:latin typeface="Calibri"/>
              <a:ea typeface="Calibri"/>
              <a:cs typeface="Calibri"/>
              <a:sym typeface="Calibri"/>
            </a:endParaRPr>
          </a:p>
        </p:txBody>
      </p:sp>
      <p:cxnSp>
        <p:nvCxnSpPr>
          <p:cNvPr id="733" name="Google Shape;733;p25"/>
          <p:cNvCxnSpPr/>
          <p:nvPr/>
        </p:nvCxnSpPr>
        <p:spPr>
          <a:xfrm>
            <a:off x="2240280" y="3310128"/>
            <a:ext cx="0" cy="109728"/>
          </a:xfrm>
          <a:prstGeom prst="straightConnector1">
            <a:avLst/>
          </a:prstGeom>
          <a:noFill/>
          <a:ln w="15875" cap="flat" cmpd="sng">
            <a:solidFill>
              <a:srgbClr val="028090"/>
            </a:solidFill>
            <a:prstDash val="solid"/>
            <a:round/>
            <a:headEnd type="none" w="sm" len="sm"/>
            <a:tailEnd type="triangle" w="med" len="med"/>
          </a:ln>
        </p:spPr>
      </p:cxnSp>
      <p:sp>
        <p:nvSpPr>
          <p:cNvPr id="734" name="Google Shape;734;p25"/>
          <p:cNvSpPr/>
          <p:nvPr/>
        </p:nvSpPr>
        <p:spPr>
          <a:xfrm>
            <a:off x="548640" y="3419856"/>
            <a:ext cx="3383280" cy="457200"/>
          </a:xfrm>
          <a:prstGeom prst="roundRect">
            <a:avLst>
              <a:gd name="adj" fmla="val 8000"/>
            </a:avLst>
          </a:prstGeom>
          <a:solidFill>
            <a:srgbClr val="FFFFFF"/>
          </a:solidFill>
          <a:ln w="11425"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5"/>
          <p:cNvSpPr/>
          <p:nvPr/>
        </p:nvSpPr>
        <p:spPr>
          <a:xfrm>
            <a:off x="685800" y="3419856"/>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00"/>
              <a:buFont typeface="Arial"/>
              <a:buNone/>
            </a:pPr>
            <a:r>
              <a:rPr lang="en-US" sz="1100" b="0" i="0" u="none" strike="noStrike" cap="none">
                <a:solidFill>
                  <a:srgbClr val="1B2B31"/>
                </a:solidFill>
                <a:latin typeface="Arial"/>
                <a:ea typeface="Arial"/>
                <a:cs typeface="Arial"/>
                <a:sym typeface="Arial"/>
              </a:rPr>
              <a:t>TokenCompressor(target=1)</a:t>
            </a:r>
            <a:endParaRPr sz="1100" b="0" i="0" u="none" strike="noStrike" cap="none">
              <a:solidFill>
                <a:schemeClr val="dk1"/>
              </a:solidFill>
              <a:latin typeface="Calibri"/>
              <a:ea typeface="Calibri"/>
              <a:cs typeface="Calibri"/>
              <a:sym typeface="Calibri"/>
            </a:endParaRPr>
          </a:p>
        </p:txBody>
      </p:sp>
      <p:cxnSp>
        <p:nvCxnSpPr>
          <p:cNvPr id="736" name="Google Shape;736;p25"/>
          <p:cNvCxnSpPr/>
          <p:nvPr/>
        </p:nvCxnSpPr>
        <p:spPr>
          <a:xfrm>
            <a:off x="2240280" y="3877056"/>
            <a:ext cx="0" cy="109728"/>
          </a:xfrm>
          <a:prstGeom prst="straightConnector1">
            <a:avLst/>
          </a:prstGeom>
          <a:noFill/>
          <a:ln w="15875" cap="flat" cmpd="sng">
            <a:solidFill>
              <a:srgbClr val="028090"/>
            </a:solidFill>
            <a:prstDash val="solid"/>
            <a:round/>
            <a:headEnd type="none" w="sm" len="sm"/>
            <a:tailEnd type="triangle" w="med" len="med"/>
          </a:ln>
        </p:spPr>
      </p:cxnSp>
      <p:sp>
        <p:nvSpPr>
          <p:cNvPr id="737" name="Google Shape;737;p25"/>
          <p:cNvSpPr/>
          <p:nvPr/>
        </p:nvSpPr>
        <p:spPr>
          <a:xfrm>
            <a:off x="548640" y="3986784"/>
            <a:ext cx="3383280" cy="457200"/>
          </a:xfrm>
          <a:prstGeom prst="roundRect">
            <a:avLst>
              <a:gd name="adj" fmla="val 8000"/>
            </a:avLst>
          </a:prstGeom>
          <a:solidFill>
            <a:srgbClr val="FBF1E5"/>
          </a:solidFill>
          <a:ln w="1777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5"/>
          <p:cNvSpPr/>
          <p:nvPr/>
        </p:nvSpPr>
        <p:spPr>
          <a:xfrm>
            <a:off x="685800" y="3986784"/>
            <a:ext cx="310896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00"/>
              <a:buFont typeface="Courier New"/>
              <a:buNone/>
            </a:pPr>
            <a:r>
              <a:rPr lang="en-US" sz="1100" b="1" i="0" u="none" strike="noStrike" cap="none">
                <a:solidFill>
                  <a:srgbClr val="D98324"/>
                </a:solidFill>
                <a:latin typeface="Courier New"/>
                <a:ea typeface="Courier New"/>
                <a:cs typeface="Courier New"/>
                <a:sym typeface="Courier New"/>
              </a:rPr>
              <a:t>[B, 1, 384]</a:t>
            </a:r>
            <a:endParaRPr sz="1100" b="0" i="0" u="none" strike="noStrike" cap="none">
              <a:solidFill>
                <a:schemeClr val="dk1"/>
              </a:solidFill>
              <a:latin typeface="Calibri"/>
              <a:ea typeface="Calibri"/>
              <a:cs typeface="Calibri"/>
              <a:sym typeface="Calibri"/>
            </a:endParaRPr>
          </a:p>
        </p:txBody>
      </p:sp>
      <p:sp>
        <p:nvSpPr>
          <p:cNvPr id="739" name="Google Shape;739;p25"/>
          <p:cNvSpPr/>
          <p:nvPr/>
        </p:nvSpPr>
        <p:spPr>
          <a:xfrm>
            <a:off x="4206240" y="13716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RGB-D dual async: memory_size = 2</a:t>
            </a:r>
            <a:endParaRPr sz="1250" b="0" i="0" u="none" strike="noStrike" cap="none">
              <a:solidFill>
                <a:schemeClr val="dk1"/>
              </a:solidFill>
              <a:latin typeface="Calibri"/>
              <a:ea typeface="Calibri"/>
              <a:cs typeface="Calibri"/>
              <a:sym typeface="Calibri"/>
            </a:endParaRPr>
          </a:p>
        </p:txBody>
      </p:sp>
      <p:sp>
        <p:nvSpPr>
          <p:cNvPr id="740" name="Google Shape;740;p25"/>
          <p:cNvSpPr/>
          <p:nvPr/>
        </p:nvSpPr>
        <p:spPr>
          <a:xfrm>
            <a:off x="4206240" y="1719072"/>
            <a:ext cx="3520440" cy="777240"/>
          </a:xfrm>
          <a:prstGeom prst="roundRect">
            <a:avLst>
              <a:gd name="adj" fmla="val 7059"/>
            </a:avLst>
          </a:prstGeom>
          <a:solidFill>
            <a:srgbClr val="FFFFFF"/>
          </a:solidFill>
          <a:ln w="1270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5"/>
          <p:cNvSpPr/>
          <p:nvPr/>
        </p:nvSpPr>
        <p:spPr>
          <a:xfrm>
            <a:off x="4389120" y="1810512"/>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Frame lúc S2 lập plan</a:t>
            </a:r>
            <a:endParaRPr sz="1150" b="0" i="0" u="none" strike="noStrike" cap="none">
              <a:solidFill>
                <a:schemeClr val="dk1"/>
              </a:solidFill>
              <a:latin typeface="Calibri"/>
              <a:ea typeface="Calibri"/>
              <a:cs typeface="Calibri"/>
              <a:sym typeface="Calibri"/>
            </a:endParaRPr>
          </a:p>
        </p:txBody>
      </p:sp>
      <p:sp>
        <p:nvSpPr>
          <p:cNvPr id="742" name="Google Shape;742;p25"/>
          <p:cNvSpPr/>
          <p:nvPr/>
        </p:nvSpPr>
        <p:spPr>
          <a:xfrm>
            <a:off x="4389120" y="2048256"/>
            <a:ext cx="3200400" cy="3840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neo latent/pixel plan vào cảnh khi suy luận</a:t>
            </a:r>
            <a:endParaRPr sz="1000" b="0" i="0" u="none" strike="noStrike" cap="none">
              <a:solidFill>
                <a:schemeClr val="dk1"/>
              </a:solidFill>
              <a:latin typeface="Calibri"/>
              <a:ea typeface="Calibri"/>
              <a:cs typeface="Calibri"/>
              <a:sym typeface="Calibri"/>
            </a:endParaRPr>
          </a:p>
        </p:txBody>
      </p:sp>
      <p:sp>
        <p:nvSpPr>
          <p:cNvPr id="743" name="Google Shape;743;p25"/>
          <p:cNvSpPr/>
          <p:nvPr/>
        </p:nvSpPr>
        <p:spPr>
          <a:xfrm>
            <a:off x="4206240" y="2633472"/>
            <a:ext cx="3520440" cy="777240"/>
          </a:xfrm>
          <a:prstGeom prst="roundRect">
            <a:avLst>
              <a:gd name="adj" fmla="val 7059"/>
            </a:avLst>
          </a:prstGeom>
          <a:solidFill>
            <a:srgbClr val="FFFFFF"/>
          </a:solidFill>
          <a:ln w="1270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5"/>
          <p:cNvSpPr/>
          <p:nvPr/>
        </p:nvSpPr>
        <p:spPr>
          <a:xfrm>
            <a:off x="4389120" y="2724912"/>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1" i="0" u="none" strike="noStrike" cap="none">
                <a:solidFill>
                  <a:srgbClr val="1B2B31"/>
                </a:solidFill>
                <a:latin typeface="Arial"/>
                <a:ea typeface="Arial"/>
                <a:cs typeface="Arial"/>
                <a:sym typeface="Arial"/>
              </a:rPr>
              <a:t>Frame hiện tại</a:t>
            </a:r>
            <a:endParaRPr sz="1150" b="0" i="0" u="none" strike="noStrike" cap="none">
              <a:solidFill>
                <a:schemeClr val="dk1"/>
              </a:solidFill>
              <a:latin typeface="Calibri"/>
              <a:ea typeface="Calibri"/>
              <a:cs typeface="Calibri"/>
              <a:sym typeface="Calibri"/>
            </a:endParaRPr>
          </a:p>
        </p:txBody>
      </p:sp>
      <p:sp>
        <p:nvSpPr>
          <p:cNvPr id="745" name="Google Shape;745;p25"/>
          <p:cNvSpPr/>
          <p:nvPr/>
        </p:nvSpPr>
        <p:spPr>
          <a:xfrm>
            <a:off x="4389120" y="2962656"/>
            <a:ext cx="3200400" cy="384048"/>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5C6E73"/>
              </a:buClr>
              <a:buSzPts val="1000"/>
              <a:buFont typeface="Arial"/>
              <a:buNone/>
            </a:pPr>
            <a:r>
              <a:rPr lang="en-US" sz="1000" b="0" i="0" u="none" strike="noStrike" cap="none">
                <a:solidFill>
                  <a:srgbClr val="5C6E73"/>
                </a:solidFill>
                <a:latin typeface="Arial"/>
                <a:ea typeface="Arial"/>
                <a:cs typeface="Arial"/>
                <a:sym typeface="Arial"/>
              </a:rPr>
              <a:t>phản ánh robot đang thấy gì bây giờ</a:t>
            </a:r>
            <a:endParaRPr sz="1000" b="0" i="0" u="none" strike="noStrike" cap="none">
              <a:solidFill>
                <a:schemeClr val="dk1"/>
              </a:solidFill>
              <a:latin typeface="Calibri"/>
              <a:ea typeface="Calibri"/>
              <a:cs typeface="Calibri"/>
              <a:sym typeface="Calibri"/>
            </a:endParaRPr>
          </a:p>
        </p:txBody>
      </p:sp>
      <p:sp>
        <p:nvSpPr>
          <p:cNvPr id="746" name="Google Shape;746;p25"/>
          <p:cNvSpPr/>
          <p:nvPr/>
        </p:nvSpPr>
        <p:spPr>
          <a:xfrm>
            <a:off x="4389120" y="3639312"/>
            <a:ext cx="3291840" cy="548640"/>
          </a:xfrm>
          <a:prstGeom prst="rect">
            <a:avLst/>
          </a:prstGeom>
          <a:noFill/>
          <a:ln>
            <a:noFill/>
          </a:ln>
        </p:spPr>
        <p:txBody>
          <a:bodyPr spcFirstLastPara="1" wrap="square" lIns="0" tIns="0" rIns="0" bIns="0" anchor="ctr" anchorCtr="0">
            <a:noAutofit/>
          </a:bodyPr>
          <a:lstStyle/>
          <a:p>
            <a:pPr marL="0" marR="0" lvl="0" indent="0" algn="l" rtl="0">
              <a:lnSpc>
                <a:spcPct val="142857"/>
              </a:lnSpc>
              <a:spcBef>
                <a:spcPts val="0"/>
              </a:spcBef>
              <a:spcAft>
                <a:spcPts val="0"/>
              </a:spcAft>
              <a:buClr>
                <a:srgbClr val="028090"/>
              </a:buClr>
              <a:buSzPts val="1050"/>
              <a:buFont typeface="Courier New"/>
              <a:buNone/>
            </a:pPr>
            <a:r>
              <a:rPr lang="en-US" sz="1050" b="1" i="0" u="none" strike="noStrike" cap="none">
                <a:solidFill>
                  <a:srgbClr val="028090"/>
                </a:solidFill>
                <a:latin typeface="Courier New"/>
                <a:ea typeface="Courier New"/>
                <a:cs typeface="Courier New"/>
                <a:sym typeface="Courier New"/>
              </a:rPr>
              <a:t>images_dp: [1, 2, 224, 224, 3]</a:t>
            </a:r>
            <a:endParaRPr sz="1050" b="0" i="0" u="none" strike="noStrike" cap="none">
              <a:solidFill>
                <a:schemeClr val="dk1"/>
              </a:solidFill>
              <a:latin typeface="Calibri"/>
              <a:ea typeface="Calibri"/>
              <a:cs typeface="Calibri"/>
              <a:sym typeface="Calibri"/>
            </a:endParaRPr>
          </a:p>
          <a:p>
            <a:pPr marL="0" marR="0" lvl="0" indent="0" algn="l" rtl="0">
              <a:lnSpc>
                <a:spcPct val="142857"/>
              </a:lnSpc>
              <a:spcBef>
                <a:spcPts val="0"/>
              </a:spcBef>
              <a:spcAft>
                <a:spcPts val="0"/>
              </a:spcAft>
              <a:buClr>
                <a:srgbClr val="028090"/>
              </a:buClr>
              <a:buSzPts val="1050"/>
              <a:buFont typeface="Courier New"/>
              <a:buNone/>
            </a:pPr>
            <a:r>
              <a:rPr lang="en-US" sz="1050" b="1" i="0" u="none" strike="noStrike" cap="none">
                <a:solidFill>
                  <a:srgbClr val="028090"/>
                </a:solidFill>
                <a:latin typeface="Courier New"/>
                <a:ea typeface="Courier New"/>
                <a:cs typeface="Courier New"/>
                <a:sym typeface="Courier New"/>
              </a:rPr>
              <a:t>depths_dp: [1, 2, 224, 224, 1]</a:t>
            </a:r>
            <a:endParaRPr sz="1050" b="0" i="0" u="none" strike="noStrike" cap="none">
              <a:solidFill>
                <a:schemeClr val="dk1"/>
              </a:solidFill>
              <a:latin typeface="Calibri"/>
              <a:ea typeface="Calibri"/>
              <a:cs typeface="Calibri"/>
              <a:sym typeface="Calibri"/>
            </a:endParaRPr>
          </a:p>
        </p:txBody>
      </p:sp>
      <p:sp>
        <p:nvSpPr>
          <p:cNvPr id="747" name="Google Shape;747;p25"/>
          <p:cNvSpPr/>
          <p:nvPr/>
        </p:nvSpPr>
        <p:spPr>
          <a:xfrm>
            <a:off x="8001000" y="1664208"/>
            <a:ext cx="3639312" cy="2560320"/>
          </a:xfrm>
          <a:prstGeom prst="roundRect">
            <a:avLst>
              <a:gd name="adj" fmla="val 2143"/>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5"/>
          <p:cNvSpPr/>
          <p:nvPr/>
        </p:nvSpPr>
        <p:spPr>
          <a:xfrm>
            <a:off x="8229600" y="1847088"/>
            <a:ext cx="3200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00"/>
              <a:buFont typeface="Arial"/>
              <a:buNone/>
            </a:pPr>
            <a:r>
              <a:rPr lang="en-US" sz="1300" b="1" i="0" u="none" strike="noStrike" cap="none">
                <a:solidFill>
                  <a:srgbClr val="00A896"/>
                </a:solidFill>
                <a:latin typeface="Arial"/>
                <a:ea typeface="Arial"/>
                <a:cs typeface="Arial"/>
                <a:sym typeface="Arial"/>
              </a:rPr>
              <a:t>34 condition token</a:t>
            </a:r>
            <a:endParaRPr sz="1300" b="0" i="0" u="none" strike="noStrike" cap="none">
              <a:solidFill>
                <a:schemeClr val="dk1"/>
              </a:solidFill>
              <a:latin typeface="Calibri"/>
              <a:ea typeface="Calibri"/>
              <a:cs typeface="Calibri"/>
              <a:sym typeface="Calibri"/>
            </a:endParaRPr>
          </a:p>
        </p:txBody>
      </p:sp>
      <p:sp>
        <p:nvSpPr>
          <p:cNvPr id="749" name="Google Shape;749;p25"/>
          <p:cNvSpPr/>
          <p:nvPr/>
        </p:nvSpPr>
        <p:spPr>
          <a:xfrm>
            <a:off x="8229600" y="2240280"/>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050"/>
              <a:buFont typeface="Arial"/>
              <a:buNone/>
            </a:pPr>
            <a:r>
              <a:rPr lang="en-US" sz="1050" b="0" i="0" u="none" strike="noStrike" cap="none">
                <a:solidFill>
                  <a:srgbClr val="C7DADC"/>
                </a:solidFill>
                <a:latin typeface="Arial"/>
                <a:ea typeface="Arial"/>
                <a:cs typeface="Arial"/>
                <a:sym typeface="Arial"/>
              </a:rPr>
              <a:t>2 RGB × 256 + 2 depth × 256</a:t>
            </a:r>
            <a:endParaRPr sz="1050" b="0" i="0" u="none" strike="noStrike" cap="none">
              <a:solidFill>
                <a:schemeClr val="dk1"/>
              </a:solidFill>
              <a:latin typeface="Calibri"/>
              <a:ea typeface="Calibri"/>
              <a:cs typeface="Calibri"/>
              <a:sym typeface="Calibri"/>
            </a:endParaRPr>
          </a:p>
        </p:txBody>
      </p:sp>
      <p:sp>
        <p:nvSpPr>
          <p:cNvPr id="750" name="Google Shape;750;p25"/>
          <p:cNvSpPr/>
          <p:nvPr/>
        </p:nvSpPr>
        <p:spPr>
          <a:xfrm>
            <a:off x="8229600" y="2478024"/>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Arial"/>
              <a:buNone/>
            </a:pPr>
            <a:r>
              <a:rPr lang="en-US" sz="1100" b="1" i="0" u="none" strike="noStrike" cap="none">
                <a:solidFill>
                  <a:srgbClr val="FFFFFF"/>
                </a:solidFill>
                <a:latin typeface="Arial"/>
                <a:ea typeface="Arial"/>
                <a:cs typeface="Arial"/>
                <a:sym typeface="Arial"/>
              </a:rPr>
              <a:t>= 1024 visual token</a:t>
            </a:r>
            <a:endParaRPr sz="1100" b="0" i="0" u="none" strike="noStrike" cap="none">
              <a:solidFill>
                <a:schemeClr val="dk1"/>
              </a:solidFill>
              <a:latin typeface="Calibri"/>
              <a:ea typeface="Calibri"/>
              <a:cs typeface="Calibri"/>
              <a:sym typeface="Calibri"/>
            </a:endParaRPr>
          </a:p>
        </p:txBody>
      </p:sp>
      <p:sp>
        <p:nvSpPr>
          <p:cNvPr id="751" name="Google Shape;751;p25"/>
          <p:cNvSpPr/>
          <p:nvPr/>
        </p:nvSpPr>
        <p:spPr>
          <a:xfrm>
            <a:off x="8229600" y="2898648"/>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050"/>
              <a:buFont typeface="Arial"/>
              <a:buNone/>
            </a:pPr>
            <a:r>
              <a:rPr lang="en-US" sz="1050" b="0" i="0" u="none" strike="noStrike" cap="none">
                <a:solidFill>
                  <a:srgbClr val="C7DADC"/>
                </a:solidFill>
                <a:latin typeface="Arial"/>
                <a:ea typeface="Arial"/>
                <a:cs typeface="Arial"/>
                <a:sym typeface="Arial"/>
              </a:rPr>
              <a:t>Learned queries nén còn</a:t>
            </a:r>
            <a:endParaRPr sz="1050" b="0" i="0" u="none" strike="noStrike" cap="none">
              <a:solidFill>
                <a:schemeClr val="dk1"/>
              </a:solidFill>
              <a:latin typeface="Calibri"/>
              <a:ea typeface="Calibri"/>
              <a:cs typeface="Calibri"/>
              <a:sym typeface="Calibri"/>
            </a:endParaRPr>
          </a:p>
        </p:txBody>
      </p:sp>
      <p:sp>
        <p:nvSpPr>
          <p:cNvPr id="752" name="Google Shape;752;p25"/>
          <p:cNvSpPr/>
          <p:nvPr/>
        </p:nvSpPr>
        <p:spPr>
          <a:xfrm>
            <a:off x="8229600" y="3136392"/>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Arial"/>
              <a:buNone/>
            </a:pPr>
            <a:r>
              <a:rPr lang="en-US" sz="1100" b="1" i="0" u="none" strike="noStrike" cap="none">
                <a:solidFill>
                  <a:srgbClr val="FFFFFF"/>
                </a:solidFill>
                <a:latin typeface="Arial"/>
                <a:ea typeface="Arial"/>
                <a:cs typeface="Arial"/>
                <a:sym typeface="Arial"/>
              </a:rPr>
              <a:t>memory_size × 16 = 32 token</a:t>
            </a:r>
            <a:endParaRPr sz="1100" b="0" i="0" u="none" strike="noStrike" cap="none">
              <a:solidFill>
                <a:schemeClr val="dk1"/>
              </a:solidFill>
              <a:latin typeface="Calibri"/>
              <a:ea typeface="Calibri"/>
              <a:cs typeface="Calibri"/>
              <a:sym typeface="Calibri"/>
            </a:endParaRPr>
          </a:p>
        </p:txBody>
      </p:sp>
      <p:sp>
        <p:nvSpPr>
          <p:cNvPr id="753" name="Google Shape;753;p25"/>
          <p:cNvSpPr/>
          <p:nvPr/>
        </p:nvSpPr>
        <p:spPr>
          <a:xfrm>
            <a:off x="8229600" y="3557016"/>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DADC"/>
              </a:buClr>
              <a:buSzPts val="1050"/>
              <a:buFont typeface="Arial"/>
              <a:buNone/>
            </a:pPr>
            <a:r>
              <a:rPr lang="en-US" sz="1050" b="0" i="0" u="none" strike="noStrike" cap="none">
                <a:solidFill>
                  <a:srgbClr val="C7DADC"/>
                </a:solidFill>
                <a:latin typeface="Arial"/>
                <a:ea typeface="Arial"/>
                <a:cs typeface="Arial"/>
                <a:sym typeface="Arial"/>
              </a:rPr>
              <a:t>Condition = 1 time + 1 goal + 32</a:t>
            </a:r>
            <a:endParaRPr sz="1050" b="0" i="0" u="none" strike="noStrike" cap="none">
              <a:solidFill>
                <a:schemeClr val="dk1"/>
              </a:solidFill>
              <a:latin typeface="Calibri"/>
              <a:ea typeface="Calibri"/>
              <a:cs typeface="Calibri"/>
              <a:sym typeface="Calibri"/>
            </a:endParaRPr>
          </a:p>
        </p:txBody>
      </p:sp>
      <p:sp>
        <p:nvSpPr>
          <p:cNvPr id="754" name="Google Shape;754;p25"/>
          <p:cNvSpPr/>
          <p:nvPr/>
        </p:nvSpPr>
        <p:spPr>
          <a:xfrm>
            <a:off x="8229600" y="3794760"/>
            <a:ext cx="3200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Arial"/>
              <a:buNone/>
            </a:pPr>
            <a:r>
              <a:rPr lang="en-US" sz="1100" b="1" i="0" u="none" strike="noStrike" cap="none">
                <a:solidFill>
                  <a:srgbClr val="FFFFFF"/>
                </a:solidFill>
                <a:latin typeface="Arial"/>
                <a:ea typeface="Arial"/>
                <a:cs typeface="Arial"/>
                <a:sym typeface="Arial"/>
              </a:rPr>
              <a:t>= 34 token, mỗi token 384 chiều</a:t>
            </a:r>
            <a:endParaRPr sz="1100" b="0" i="0" u="none" strike="noStrike" cap="none">
              <a:solidFill>
                <a:schemeClr val="dk1"/>
              </a:solidFill>
              <a:latin typeface="Calibri"/>
              <a:ea typeface="Calibri"/>
              <a:cs typeface="Calibri"/>
              <a:sym typeface="Calibri"/>
            </a:endParaRPr>
          </a:p>
        </p:txBody>
      </p:sp>
      <p:sp>
        <p:nvSpPr>
          <p:cNvPr id="755" name="Google Shape;755;p25"/>
          <p:cNvSpPr/>
          <p:nvPr/>
        </p:nvSpPr>
        <p:spPr>
          <a:xfrm>
            <a:off x="548640" y="4617720"/>
            <a:ext cx="5486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250"/>
              <a:buFont typeface="Arial"/>
              <a:buNone/>
            </a:pPr>
            <a:r>
              <a:rPr lang="en-US" sz="1250" b="1" i="0" u="none" strike="noStrike" cap="none">
                <a:solidFill>
                  <a:srgbClr val="1B2B31"/>
                </a:solidFill>
                <a:latin typeface="Arial"/>
                <a:ea typeface="Arial"/>
                <a:cs typeface="Arial"/>
                <a:sym typeface="Arial"/>
              </a:rPr>
              <a:t>Output diffusion dual</a:t>
            </a:r>
            <a:endParaRPr sz="1250" b="0" i="0" u="none" strike="noStrike" cap="none">
              <a:solidFill>
                <a:schemeClr val="dk1"/>
              </a:solidFill>
              <a:latin typeface="Calibri"/>
              <a:ea typeface="Calibri"/>
              <a:cs typeface="Calibri"/>
              <a:sym typeface="Calibri"/>
            </a:endParaRPr>
          </a:p>
        </p:txBody>
      </p:sp>
      <p:sp>
        <p:nvSpPr>
          <p:cNvPr id="756" name="Google Shape;756;p25"/>
          <p:cNvSpPr/>
          <p:nvPr/>
        </p:nvSpPr>
        <p:spPr>
          <a:xfrm>
            <a:off x="548640" y="4937760"/>
            <a:ext cx="1737360" cy="1051560"/>
          </a:xfrm>
          <a:prstGeom prst="roundRect">
            <a:avLst>
              <a:gd name="adj" fmla="val 521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5"/>
          <p:cNvSpPr/>
          <p:nvPr/>
        </p:nvSpPr>
        <p:spPr>
          <a:xfrm>
            <a:off x="548640" y="5029200"/>
            <a:ext cx="173736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2800"/>
              <a:buFont typeface="Arial"/>
              <a:buNone/>
            </a:pPr>
            <a:r>
              <a:rPr lang="en-US" sz="2800" b="1" i="0" u="none" strike="noStrike" cap="none">
                <a:solidFill>
                  <a:srgbClr val="028090"/>
                </a:solidFill>
                <a:latin typeface="Arial"/>
                <a:ea typeface="Arial"/>
                <a:cs typeface="Arial"/>
                <a:sym typeface="Arial"/>
              </a:rPr>
              <a:t>32</a:t>
            </a:r>
            <a:endParaRPr sz="2800" b="0" i="0" u="none" strike="noStrike" cap="none">
              <a:solidFill>
                <a:schemeClr val="dk1"/>
              </a:solidFill>
              <a:latin typeface="Calibri"/>
              <a:ea typeface="Calibri"/>
              <a:cs typeface="Calibri"/>
              <a:sym typeface="Calibri"/>
            </a:endParaRPr>
          </a:p>
        </p:txBody>
      </p:sp>
      <p:sp>
        <p:nvSpPr>
          <p:cNvPr id="758" name="Google Shape;758;p25"/>
          <p:cNvSpPr/>
          <p:nvPr/>
        </p:nvSpPr>
        <p:spPr>
          <a:xfrm>
            <a:off x="548640" y="5541264"/>
            <a:ext cx="17373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950"/>
              <a:buFont typeface="Arial"/>
              <a:buNone/>
            </a:pPr>
            <a:r>
              <a:rPr lang="en-US" sz="950" b="0" i="0" u="none" strike="noStrike" cap="none">
                <a:solidFill>
                  <a:srgbClr val="5C6E73"/>
                </a:solidFill>
                <a:latin typeface="Arial"/>
                <a:ea typeface="Arial"/>
                <a:cs typeface="Arial"/>
                <a:sym typeface="Arial"/>
              </a:rPr>
              <a:t>sampled trajectories</a:t>
            </a:r>
            <a:endParaRPr sz="950" b="0" i="0" u="none" strike="noStrike" cap="none">
              <a:solidFill>
                <a:schemeClr val="dk1"/>
              </a:solidFill>
              <a:latin typeface="Calibri"/>
              <a:ea typeface="Calibri"/>
              <a:cs typeface="Calibri"/>
              <a:sym typeface="Calibri"/>
            </a:endParaRPr>
          </a:p>
        </p:txBody>
      </p:sp>
      <p:sp>
        <p:nvSpPr>
          <p:cNvPr id="759" name="Google Shape;759;p25"/>
          <p:cNvSpPr/>
          <p:nvPr/>
        </p:nvSpPr>
        <p:spPr>
          <a:xfrm>
            <a:off x="2514600" y="4937760"/>
            <a:ext cx="1737360" cy="1051560"/>
          </a:xfrm>
          <a:prstGeom prst="roundRect">
            <a:avLst>
              <a:gd name="adj" fmla="val 521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5"/>
          <p:cNvSpPr/>
          <p:nvPr/>
        </p:nvSpPr>
        <p:spPr>
          <a:xfrm>
            <a:off x="2514600" y="5029200"/>
            <a:ext cx="173736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2800"/>
              <a:buFont typeface="Arial"/>
              <a:buNone/>
            </a:pPr>
            <a:r>
              <a:rPr lang="en-US" sz="2800" b="1" i="0" u="none" strike="noStrike" cap="none">
                <a:solidFill>
                  <a:srgbClr val="028090"/>
                </a:solidFill>
                <a:latin typeface="Arial"/>
                <a:ea typeface="Arial"/>
                <a:cs typeface="Arial"/>
                <a:sym typeface="Arial"/>
              </a:rPr>
              <a:t>32</a:t>
            </a:r>
            <a:endParaRPr sz="2800" b="0" i="0" u="none" strike="noStrike" cap="none">
              <a:solidFill>
                <a:schemeClr val="dk1"/>
              </a:solidFill>
              <a:latin typeface="Calibri"/>
              <a:ea typeface="Calibri"/>
              <a:cs typeface="Calibri"/>
              <a:sym typeface="Calibri"/>
            </a:endParaRPr>
          </a:p>
        </p:txBody>
      </p:sp>
      <p:sp>
        <p:nvSpPr>
          <p:cNvPr id="761" name="Google Shape;761;p25"/>
          <p:cNvSpPr/>
          <p:nvPr/>
        </p:nvSpPr>
        <p:spPr>
          <a:xfrm>
            <a:off x="2514600" y="5541264"/>
            <a:ext cx="17373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950"/>
              <a:buFont typeface="Arial"/>
              <a:buNone/>
            </a:pPr>
            <a:r>
              <a:rPr lang="en-US" sz="950" b="0" i="0" u="none" strike="noStrike" cap="none">
                <a:solidFill>
                  <a:srgbClr val="5C6E73"/>
                </a:solidFill>
                <a:latin typeface="Arial"/>
                <a:ea typeface="Arial"/>
                <a:cs typeface="Arial"/>
                <a:sym typeface="Arial"/>
              </a:rPr>
              <a:t>future steps</a:t>
            </a:r>
            <a:endParaRPr sz="950" b="0" i="0" u="none" strike="noStrike" cap="none">
              <a:solidFill>
                <a:schemeClr val="dk1"/>
              </a:solidFill>
              <a:latin typeface="Calibri"/>
              <a:ea typeface="Calibri"/>
              <a:cs typeface="Calibri"/>
              <a:sym typeface="Calibri"/>
            </a:endParaRPr>
          </a:p>
        </p:txBody>
      </p:sp>
      <p:sp>
        <p:nvSpPr>
          <p:cNvPr id="762" name="Google Shape;762;p25"/>
          <p:cNvSpPr/>
          <p:nvPr/>
        </p:nvSpPr>
        <p:spPr>
          <a:xfrm>
            <a:off x="4480560" y="4937760"/>
            <a:ext cx="1737360" cy="1051560"/>
          </a:xfrm>
          <a:prstGeom prst="roundRect">
            <a:avLst>
              <a:gd name="adj" fmla="val 521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5"/>
          <p:cNvSpPr/>
          <p:nvPr/>
        </p:nvSpPr>
        <p:spPr>
          <a:xfrm>
            <a:off x="4480560" y="5029200"/>
            <a:ext cx="173736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2800"/>
              <a:buFont typeface="Arial"/>
              <a:buNone/>
            </a:pPr>
            <a:r>
              <a:rPr lang="en-US" sz="2800" b="1" i="0" u="none" strike="noStrike" cap="none">
                <a:solidFill>
                  <a:srgbClr val="028090"/>
                </a:solidFill>
                <a:latin typeface="Arial"/>
                <a:ea typeface="Arial"/>
                <a:cs typeface="Arial"/>
                <a:sym typeface="Arial"/>
              </a:rPr>
              <a:t>3</a:t>
            </a:r>
            <a:endParaRPr sz="2800" b="0" i="0" u="none" strike="noStrike" cap="none">
              <a:solidFill>
                <a:schemeClr val="dk1"/>
              </a:solidFill>
              <a:latin typeface="Calibri"/>
              <a:ea typeface="Calibri"/>
              <a:cs typeface="Calibri"/>
              <a:sym typeface="Calibri"/>
            </a:endParaRPr>
          </a:p>
        </p:txBody>
      </p:sp>
      <p:sp>
        <p:nvSpPr>
          <p:cNvPr id="764" name="Google Shape;764;p25"/>
          <p:cNvSpPr/>
          <p:nvPr/>
        </p:nvSpPr>
        <p:spPr>
          <a:xfrm>
            <a:off x="4480560" y="5541264"/>
            <a:ext cx="17373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950"/>
              <a:buFont typeface="Arial"/>
              <a:buNone/>
            </a:pPr>
            <a:r>
              <a:rPr lang="en-US" sz="950" b="0" i="0" u="none" strike="noStrike" cap="none">
                <a:solidFill>
                  <a:srgbClr val="5C6E73"/>
                </a:solidFill>
                <a:latin typeface="Arial"/>
                <a:ea typeface="Arial"/>
                <a:cs typeface="Arial"/>
                <a:sym typeface="Arial"/>
              </a:rPr>
              <a:t>kênh (x, y, yaw)</a:t>
            </a:r>
            <a:endParaRPr sz="950" b="0" i="0" u="none" strike="noStrike" cap="none">
              <a:solidFill>
                <a:schemeClr val="dk1"/>
              </a:solidFill>
              <a:latin typeface="Calibri"/>
              <a:ea typeface="Calibri"/>
              <a:cs typeface="Calibri"/>
              <a:sym typeface="Calibri"/>
            </a:endParaRPr>
          </a:p>
        </p:txBody>
      </p:sp>
      <p:sp>
        <p:nvSpPr>
          <p:cNvPr id="765" name="Google Shape;765;p25"/>
          <p:cNvSpPr/>
          <p:nvPr/>
        </p:nvSpPr>
        <p:spPr>
          <a:xfrm>
            <a:off x="6446520" y="4937760"/>
            <a:ext cx="1737360" cy="1051560"/>
          </a:xfrm>
          <a:prstGeom prst="roundRect">
            <a:avLst>
              <a:gd name="adj" fmla="val 5217"/>
            </a:avLst>
          </a:prstGeom>
          <a:solidFill>
            <a:srgbClr val="FBF1E5"/>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5"/>
          <p:cNvSpPr/>
          <p:nvPr/>
        </p:nvSpPr>
        <p:spPr>
          <a:xfrm>
            <a:off x="6446520" y="5029200"/>
            <a:ext cx="1737360"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2800"/>
              <a:buFont typeface="Arial"/>
              <a:buNone/>
            </a:pPr>
            <a:r>
              <a:rPr lang="en-US" sz="2800" b="1" i="0" u="none" strike="noStrike" cap="none">
                <a:solidFill>
                  <a:srgbClr val="D98324"/>
                </a:solidFill>
                <a:latin typeface="Arial"/>
                <a:ea typeface="Arial"/>
                <a:cs typeface="Arial"/>
                <a:sym typeface="Arial"/>
              </a:rPr>
              <a:t>20</a:t>
            </a:r>
            <a:endParaRPr sz="2800" b="0" i="0" u="none" strike="noStrike" cap="none">
              <a:solidFill>
                <a:schemeClr val="dk1"/>
              </a:solidFill>
              <a:latin typeface="Calibri"/>
              <a:ea typeface="Calibri"/>
              <a:cs typeface="Calibri"/>
              <a:sym typeface="Calibri"/>
            </a:endParaRPr>
          </a:p>
        </p:txBody>
      </p:sp>
      <p:sp>
        <p:nvSpPr>
          <p:cNvPr id="767" name="Google Shape;767;p25"/>
          <p:cNvSpPr/>
          <p:nvPr/>
        </p:nvSpPr>
        <p:spPr>
          <a:xfrm>
            <a:off x="6446520" y="5541264"/>
            <a:ext cx="17373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E73"/>
              </a:buClr>
              <a:buSzPts val="950"/>
              <a:buFont typeface="Arial"/>
              <a:buNone/>
            </a:pPr>
            <a:r>
              <a:rPr lang="en-US" sz="950" b="0" i="0" u="none" strike="noStrike" cap="none">
                <a:solidFill>
                  <a:srgbClr val="5C6E73"/>
                </a:solidFill>
                <a:latin typeface="Arial"/>
                <a:ea typeface="Arial"/>
                <a:cs typeface="Arial"/>
                <a:sym typeface="Arial"/>
              </a:rPr>
              <a:t>DDPM timestep</a:t>
            </a:r>
            <a:endParaRPr sz="950" b="0" i="0" u="none" strike="noStrike" cap="none">
              <a:solidFill>
                <a:schemeClr val="dk1"/>
              </a:solidFill>
              <a:latin typeface="Calibri"/>
              <a:ea typeface="Calibri"/>
              <a:cs typeface="Calibri"/>
              <a:sym typeface="Calibri"/>
            </a:endParaRPr>
          </a:p>
        </p:txBody>
      </p:sp>
      <p:sp>
        <p:nvSpPr>
          <p:cNvPr id="768" name="Google Shape;768;p25"/>
          <p:cNvSpPr/>
          <p:nvPr/>
        </p:nvSpPr>
        <p:spPr>
          <a:xfrm>
            <a:off x="8503920" y="4937760"/>
            <a:ext cx="3136392" cy="1051560"/>
          </a:xfrm>
          <a:prstGeom prst="roundRect">
            <a:avLst>
              <a:gd name="adj" fmla="val 5217"/>
            </a:avLst>
          </a:prstGeom>
          <a:solidFill>
            <a:srgbClr val="FFFFFF"/>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5"/>
          <p:cNvSpPr/>
          <p:nvPr/>
        </p:nvSpPr>
        <p:spPr>
          <a:xfrm>
            <a:off x="8686800" y="5074920"/>
            <a:ext cx="2788920" cy="365760"/>
          </a:xfrm>
          <a:prstGeom prst="rect">
            <a:avLst/>
          </a:prstGeom>
          <a:noFill/>
          <a:ln>
            <a:noFill/>
          </a:ln>
        </p:spPr>
        <p:txBody>
          <a:bodyPr spcFirstLastPara="1" wrap="square" lIns="0" tIns="0" rIns="0" bIns="0" anchor="ctr" anchorCtr="0">
            <a:noAutofit/>
          </a:bodyPr>
          <a:lstStyle/>
          <a:p>
            <a:pPr marL="0" marR="0" lvl="0" indent="0" algn="l" rtl="0">
              <a:lnSpc>
                <a:spcPct val="123809"/>
              </a:lnSpc>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generate_traj() trả delta trajectory thô</a:t>
            </a:r>
            <a:endParaRPr sz="1050" b="0" i="0" u="none" strike="noStrike" cap="none">
              <a:solidFill>
                <a:schemeClr val="dk1"/>
              </a:solidFill>
              <a:latin typeface="Calibri"/>
              <a:ea typeface="Calibri"/>
              <a:cs typeface="Calibri"/>
              <a:sym typeface="Calibri"/>
            </a:endParaRPr>
          </a:p>
        </p:txBody>
      </p:sp>
      <p:sp>
        <p:nvSpPr>
          <p:cNvPr id="770" name="Google Shape;770;p25"/>
          <p:cNvSpPr/>
          <p:nvPr/>
        </p:nvSpPr>
        <p:spPr>
          <a:xfrm>
            <a:off x="8686800" y="5486400"/>
            <a:ext cx="27889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Courier New"/>
              <a:buNone/>
            </a:pPr>
            <a:r>
              <a:rPr lang="en-US" sz="1200" b="1" i="0" u="none" strike="noStrike" cap="none">
                <a:solidFill>
                  <a:srgbClr val="D98324"/>
                </a:solidFill>
                <a:latin typeface="Courier New"/>
                <a:ea typeface="Courier New"/>
                <a:cs typeface="Courier New"/>
                <a:sym typeface="Courier New"/>
              </a:rPr>
              <a:t>[32, 32, 3]  (batch 1)</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26"/>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ĐẦU RA</a:t>
            </a:r>
            <a:endParaRPr sz="1050" b="0" i="0" u="none" strike="noStrike" cap="none">
              <a:solidFill>
                <a:schemeClr val="dk1"/>
              </a:solidFill>
              <a:latin typeface="Calibri"/>
              <a:ea typeface="Calibri"/>
              <a:cs typeface="Calibri"/>
              <a:sym typeface="Calibri"/>
            </a:endParaRPr>
          </a:p>
        </p:txBody>
      </p:sp>
      <p:sp>
        <p:nvSpPr>
          <p:cNvPr id="777" name="Google Shape;777;p26"/>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Từ quỹ đạo sang hành động của robot</a:t>
            </a:r>
            <a:endParaRPr sz="2500" b="0" i="0" u="none" strike="noStrike" cap="none">
              <a:solidFill>
                <a:schemeClr val="dk1"/>
              </a:solidFill>
              <a:latin typeface="Calibri"/>
              <a:ea typeface="Calibri"/>
              <a:cs typeface="Calibri"/>
              <a:sym typeface="Calibri"/>
            </a:endParaRPr>
          </a:p>
        </p:txBody>
      </p:sp>
      <p:sp>
        <p:nvSpPr>
          <p:cNvPr id="778" name="Google Shape;778;p26"/>
          <p:cNvSpPr/>
          <p:nvPr/>
        </p:nvSpPr>
        <p:spPr>
          <a:xfrm>
            <a:off x="548640" y="1371600"/>
            <a:ext cx="5349240" cy="2286000"/>
          </a:xfrm>
          <a:prstGeom prst="roundRect">
            <a:avLst>
              <a:gd name="adj" fmla="val 2400"/>
            </a:avLst>
          </a:prstGeom>
          <a:solidFill>
            <a:srgbClr val="FFFFFF"/>
          </a:solidFill>
          <a:ln w="16500" cap="flat" cmpd="sng">
            <a:solidFill>
              <a:srgbClr val="02809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6"/>
          <p:cNvSpPr/>
          <p:nvPr/>
        </p:nvSpPr>
        <p:spPr>
          <a:xfrm>
            <a:off x="822960" y="155448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300"/>
              <a:buFont typeface="Arial"/>
              <a:buNone/>
            </a:pPr>
            <a:r>
              <a:rPr lang="en-US" sz="1300" b="1" i="0" u="none" strike="noStrike" cap="none">
                <a:solidFill>
                  <a:srgbClr val="028090"/>
                </a:solidFill>
                <a:latin typeface="Arial"/>
                <a:ea typeface="Arial"/>
                <a:cs typeface="Arial"/>
                <a:sym typeface="Arial"/>
              </a:rPr>
              <a:t>Continuous — notebook real-world</a:t>
            </a:r>
            <a:endParaRPr sz="1300" b="0" i="0" u="none" strike="noStrike" cap="none">
              <a:solidFill>
                <a:schemeClr val="dk1"/>
              </a:solidFill>
              <a:latin typeface="Calibri"/>
              <a:ea typeface="Calibri"/>
              <a:cs typeface="Calibri"/>
              <a:sym typeface="Calibri"/>
            </a:endParaRPr>
          </a:p>
        </p:txBody>
      </p:sp>
      <p:sp>
        <p:nvSpPr>
          <p:cNvPr id="780" name="Google Shape;780;p26"/>
          <p:cNvSpPr/>
          <p:nvPr/>
        </p:nvSpPr>
        <p:spPr>
          <a:xfrm>
            <a:off x="822960" y="1901952"/>
            <a:ext cx="4754880" cy="137160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Chia dx, dy cho 4 để bỏ chuẩn hoá</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Cumulative sum thành 32 candidate path</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Lấy trung bình theo chiều sample</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Trả một quỹ đạo liên tục [T+1, 2] bắt đầu tại [0, 0]</a:t>
            </a:r>
            <a:endParaRPr sz="1150" b="0" i="0" u="none" strike="noStrike" cap="none">
              <a:solidFill>
                <a:schemeClr val="dk1"/>
              </a:solidFill>
              <a:latin typeface="Calibri"/>
              <a:ea typeface="Calibri"/>
              <a:cs typeface="Calibri"/>
              <a:sym typeface="Calibri"/>
            </a:endParaRPr>
          </a:p>
        </p:txBody>
      </p:sp>
      <p:sp>
        <p:nvSpPr>
          <p:cNvPr id="781" name="Google Shape;781;p26"/>
          <p:cNvSpPr/>
          <p:nvPr/>
        </p:nvSpPr>
        <p:spPr>
          <a:xfrm>
            <a:off x="6291072" y="1371600"/>
            <a:ext cx="5349240" cy="2286000"/>
          </a:xfrm>
          <a:prstGeom prst="roundRect">
            <a:avLst>
              <a:gd name="adj" fmla="val 2400"/>
            </a:avLst>
          </a:prstGeom>
          <a:solidFill>
            <a:srgbClr val="FFFFFF"/>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6"/>
          <p:cNvSpPr/>
          <p:nvPr/>
        </p:nvSpPr>
        <p:spPr>
          <a:xfrm>
            <a:off x="6565392" y="155448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00"/>
              <a:buFont typeface="Arial"/>
              <a:buNone/>
            </a:pPr>
            <a:r>
              <a:rPr lang="en-US" sz="1300" b="1" i="0" u="none" strike="noStrike" cap="none">
                <a:solidFill>
                  <a:srgbClr val="D98324"/>
                </a:solidFill>
                <a:latin typeface="Arial"/>
                <a:ea typeface="Arial"/>
                <a:cs typeface="Arial"/>
                <a:sym typeface="Arial"/>
              </a:rPr>
              <a:t>Discrete — evaluator / agent</a:t>
            </a:r>
            <a:endParaRPr sz="1300" b="0" i="0" u="none" strike="noStrike" cap="none">
              <a:solidFill>
                <a:schemeClr val="dk1"/>
              </a:solidFill>
              <a:latin typeface="Calibri"/>
              <a:ea typeface="Calibri"/>
              <a:cs typeface="Calibri"/>
              <a:sym typeface="Calibri"/>
            </a:endParaRPr>
          </a:p>
        </p:txBody>
      </p:sp>
      <p:sp>
        <p:nvSpPr>
          <p:cNvPr id="783" name="Google Shape;783;p26"/>
          <p:cNvSpPr/>
          <p:nvPr/>
        </p:nvSpPr>
        <p:spPr>
          <a:xfrm>
            <a:off x="6565392" y="1901952"/>
            <a:ext cx="4754880" cy="137160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Cũng tạo mean trajectory, rồi mô phỏng follower đơn giản</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Mỗi bước tiến 0.25 m · mỗi lần quay 15°</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Lookahead mặc định 4 trajectory point</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Dừng khi cách goal ≤ 0.2 m hoặc bước tiếp làm xa goal hơn</a:t>
            </a:r>
            <a:endParaRPr sz="1150" b="0" i="0" u="none" strike="noStrike" cap="none">
              <a:solidFill>
                <a:schemeClr val="dk1"/>
              </a:solidFill>
              <a:latin typeface="Calibri"/>
              <a:ea typeface="Calibri"/>
              <a:cs typeface="Calibri"/>
              <a:sym typeface="Calibri"/>
            </a:endParaRPr>
          </a:p>
        </p:txBody>
      </p:sp>
      <p:sp>
        <p:nvSpPr>
          <p:cNvPr id="784" name="Google Shape;784;p26"/>
          <p:cNvSpPr/>
          <p:nvPr/>
        </p:nvSpPr>
        <p:spPr>
          <a:xfrm>
            <a:off x="548640" y="3840480"/>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300"/>
              <a:buFont typeface="Arial"/>
              <a:buNone/>
            </a:pPr>
            <a:r>
              <a:rPr lang="en-US" sz="1300" b="1" i="0" u="none" strike="noStrike" cap="none">
                <a:solidFill>
                  <a:srgbClr val="1B2B31"/>
                </a:solidFill>
                <a:latin typeface="Arial"/>
                <a:ea typeface="Arial"/>
                <a:cs typeface="Arial"/>
                <a:sym typeface="Arial"/>
              </a:rPr>
              <a:t>Action vocabulary</a:t>
            </a:r>
            <a:endParaRPr sz="1300" b="0" i="0" u="none" strike="noStrike" cap="none">
              <a:solidFill>
                <a:schemeClr val="dk1"/>
              </a:solidFill>
              <a:latin typeface="Calibri"/>
              <a:ea typeface="Calibri"/>
              <a:cs typeface="Calibri"/>
              <a:sym typeface="Calibri"/>
            </a:endParaRPr>
          </a:p>
        </p:txBody>
      </p:sp>
      <p:sp>
        <p:nvSpPr>
          <p:cNvPr id="785" name="Google Shape;785;p26"/>
          <p:cNvSpPr/>
          <p:nvPr/>
        </p:nvSpPr>
        <p:spPr>
          <a:xfrm>
            <a:off x="548640" y="4206240"/>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6"/>
          <p:cNvSpPr/>
          <p:nvPr/>
        </p:nvSpPr>
        <p:spPr>
          <a:xfrm>
            <a:off x="658368" y="4315968"/>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6"/>
          <p:cNvSpPr/>
          <p:nvPr/>
        </p:nvSpPr>
        <p:spPr>
          <a:xfrm>
            <a:off x="658368" y="4315968"/>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0</a:t>
            </a:r>
            <a:endParaRPr sz="1050" b="0" i="0" u="none" strike="noStrike" cap="none">
              <a:solidFill>
                <a:schemeClr val="dk1"/>
              </a:solidFill>
              <a:latin typeface="Calibri"/>
              <a:ea typeface="Calibri"/>
              <a:cs typeface="Calibri"/>
              <a:sym typeface="Calibri"/>
            </a:endParaRPr>
          </a:p>
        </p:txBody>
      </p:sp>
      <p:sp>
        <p:nvSpPr>
          <p:cNvPr id="788" name="Google Shape;788;p26"/>
          <p:cNvSpPr/>
          <p:nvPr/>
        </p:nvSpPr>
        <p:spPr>
          <a:xfrm>
            <a:off x="1097280" y="4206240"/>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STOP</a:t>
            </a:r>
            <a:endParaRPr sz="1050" b="0" i="0" u="none" strike="noStrike" cap="none">
              <a:solidFill>
                <a:schemeClr val="dk1"/>
              </a:solidFill>
              <a:latin typeface="Calibri"/>
              <a:ea typeface="Calibri"/>
              <a:cs typeface="Calibri"/>
              <a:sym typeface="Calibri"/>
            </a:endParaRPr>
          </a:p>
        </p:txBody>
      </p:sp>
      <p:sp>
        <p:nvSpPr>
          <p:cNvPr id="789" name="Google Shape;789;p26"/>
          <p:cNvSpPr/>
          <p:nvPr/>
        </p:nvSpPr>
        <p:spPr>
          <a:xfrm>
            <a:off x="2926080" y="4206240"/>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6"/>
          <p:cNvSpPr/>
          <p:nvPr/>
        </p:nvSpPr>
        <p:spPr>
          <a:xfrm>
            <a:off x="3035808" y="4315968"/>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6"/>
          <p:cNvSpPr/>
          <p:nvPr/>
        </p:nvSpPr>
        <p:spPr>
          <a:xfrm>
            <a:off x="3035808" y="4315968"/>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1</a:t>
            </a:r>
            <a:endParaRPr sz="1050" b="0" i="0" u="none" strike="noStrike" cap="none">
              <a:solidFill>
                <a:schemeClr val="dk1"/>
              </a:solidFill>
              <a:latin typeface="Calibri"/>
              <a:ea typeface="Calibri"/>
              <a:cs typeface="Calibri"/>
              <a:sym typeface="Calibri"/>
            </a:endParaRPr>
          </a:p>
        </p:txBody>
      </p:sp>
      <p:sp>
        <p:nvSpPr>
          <p:cNvPr id="792" name="Google Shape;792;p26"/>
          <p:cNvSpPr/>
          <p:nvPr/>
        </p:nvSpPr>
        <p:spPr>
          <a:xfrm>
            <a:off x="3474720" y="4206240"/>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Move forward 0.25 m</a:t>
            </a:r>
            <a:endParaRPr sz="1050" b="0" i="0" u="none" strike="noStrike" cap="none">
              <a:solidFill>
                <a:schemeClr val="dk1"/>
              </a:solidFill>
              <a:latin typeface="Calibri"/>
              <a:ea typeface="Calibri"/>
              <a:cs typeface="Calibri"/>
              <a:sym typeface="Calibri"/>
            </a:endParaRPr>
          </a:p>
        </p:txBody>
      </p:sp>
      <p:sp>
        <p:nvSpPr>
          <p:cNvPr id="793" name="Google Shape;793;p26"/>
          <p:cNvSpPr/>
          <p:nvPr/>
        </p:nvSpPr>
        <p:spPr>
          <a:xfrm>
            <a:off x="5303520" y="4206240"/>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6"/>
          <p:cNvSpPr/>
          <p:nvPr/>
        </p:nvSpPr>
        <p:spPr>
          <a:xfrm>
            <a:off x="5413248" y="4315968"/>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6"/>
          <p:cNvSpPr/>
          <p:nvPr/>
        </p:nvSpPr>
        <p:spPr>
          <a:xfrm>
            <a:off x="5413248" y="4315968"/>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2</a:t>
            </a:r>
            <a:endParaRPr sz="1050" b="0" i="0" u="none" strike="noStrike" cap="none">
              <a:solidFill>
                <a:schemeClr val="dk1"/>
              </a:solidFill>
              <a:latin typeface="Calibri"/>
              <a:ea typeface="Calibri"/>
              <a:cs typeface="Calibri"/>
              <a:sym typeface="Calibri"/>
            </a:endParaRPr>
          </a:p>
        </p:txBody>
      </p:sp>
      <p:sp>
        <p:nvSpPr>
          <p:cNvPr id="796" name="Google Shape;796;p26"/>
          <p:cNvSpPr/>
          <p:nvPr/>
        </p:nvSpPr>
        <p:spPr>
          <a:xfrm>
            <a:off x="5852160" y="4206240"/>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Turn left 15°</a:t>
            </a:r>
            <a:endParaRPr sz="1050" b="0" i="0" u="none" strike="noStrike" cap="none">
              <a:solidFill>
                <a:schemeClr val="dk1"/>
              </a:solidFill>
              <a:latin typeface="Calibri"/>
              <a:ea typeface="Calibri"/>
              <a:cs typeface="Calibri"/>
              <a:sym typeface="Calibri"/>
            </a:endParaRPr>
          </a:p>
        </p:txBody>
      </p:sp>
      <p:sp>
        <p:nvSpPr>
          <p:cNvPr id="797" name="Google Shape;797;p26"/>
          <p:cNvSpPr/>
          <p:nvPr/>
        </p:nvSpPr>
        <p:spPr>
          <a:xfrm>
            <a:off x="548640" y="4864608"/>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6"/>
          <p:cNvSpPr/>
          <p:nvPr/>
        </p:nvSpPr>
        <p:spPr>
          <a:xfrm>
            <a:off x="658368" y="4974336"/>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6"/>
          <p:cNvSpPr/>
          <p:nvPr/>
        </p:nvSpPr>
        <p:spPr>
          <a:xfrm>
            <a:off x="658368" y="4974336"/>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3</a:t>
            </a:r>
            <a:endParaRPr sz="1050" b="0" i="0" u="none" strike="noStrike" cap="none">
              <a:solidFill>
                <a:schemeClr val="dk1"/>
              </a:solidFill>
              <a:latin typeface="Calibri"/>
              <a:ea typeface="Calibri"/>
              <a:cs typeface="Calibri"/>
              <a:sym typeface="Calibri"/>
            </a:endParaRPr>
          </a:p>
        </p:txBody>
      </p:sp>
      <p:sp>
        <p:nvSpPr>
          <p:cNvPr id="800" name="Google Shape;800;p26"/>
          <p:cNvSpPr/>
          <p:nvPr/>
        </p:nvSpPr>
        <p:spPr>
          <a:xfrm>
            <a:off x="1097280" y="4864608"/>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Turn right 15°</a:t>
            </a:r>
            <a:endParaRPr sz="1050" b="0" i="0" u="none" strike="noStrike" cap="none">
              <a:solidFill>
                <a:schemeClr val="dk1"/>
              </a:solidFill>
              <a:latin typeface="Calibri"/>
              <a:ea typeface="Calibri"/>
              <a:cs typeface="Calibri"/>
              <a:sym typeface="Calibri"/>
            </a:endParaRPr>
          </a:p>
        </p:txBody>
      </p:sp>
      <p:sp>
        <p:nvSpPr>
          <p:cNvPr id="801" name="Google Shape;801;p26"/>
          <p:cNvSpPr/>
          <p:nvPr/>
        </p:nvSpPr>
        <p:spPr>
          <a:xfrm>
            <a:off x="2926080" y="4864608"/>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6"/>
          <p:cNvSpPr/>
          <p:nvPr/>
        </p:nvSpPr>
        <p:spPr>
          <a:xfrm>
            <a:off x="3035808" y="4974336"/>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6"/>
          <p:cNvSpPr/>
          <p:nvPr/>
        </p:nvSpPr>
        <p:spPr>
          <a:xfrm>
            <a:off x="3035808" y="4974336"/>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5</a:t>
            </a:r>
            <a:endParaRPr sz="1050" b="0" i="0" u="none" strike="noStrike" cap="none">
              <a:solidFill>
                <a:schemeClr val="dk1"/>
              </a:solidFill>
              <a:latin typeface="Calibri"/>
              <a:ea typeface="Calibri"/>
              <a:cs typeface="Calibri"/>
              <a:sym typeface="Calibri"/>
            </a:endParaRPr>
          </a:p>
        </p:txBody>
      </p:sp>
      <p:sp>
        <p:nvSpPr>
          <p:cNvPr id="804" name="Google Shape;804;p26"/>
          <p:cNvSpPr/>
          <p:nvPr/>
        </p:nvSpPr>
        <p:spPr>
          <a:xfrm>
            <a:off x="3474720" y="4864608"/>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Look down 30°</a:t>
            </a:r>
            <a:endParaRPr sz="1050" b="0" i="0" u="none" strike="noStrike" cap="none">
              <a:solidFill>
                <a:schemeClr val="dk1"/>
              </a:solidFill>
              <a:latin typeface="Calibri"/>
              <a:ea typeface="Calibri"/>
              <a:cs typeface="Calibri"/>
              <a:sym typeface="Calibri"/>
            </a:endParaRPr>
          </a:p>
        </p:txBody>
      </p:sp>
      <p:sp>
        <p:nvSpPr>
          <p:cNvPr id="805" name="Google Shape;805;p26"/>
          <p:cNvSpPr/>
          <p:nvPr/>
        </p:nvSpPr>
        <p:spPr>
          <a:xfrm>
            <a:off x="5303520" y="4864608"/>
            <a:ext cx="2212848" cy="548640"/>
          </a:xfrm>
          <a:prstGeom prst="roundRect">
            <a:avLst>
              <a:gd name="adj" fmla="val 10000"/>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6"/>
          <p:cNvSpPr/>
          <p:nvPr/>
        </p:nvSpPr>
        <p:spPr>
          <a:xfrm>
            <a:off x="5413248" y="4974336"/>
            <a:ext cx="347472" cy="329184"/>
          </a:xfrm>
          <a:prstGeom prst="roundRect">
            <a:avLst>
              <a:gd name="adj" fmla="val 11111"/>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6"/>
          <p:cNvSpPr/>
          <p:nvPr/>
        </p:nvSpPr>
        <p:spPr>
          <a:xfrm>
            <a:off x="5413248" y="4974336"/>
            <a:ext cx="347472"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i="0" u="none" strike="noStrike" cap="none">
                <a:solidFill>
                  <a:srgbClr val="FFFFFF"/>
                </a:solidFill>
                <a:latin typeface="Courier New"/>
                <a:ea typeface="Courier New"/>
                <a:cs typeface="Courier New"/>
                <a:sym typeface="Courier New"/>
              </a:rPr>
              <a:t>−1</a:t>
            </a:r>
            <a:endParaRPr sz="1050" b="0" i="0" u="none" strike="noStrike" cap="none">
              <a:solidFill>
                <a:schemeClr val="dk1"/>
              </a:solidFill>
              <a:latin typeface="Calibri"/>
              <a:ea typeface="Calibri"/>
              <a:cs typeface="Calibri"/>
              <a:sym typeface="Calibri"/>
            </a:endParaRPr>
          </a:p>
        </p:txBody>
      </p:sp>
      <p:sp>
        <p:nvSpPr>
          <p:cNvPr id="808" name="Google Shape;808;p26"/>
          <p:cNvSpPr/>
          <p:nvPr/>
        </p:nvSpPr>
        <p:spPr>
          <a:xfrm>
            <a:off x="5852160" y="4864608"/>
            <a:ext cx="1600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No-op / wait sentinel</a:t>
            </a:r>
            <a:endParaRPr sz="1050" b="0" i="0" u="none" strike="noStrike" cap="none">
              <a:solidFill>
                <a:schemeClr val="dk1"/>
              </a:solidFill>
              <a:latin typeface="Calibri"/>
              <a:ea typeface="Calibri"/>
              <a:cs typeface="Calibri"/>
              <a:sym typeface="Calibri"/>
            </a:endParaRPr>
          </a:p>
        </p:txBody>
      </p:sp>
      <p:sp>
        <p:nvSpPr>
          <p:cNvPr id="809" name="Google Shape;809;p26"/>
          <p:cNvSpPr/>
          <p:nvPr/>
        </p:nvSpPr>
        <p:spPr>
          <a:xfrm>
            <a:off x="7680960" y="4160520"/>
            <a:ext cx="3959352" cy="1874520"/>
          </a:xfrm>
          <a:prstGeom prst="roundRect">
            <a:avLst>
              <a:gd name="adj" fmla="val 292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6"/>
          <p:cNvSpPr/>
          <p:nvPr/>
        </p:nvSpPr>
        <p:spPr>
          <a:xfrm>
            <a:off x="7909560" y="4343400"/>
            <a:ext cx="3474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Cache action</a:t>
            </a:r>
            <a:endParaRPr sz="1250" b="0" i="0" u="none" strike="noStrike" cap="none">
              <a:solidFill>
                <a:schemeClr val="dk1"/>
              </a:solidFill>
              <a:latin typeface="Calibri"/>
              <a:ea typeface="Calibri"/>
              <a:cs typeface="Calibri"/>
              <a:sym typeface="Calibri"/>
            </a:endParaRPr>
          </a:p>
        </p:txBody>
      </p:sp>
      <p:sp>
        <p:nvSpPr>
          <p:cNvPr id="811" name="Google Shape;811;p26"/>
          <p:cNvSpPr/>
          <p:nvPr/>
        </p:nvSpPr>
        <p:spPr>
          <a:xfrm>
            <a:off x="7909560" y="4663440"/>
            <a:ext cx="3520440" cy="1188720"/>
          </a:xfrm>
          <a:prstGeom prst="rect">
            <a:avLst/>
          </a:prstGeom>
          <a:noFill/>
          <a:ln>
            <a:noFill/>
          </a:ln>
        </p:spPr>
        <p:txBody>
          <a:bodyPr spcFirstLastPara="1" wrap="square" lIns="0" tIns="0" rIns="0" bIns="0" anchor="ctr" anchorCtr="0">
            <a:noAutofit/>
          </a:bodyPr>
          <a:lstStyle/>
          <a:p>
            <a:pPr marL="0" marR="0" lvl="0" indent="0" algn="l" rtl="0">
              <a:lnSpc>
                <a:spcPct val="136363"/>
              </a:lnSpc>
              <a:spcBef>
                <a:spcPts val="0"/>
              </a:spcBef>
              <a:spcAft>
                <a:spcPts val="0"/>
              </a:spcAft>
              <a:buClr>
                <a:srgbClr val="C7DADC"/>
              </a:buClr>
              <a:buSzPts val="1100"/>
              <a:buFont typeface="Arial"/>
              <a:buNone/>
            </a:pPr>
            <a:r>
              <a:rPr lang="en-US" sz="1100" b="0" i="0" u="none" strike="noStrike" cap="none">
                <a:solidFill>
                  <a:srgbClr val="C7DADC"/>
                </a:solidFill>
                <a:latin typeface="Arial"/>
                <a:ea typeface="Arial"/>
                <a:cs typeface="Arial"/>
                <a:sym typeface="Arial"/>
              </a:rPr>
              <a:t>s1_step_latent() loại action 0 và chỉ giữ tối đa 4 action đầu. Agent trả action đầu ngay, cache phần còn lại vào s2_output.output_action để phát ở các environment step kế tiếp.</a:t>
            </a:r>
            <a:endParaRPr sz="1100" b="0" i="0" u="none" strike="noStrike" cap="none">
              <a:solidFill>
                <a:schemeClr val="dk1"/>
              </a:solidFill>
              <a:latin typeface="Calibri"/>
              <a:ea typeface="Calibri"/>
              <a:cs typeface="Calibri"/>
              <a:sym typeface="Calibri"/>
            </a:endParaRPr>
          </a:p>
        </p:txBody>
      </p:sp>
      <p:sp>
        <p:nvSpPr>
          <p:cNvPr id="812" name="Google Shape;812;p26"/>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Helper real-world có công thức clip vận tốc, nhưng luồng notebook hiện tại trả quỹ đạo liên tục — không nên nói NavDP luôn trả thẳng motor command [v, w].</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27"/>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ĐIỀU PHỐI</a:t>
            </a:r>
            <a:endParaRPr sz="1050" b="0" i="0" u="none" strike="noStrike" cap="none">
              <a:solidFill>
                <a:schemeClr val="dk1"/>
              </a:solidFill>
              <a:latin typeface="Calibri"/>
              <a:ea typeface="Calibri"/>
              <a:cs typeface="Calibri"/>
              <a:sym typeface="Calibri"/>
            </a:endParaRPr>
          </a:p>
        </p:txBody>
      </p:sp>
      <p:sp>
        <p:nvSpPr>
          <p:cNvPr id="819" name="Google Shape;819;p27"/>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S2 chậm, S1 nhanh — và vì sao reset() là bắt buộc</a:t>
            </a:r>
            <a:endParaRPr sz="2500" b="0" i="0" u="none" strike="noStrike" cap="none">
              <a:solidFill>
                <a:schemeClr val="dk1"/>
              </a:solidFill>
              <a:latin typeface="Calibri"/>
              <a:ea typeface="Calibri"/>
              <a:cs typeface="Calibri"/>
              <a:sym typeface="Calibri"/>
            </a:endParaRPr>
          </a:p>
        </p:txBody>
      </p:sp>
      <p:sp>
        <p:nvSpPr>
          <p:cNvPr id="820" name="Google Shape;820;p27"/>
          <p:cNvSpPr/>
          <p:nvPr/>
        </p:nvSpPr>
        <p:spPr>
          <a:xfrm>
            <a:off x="548640" y="1572768"/>
            <a:ext cx="8229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2</a:t>
            </a:r>
            <a:endParaRPr sz="1050" b="0" i="0" u="none" strike="noStrike" cap="none">
              <a:solidFill>
                <a:schemeClr val="dk1"/>
              </a:solidFill>
              <a:latin typeface="Calibri"/>
              <a:ea typeface="Calibri"/>
              <a:cs typeface="Calibri"/>
              <a:sym typeface="Calibri"/>
            </a:endParaRPr>
          </a:p>
        </p:txBody>
      </p:sp>
      <p:sp>
        <p:nvSpPr>
          <p:cNvPr id="821" name="Google Shape;821;p27"/>
          <p:cNvSpPr/>
          <p:nvPr/>
        </p:nvSpPr>
        <p:spPr>
          <a:xfrm>
            <a:off x="548640" y="2395728"/>
            <a:ext cx="82296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050"/>
              <a:buFont typeface="Arial"/>
              <a:buNone/>
            </a:pPr>
            <a:r>
              <a:rPr lang="en-US" sz="1050" b="1" i="0" u="none" strike="noStrike" cap="none">
                <a:solidFill>
                  <a:srgbClr val="D98324"/>
                </a:solidFill>
                <a:latin typeface="Arial"/>
                <a:ea typeface="Arial"/>
                <a:cs typeface="Arial"/>
                <a:sym typeface="Arial"/>
              </a:rPr>
              <a:t>System 1</a:t>
            </a:r>
            <a:endParaRPr sz="1050" b="0" i="0" u="none" strike="noStrike" cap="none">
              <a:solidFill>
                <a:schemeClr val="dk1"/>
              </a:solidFill>
              <a:latin typeface="Calibri"/>
              <a:ea typeface="Calibri"/>
              <a:cs typeface="Calibri"/>
              <a:sym typeface="Calibri"/>
            </a:endParaRPr>
          </a:p>
        </p:txBody>
      </p:sp>
      <p:cxnSp>
        <p:nvCxnSpPr>
          <p:cNvPr id="822" name="Google Shape;822;p27"/>
          <p:cNvCxnSpPr/>
          <p:nvPr/>
        </p:nvCxnSpPr>
        <p:spPr>
          <a:xfrm>
            <a:off x="1463040" y="2999232"/>
            <a:ext cx="5989320" cy="0"/>
          </a:xfrm>
          <a:prstGeom prst="straightConnector1">
            <a:avLst/>
          </a:prstGeom>
          <a:noFill/>
          <a:ln w="12700" cap="flat" cmpd="sng">
            <a:solidFill>
              <a:srgbClr val="CFDEDF"/>
            </a:solidFill>
            <a:prstDash val="solid"/>
            <a:round/>
            <a:headEnd type="none" w="sm" len="sm"/>
            <a:tailEnd type="none" w="sm" len="sm"/>
          </a:ln>
        </p:spPr>
      </p:cxnSp>
      <p:sp>
        <p:nvSpPr>
          <p:cNvPr id="823" name="Google Shape;823;p27"/>
          <p:cNvSpPr/>
          <p:nvPr/>
        </p:nvSpPr>
        <p:spPr>
          <a:xfrm>
            <a:off x="1463040" y="3044952"/>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00"/>
              <a:buFont typeface="Arial"/>
              <a:buNone/>
            </a:pPr>
            <a:r>
              <a:rPr lang="en-US" sz="900" b="0" i="1" u="none" strike="noStrike" cap="none">
                <a:solidFill>
                  <a:srgbClr val="5C6E73"/>
                </a:solidFill>
                <a:latin typeface="Arial"/>
                <a:ea typeface="Arial"/>
                <a:cs typeface="Arial"/>
                <a:sym typeface="Arial"/>
              </a:rPr>
              <a:t>environment steps →</a:t>
            </a:r>
            <a:endParaRPr sz="900" b="0" i="0" u="none" strike="noStrike" cap="none">
              <a:solidFill>
                <a:schemeClr val="dk1"/>
              </a:solidFill>
              <a:latin typeface="Calibri"/>
              <a:ea typeface="Calibri"/>
              <a:cs typeface="Calibri"/>
              <a:sym typeface="Calibri"/>
            </a:endParaRPr>
          </a:p>
        </p:txBody>
      </p:sp>
      <p:sp>
        <p:nvSpPr>
          <p:cNvPr id="824" name="Google Shape;824;p27"/>
          <p:cNvSpPr/>
          <p:nvPr/>
        </p:nvSpPr>
        <p:spPr>
          <a:xfrm>
            <a:off x="1463040" y="1572768"/>
            <a:ext cx="1371600" cy="365760"/>
          </a:xfrm>
          <a:prstGeom prst="roundRect">
            <a:avLst>
              <a:gd name="adj" fmla="val 10000"/>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7"/>
          <p:cNvSpPr/>
          <p:nvPr/>
        </p:nvSpPr>
        <p:spPr>
          <a:xfrm>
            <a:off x="1463040" y="1572768"/>
            <a:ext cx="13716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Arial"/>
              <a:buNone/>
            </a:pPr>
            <a:r>
              <a:rPr lang="en-US" sz="1000" b="1" i="0" u="none" strike="noStrike" cap="none">
                <a:solidFill>
                  <a:srgbClr val="FFFFFF"/>
                </a:solidFill>
                <a:latin typeface="Arial"/>
                <a:ea typeface="Arial"/>
                <a:cs typeface="Arial"/>
                <a:sym typeface="Arial"/>
              </a:rPr>
              <a:t>S2 infer</a:t>
            </a:r>
            <a:endParaRPr sz="1000" b="0" i="0" u="none" strike="noStrike" cap="none">
              <a:solidFill>
                <a:schemeClr val="dk1"/>
              </a:solidFill>
              <a:latin typeface="Calibri"/>
              <a:ea typeface="Calibri"/>
              <a:cs typeface="Calibri"/>
              <a:sym typeface="Calibri"/>
            </a:endParaRPr>
          </a:p>
        </p:txBody>
      </p:sp>
      <p:sp>
        <p:nvSpPr>
          <p:cNvPr id="826" name="Google Shape;826;p27"/>
          <p:cNvSpPr/>
          <p:nvPr/>
        </p:nvSpPr>
        <p:spPr>
          <a:xfrm>
            <a:off x="4663440" y="1572768"/>
            <a:ext cx="1371600" cy="365760"/>
          </a:xfrm>
          <a:prstGeom prst="roundRect">
            <a:avLst>
              <a:gd name="adj" fmla="val 10000"/>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7"/>
          <p:cNvSpPr/>
          <p:nvPr/>
        </p:nvSpPr>
        <p:spPr>
          <a:xfrm>
            <a:off x="4663440" y="1572768"/>
            <a:ext cx="13716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Arial"/>
              <a:buNone/>
            </a:pPr>
            <a:r>
              <a:rPr lang="en-US" sz="1000" b="1" i="0" u="none" strike="noStrike" cap="none">
                <a:solidFill>
                  <a:srgbClr val="FFFFFF"/>
                </a:solidFill>
                <a:latin typeface="Arial"/>
                <a:ea typeface="Arial"/>
                <a:cs typeface="Arial"/>
                <a:sym typeface="Arial"/>
              </a:rPr>
              <a:t>S2 infer</a:t>
            </a:r>
            <a:endParaRPr sz="1000" b="0" i="0" u="none" strike="noStrike" cap="none">
              <a:solidFill>
                <a:schemeClr val="dk1"/>
              </a:solidFill>
              <a:latin typeface="Calibri"/>
              <a:ea typeface="Calibri"/>
              <a:cs typeface="Calibri"/>
              <a:sym typeface="Calibri"/>
            </a:endParaRPr>
          </a:p>
        </p:txBody>
      </p:sp>
      <p:sp>
        <p:nvSpPr>
          <p:cNvPr id="828" name="Google Shape;828;p27"/>
          <p:cNvSpPr/>
          <p:nvPr/>
        </p:nvSpPr>
        <p:spPr>
          <a:xfrm>
            <a:off x="1463040"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7"/>
          <p:cNvSpPr/>
          <p:nvPr/>
        </p:nvSpPr>
        <p:spPr>
          <a:xfrm>
            <a:off x="1463040"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30" name="Google Shape;830;p27"/>
          <p:cNvSpPr/>
          <p:nvPr/>
        </p:nvSpPr>
        <p:spPr>
          <a:xfrm>
            <a:off x="2212848"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7"/>
          <p:cNvSpPr/>
          <p:nvPr/>
        </p:nvSpPr>
        <p:spPr>
          <a:xfrm>
            <a:off x="2212848"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32" name="Google Shape;832;p27"/>
          <p:cNvSpPr/>
          <p:nvPr/>
        </p:nvSpPr>
        <p:spPr>
          <a:xfrm>
            <a:off x="2962656"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7"/>
          <p:cNvSpPr/>
          <p:nvPr/>
        </p:nvSpPr>
        <p:spPr>
          <a:xfrm>
            <a:off x="2962656"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34" name="Google Shape;834;p27"/>
          <p:cNvSpPr/>
          <p:nvPr/>
        </p:nvSpPr>
        <p:spPr>
          <a:xfrm>
            <a:off x="3712464"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7"/>
          <p:cNvSpPr/>
          <p:nvPr/>
        </p:nvSpPr>
        <p:spPr>
          <a:xfrm>
            <a:off x="3712464"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36" name="Google Shape;836;p27"/>
          <p:cNvSpPr/>
          <p:nvPr/>
        </p:nvSpPr>
        <p:spPr>
          <a:xfrm>
            <a:off x="4462272"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7"/>
          <p:cNvSpPr/>
          <p:nvPr/>
        </p:nvSpPr>
        <p:spPr>
          <a:xfrm>
            <a:off x="4462272"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38" name="Google Shape;838;p27"/>
          <p:cNvSpPr/>
          <p:nvPr/>
        </p:nvSpPr>
        <p:spPr>
          <a:xfrm>
            <a:off x="5212080"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7"/>
          <p:cNvSpPr/>
          <p:nvPr/>
        </p:nvSpPr>
        <p:spPr>
          <a:xfrm>
            <a:off x="5212080"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40" name="Google Shape;840;p27"/>
          <p:cNvSpPr/>
          <p:nvPr/>
        </p:nvSpPr>
        <p:spPr>
          <a:xfrm>
            <a:off x="5961888"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7"/>
          <p:cNvSpPr/>
          <p:nvPr/>
        </p:nvSpPr>
        <p:spPr>
          <a:xfrm>
            <a:off x="5961888"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sp>
        <p:nvSpPr>
          <p:cNvPr id="842" name="Google Shape;842;p27"/>
          <p:cNvSpPr/>
          <p:nvPr/>
        </p:nvSpPr>
        <p:spPr>
          <a:xfrm>
            <a:off x="6711696" y="2395728"/>
            <a:ext cx="621792" cy="365760"/>
          </a:xfrm>
          <a:prstGeom prst="roundRect">
            <a:avLst>
              <a:gd name="adj" fmla="val 10000"/>
            </a:avLst>
          </a:prstGeom>
          <a:solidFill>
            <a:srgbClr val="FBF1E5"/>
          </a:solidFill>
          <a:ln w="11425"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7"/>
          <p:cNvSpPr/>
          <p:nvPr/>
        </p:nvSpPr>
        <p:spPr>
          <a:xfrm>
            <a:off x="6711696" y="2395728"/>
            <a:ext cx="621792"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98324"/>
              </a:buClr>
              <a:buSzPts val="950"/>
              <a:buFont typeface="Arial"/>
              <a:buNone/>
            </a:pPr>
            <a:r>
              <a:rPr lang="en-US" sz="950" b="1" i="0" u="none" strike="noStrike" cap="none">
                <a:solidFill>
                  <a:srgbClr val="D98324"/>
                </a:solidFill>
                <a:latin typeface="Arial"/>
                <a:ea typeface="Arial"/>
                <a:cs typeface="Arial"/>
                <a:sym typeface="Arial"/>
              </a:rPr>
              <a:t>S1</a:t>
            </a:r>
            <a:endParaRPr sz="950" b="0" i="0" u="none" strike="noStrike" cap="none">
              <a:solidFill>
                <a:schemeClr val="dk1"/>
              </a:solidFill>
              <a:latin typeface="Calibri"/>
              <a:ea typeface="Calibri"/>
              <a:cs typeface="Calibri"/>
              <a:sym typeface="Calibri"/>
            </a:endParaRPr>
          </a:p>
        </p:txBody>
      </p:sp>
      <p:cxnSp>
        <p:nvCxnSpPr>
          <p:cNvPr id="844" name="Google Shape;844;p27"/>
          <p:cNvCxnSpPr/>
          <p:nvPr/>
        </p:nvCxnSpPr>
        <p:spPr>
          <a:xfrm>
            <a:off x="1572768" y="1938528"/>
            <a:ext cx="0" cy="457200"/>
          </a:xfrm>
          <a:prstGeom prst="straightConnector1">
            <a:avLst/>
          </a:prstGeom>
          <a:noFill/>
          <a:ln w="12700" cap="flat" cmpd="sng">
            <a:solidFill>
              <a:srgbClr val="028090"/>
            </a:solidFill>
            <a:prstDash val="solid"/>
            <a:round/>
            <a:headEnd type="none" w="sm" len="sm"/>
            <a:tailEnd type="triangle" w="med" len="med"/>
          </a:ln>
        </p:spPr>
      </p:cxnSp>
      <p:cxnSp>
        <p:nvCxnSpPr>
          <p:cNvPr id="845" name="Google Shape;845;p27"/>
          <p:cNvCxnSpPr/>
          <p:nvPr/>
        </p:nvCxnSpPr>
        <p:spPr>
          <a:xfrm>
            <a:off x="4773168" y="1938528"/>
            <a:ext cx="0" cy="457200"/>
          </a:xfrm>
          <a:prstGeom prst="straightConnector1">
            <a:avLst/>
          </a:prstGeom>
          <a:noFill/>
          <a:ln w="12700" cap="flat" cmpd="sng">
            <a:solidFill>
              <a:srgbClr val="028090"/>
            </a:solidFill>
            <a:prstDash val="solid"/>
            <a:round/>
            <a:headEnd type="none" w="sm" len="sm"/>
            <a:tailEnd type="triangle" w="med" len="med"/>
          </a:ln>
        </p:spPr>
      </p:cxnSp>
      <p:sp>
        <p:nvSpPr>
          <p:cNvPr id="846" name="Google Shape;846;p27"/>
          <p:cNvSpPr/>
          <p:nvPr/>
        </p:nvSpPr>
        <p:spPr>
          <a:xfrm>
            <a:off x="1828800" y="1993392"/>
            <a:ext cx="2834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900"/>
              <a:buFont typeface="Arial"/>
              <a:buNone/>
            </a:pPr>
            <a:r>
              <a:rPr lang="en-US" sz="900" b="0" i="1" u="none" strike="noStrike" cap="none">
                <a:solidFill>
                  <a:srgbClr val="028090"/>
                </a:solidFill>
                <a:latin typeface="Arial"/>
                <a:ea typeface="Arial"/>
                <a:cs typeface="Arial"/>
                <a:sym typeface="Arial"/>
              </a:rPr>
              <a:t>một latent plan phục vụ nhiều vòng S1</a:t>
            </a:r>
            <a:endParaRPr sz="900" b="0" i="0" u="none" strike="noStrike" cap="none">
              <a:solidFill>
                <a:schemeClr val="dk1"/>
              </a:solidFill>
              <a:latin typeface="Calibri"/>
              <a:ea typeface="Calibri"/>
              <a:cs typeface="Calibri"/>
              <a:sym typeface="Calibri"/>
            </a:endParaRPr>
          </a:p>
        </p:txBody>
      </p:sp>
      <p:sp>
        <p:nvSpPr>
          <p:cNvPr id="847" name="Google Shape;847;p27"/>
          <p:cNvSpPr/>
          <p:nvPr/>
        </p:nvSpPr>
        <p:spPr>
          <a:xfrm>
            <a:off x="548640" y="3429000"/>
            <a:ext cx="3520440" cy="1965960"/>
          </a:xfrm>
          <a:prstGeom prst="roundRect">
            <a:avLst>
              <a:gd name="adj" fmla="val 27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7"/>
          <p:cNvSpPr/>
          <p:nvPr/>
        </p:nvSpPr>
        <p:spPr>
          <a:xfrm>
            <a:off x="777240" y="3584448"/>
            <a:ext cx="3017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Evaluator agent</a:t>
            </a:r>
            <a:endParaRPr sz="1250" b="0" i="0" u="none" strike="noStrike" cap="none">
              <a:solidFill>
                <a:schemeClr val="dk1"/>
              </a:solidFill>
              <a:latin typeface="Calibri"/>
              <a:ea typeface="Calibri"/>
              <a:cs typeface="Calibri"/>
              <a:sym typeface="Calibri"/>
            </a:endParaRPr>
          </a:p>
        </p:txBody>
      </p:sp>
      <p:sp>
        <p:nvSpPr>
          <p:cNvPr id="849" name="Google Shape;849;p27"/>
          <p:cNvSpPr/>
          <p:nvPr/>
        </p:nvSpPr>
        <p:spPr>
          <a:xfrm>
            <a:off x="777240" y="3858768"/>
            <a:ext cx="30175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1050"/>
              <a:buFont typeface="Arial"/>
              <a:buNone/>
            </a:pPr>
            <a:r>
              <a:rPr lang="en-US" sz="1050" b="0" i="0" u="none" strike="noStrike" cap="none">
                <a:solidFill>
                  <a:srgbClr val="5C6E73"/>
                </a:solidFill>
                <a:latin typeface="Arial"/>
                <a:ea typeface="Arial"/>
                <a:cs typeface="Arial"/>
                <a:sym typeface="Arial"/>
              </a:rPr>
              <a:t>S2 chạy lại khi:</a:t>
            </a:r>
            <a:endParaRPr sz="1050" b="0" i="0" u="none" strike="noStrike" cap="none">
              <a:solidFill>
                <a:schemeClr val="dk1"/>
              </a:solidFill>
              <a:latin typeface="Calibri"/>
              <a:ea typeface="Calibri"/>
              <a:cs typeface="Calibri"/>
              <a:sym typeface="Calibri"/>
            </a:endParaRPr>
          </a:p>
        </p:txBody>
      </p:sp>
      <p:sp>
        <p:nvSpPr>
          <p:cNvPr id="850" name="Google Shape;850;p27"/>
          <p:cNvSpPr/>
          <p:nvPr/>
        </p:nvSpPr>
        <p:spPr>
          <a:xfrm>
            <a:off x="777240" y="4096512"/>
            <a:ext cx="3108960" cy="1188720"/>
          </a:xfrm>
          <a:prstGeom prst="rect">
            <a:avLst/>
          </a:prstGeom>
          <a:noFill/>
          <a:ln>
            <a:noFill/>
          </a:ln>
        </p:spPr>
        <p:txBody>
          <a:bodyPr spcFirstLastPara="1" wrap="square" lIns="0" tIns="0" rIns="0" bIns="0" anchor="ctr" anchorCtr="0">
            <a:noAutofit/>
          </a:bodyPr>
          <a:lstStyle/>
          <a:p>
            <a:pPr marL="342900" marR="0" lvl="0" indent="-342900" algn="l" rtl="0">
              <a:lnSpc>
                <a:spcPct val="170000"/>
              </a:lnSpc>
              <a:spcBef>
                <a:spcPts val="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step đầu episode</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hết action/pixel/latent hợp lệ</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dual_forward_step ≥ sys2_max_forward_step (mặc định 8)</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1B2B31"/>
              </a:buClr>
              <a:buSzPts val="1000"/>
              <a:buFont typeface="Arial"/>
              <a:buChar char="•"/>
            </a:pPr>
            <a:r>
              <a:rPr lang="en-US" sz="1000" b="0" i="0" u="none" strike="noStrike" cap="none">
                <a:solidFill>
                  <a:srgbClr val="1B2B31"/>
                </a:solidFill>
                <a:latin typeface="Arial"/>
                <a:ea typeface="Arial"/>
                <a:cs typeface="Arial"/>
                <a:sym typeface="Arial"/>
              </a:rPr>
              <a:t>cần look-down</a:t>
            </a:r>
            <a:endParaRPr sz="1000" b="0" i="0" u="none" strike="noStrike" cap="none">
              <a:solidFill>
                <a:schemeClr val="dk1"/>
              </a:solidFill>
              <a:latin typeface="Calibri"/>
              <a:ea typeface="Calibri"/>
              <a:cs typeface="Calibri"/>
              <a:sym typeface="Calibri"/>
            </a:endParaRPr>
          </a:p>
        </p:txBody>
      </p:sp>
      <p:sp>
        <p:nvSpPr>
          <p:cNvPr id="851" name="Google Shape;851;p27"/>
          <p:cNvSpPr/>
          <p:nvPr/>
        </p:nvSpPr>
        <p:spPr>
          <a:xfrm>
            <a:off x="4315968" y="3429000"/>
            <a:ext cx="3520440" cy="1965960"/>
          </a:xfrm>
          <a:prstGeom prst="roundRect">
            <a:avLst>
              <a:gd name="adj" fmla="val 27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7"/>
          <p:cNvSpPr/>
          <p:nvPr/>
        </p:nvSpPr>
        <p:spPr>
          <a:xfrm>
            <a:off x="4544568" y="3584448"/>
            <a:ext cx="3017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Notebook real-world</a:t>
            </a:r>
            <a:endParaRPr sz="1250" b="0" i="0" u="none" strike="noStrike" cap="none">
              <a:solidFill>
                <a:schemeClr val="dk1"/>
              </a:solidFill>
              <a:latin typeface="Calibri"/>
              <a:ea typeface="Calibri"/>
              <a:cs typeface="Calibri"/>
              <a:sym typeface="Calibri"/>
            </a:endParaRPr>
          </a:p>
        </p:txBody>
      </p:sp>
      <p:sp>
        <p:nvSpPr>
          <p:cNvPr id="853" name="Google Shape;853;p27"/>
          <p:cNvSpPr/>
          <p:nvPr/>
        </p:nvSpPr>
        <p:spPr>
          <a:xfrm>
            <a:off x="4544568" y="3886200"/>
            <a:ext cx="3063240" cy="137160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1B2B31"/>
              </a:buClr>
              <a:buSzPts val="1050"/>
              <a:buFont typeface="Arial"/>
              <a:buNone/>
            </a:pPr>
            <a:r>
              <a:rPr lang="en-US" sz="1050" b="0" i="0" u="none" strike="noStrike" cap="none">
                <a:solidFill>
                  <a:srgbClr val="1B2B31"/>
                </a:solidFill>
                <a:latin typeface="Arial"/>
                <a:ea typeface="Arial"/>
                <a:cs typeface="Arial"/>
                <a:sym typeface="Arial"/>
              </a:rPr>
              <a:t>Đơn giản hoá bằng plan_step_gap = 4: quá 4 frame kể từ lần S2 gần nhất (hoặc chưa có output) thì chạy S2; giữa các lần đó chỉ append frame qua step_no_infer() rồi chạy S1 với latent đang giữ.</a:t>
            </a:r>
            <a:endParaRPr sz="1050" b="0" i="0" u="none" strike="noStrike" cap="none">
              <a:solidFill>
                <a:schemeClr val="dk1"/>
              </a:solidFill>
              <a:latin typeface="Calibri"/>
              <a:ea typeface="Calibri"/>
              <a:cs typeface="Calibri"/>
              <a:sym typeface="Calibri"/>
            </a:endParaRPr>
          </a:p>
        </p:txBody>
      </p:sp>
      <p:sp>
        <p:nvSpPr>
          <p:cNvPr id="854" name="Google Shape;854;p27"/>
          <p:cNvSpPr/>
          <p:nvPr/>
        </p:nvSpPr>
        <p:spPr>
          <a:xfrm>
            <a:off x="8119872" y="1463040"/>
            <a:ext cx="3520440" cy="3931920"/>
          </a:xfrm>
          <a:prstGeom prst="roundRect">
            <a:avLst>
              <a:gd name="adj" fmla="val 1558"/>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7"/>
          <p:cNvSpPr/>
          <p:nvPr/>
        </p:nvSpPr>
        <p:spPr>
          <a:xfrm>
            <a:off x="8348472" y="1664208"/>
            <a:ext cx="30175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reset() xoá gì?</a:t>
            </a:r>
            <a:endParaRPr sz="1350" b="0" i="0" u="none" strike="noStrike" cap="none">
              <a:solidFill>
                <a:schemeClr val="dk1"/>
              </a:solidFill>
              <a:latin typeface="Calibri"/>
              <a:ea typeface="Calibri"/>
              <a:cs typeface="Calibri"/>
              <a:sym typeface="Calibri"/>
            </a:endParaRPr>
          </a:p>
        </p:txBody>
      </p:sp>
      <p:sp>
        <p:nvSpPr>
          <p:cNvPr id="856" name="Google Shape;856;p27"/>
          <p:cNvSpPr/>
          <p:nvPr/>
        </p:nvSpPr>
        <p:spPr>
          <a:xfrm>
            <a:off x="8348472" y="2011680"/>
            <a:ext cx="3108960" cy="173736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rgb_list, depth_list, pose_list</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conversation_history, llm_output</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pixel goal, latent plan, cached action</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S1/S2 input-output dataclass</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episode &amp; forward counters, look-down state</a:t>
            </a:r>
            <a:endParaRPr sz="1050" b="0" i="0" u="none" strike="noStrike" cap="none">
              <a:solidFill>
                <a:schemeClr val="dk1"/>
              </a:solidFill>
              <a:latin typeface="Calibri"/>
              <a:ea typeface="Calibri"/>
              <a:cs typeface="Calibri"/>
              <a:sym typeface="Calibri"/>
            </a:endParaRPr>
          </a:p>
        </p:txBody>
      </p:sp>
      <p:cxnSp>
        <p:nvCxnSpPr>
          <p:cNvPr id="857" name="Google Shape;857;p27"/>
          <p:cNvCxnSpPr/>
          <p:nvPr/>
        </p:nvCxnSpPr>
        <p:spPr>
          <a:xfrm>
            <a:off x="8348472" y="3840480"/>
            <a:ext cx="3063240" cy="0"/>
          </a:xfrm>
          <a:prstGeom prst="straightConnector1">
            <a:avLst/>
          </a:prstGeom>
          <a:noFill/>
          <a:ln w="9525" cap="flat" cmpd="sng">
            <a:solidFill>
              <a:srgbClr val="27505B"/>
            </a:solidFill>
            <a:prstDash val="solid"/>
            <a:round/>
            <a:headEnd type="none" w="sm" len="sm"/>
            <a:tailEnd type="none" w="sm" len="sm"/>
          </a:ln>
        </p:spPr>
      </p:cxnSp>
      <p:sp>
        <p:nvSpPr>
          <p:cNvPr id="858" name="Google Shape;858;p27"/>
          <p:cNvSpPr/>
          <p:nvPr/>
        </p:nvSpPr>
        <p:spPr>
          <a:xfrm>
            <a:off x="8348472" y="3977640"/>
            <a:ext cx="3017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Arial"/>
              <a:buNone/>
            </a:pPr>
            <a:r>
              <a:rPr lang="en-US" sz="1200" b="1" i="0" u="none" strike="noStrike" cap="none">
                <a:solidFill>
                  <a:srgbClr val="D98324"/>
                </a:solidFill>
                <a:latin typeface="Arial"/>
                <a:ea typeface="Arial"/>
                <a:cs typeface="Arial"/>
                <a:sym typeface="Arial"/>
              </a:rPr>
              <a:t>Nếu quên reset</a:t>
            </a:r>
            <a:endParaRPr sz="1200" b="0" i="0" u="none" strike="noStrike" cap="none">
              <a:solidFill>
                <a:schemeClr val="dk1"/>
              </a:solidFill>
              <a:latin typeface="Calibri"/>
              <a:ea typeface="Calibri"/>
              <a:cs typeface="Calibri"/>
              <a:sym typeface="Calibri"/>
            </a:endParaRPr>
          </a:p>
        </p:txBody>
      </p:sp>
      <p:sp>
        <p:nvSpPr>
          <p:cNvPr id="859" name="Google Shape;859;p27"/>
          <p:cNvSpPr/>
          <p:nvPr/>
        </p:nvSpPr>
        <p:spPr>
          <a:xfrm>
            <a:off x="8348472" y="4279392"/>
            <a:ext cx="3108960" cy="1097280"/>
          </a:xfrm>
          <a:prstGeom prst="rect">
            <a:avLst/>
          </a:prstGeom>
          <a:noFill/>
          <a:ln>
            <a:noFill/>
          </a:ln>
        </p:spPr>
        <p:txBody>
          <a:bodyPr spcFirstLastPara="1" wrap="square" lIns="0" tIns="0" rIns="0" bIns="0" anchor="ctr" anchorCtr="0">
            <a:noAutofit/>
          </a:bodyPr>
          <a:lstStyle/>
          <a:p>
            <a:pPr marL="342900" marR="0" lvl="0" indent="-342900" algn="l" rtl="0">
              <a:lnSpc>
                <a:spcPct val="170000"/>
              </a:lnSpc>
              <a:spcBef>
                <a:spcPts val="0"/>
              </a:spcBef>
              <a:spcAft>
                <a:spcPts val="0"/>
              </a:spcAft>
              <a:buClr>
                <a:srgbClr val="C7DADC"/>
              </a:buClr>
              <a:buSzPts val="1000"/>
              <a:buFont typeface="Arial"/>
              <a:buChar char="•"/>
            </a:pPr>
            <a:r>
              <a:rPr lang="en-US" sz="1000" b="0" i="0" u="none" strike="noStrike" cap="none">
                <a:solidFill>
                  <a:srgbClr val="C7DADC"/>
                </a:solidFill>
                <a:latin typeface="Arial"/>
                <a:ea typeface="Arial"/>
                <a:cs typeface="Arial"/>
                <a:sym typeface="Arial"/>
              </a:rPr>
              <a:t>S2 dùng ảnh của episode trước</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C7DADC"/>
              </a:buClr>
              <a:buSzPts val="1000"/>
              <a:buFont typeface="Arial"/>
              <a:buChar char="•"/>
            </a:pPr>
            <a:r>
              <a:rPr lang="en-US" sz="1000" b="0" i="0" u="none" strike="noStrike" cap="none">
                <a:solidFill>
                  <a:srgbClr val="C7DADC"/>
                </a:solidFill>
                <a:latin typeface="Arial"/>
                <a:ea typeface="Arial"/>
                <a:cs typeface="Arial"/>
                <a:sym typeface="Arial"/>
              </a:rPr>
              <a:t>Latent cũ điều khiển S1 trong scene mới</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C7DADC"/>
              </a:buClr>
              <a:buSzPts val="1000"/>
              <a:buFont typeface="Arial"/>
              <a:buChar char="•"/>
            </a:pPr>
            <a:r>
              <a:rPr lang="en-US" sz="1000" b="0" i="0" u="none" strike="noStrike" cap="none">
                <a:solidFill>
                  <a:srgbClr val="C7DADC"/>
                </a:solidFill>
                <a:latin typeface="Arial"/>
                <a:ea typeface="Arial"/>
                <a:cs typeface="Arial"/>
                <a:sym typeface="Arial"/>
              </a:rPr>
              <a:t>Cached action cũ phát trước khi model kịp infer</a:t>
            </a:r>
            <a:endParaRPr sz="1000" b="0" i="0" u="none" strike="noStrike" cap="none">
              <a:solidFill>
                <a:schemeClr val="dk1"/>
              </a:solidFill>
              <a:latin typeface="Calibri"/>
              <a:ea typeface="Calibri"/>
              <a:cs typeface="Calibri"/>
              <a:sym typeface="Calibri"/>
            </a:endParaRPr>
          </a:p>
          <a:p>
            <a:pPr marL="342900" marR="0" lvl="0" indent="-342900" algn="l" rtl="0">
              <a:lnSpc>
                <a:spcPct val="170000"/>
              </a:lnSpc>
              <a:spcBef>
                <a:spcPts val="700"/>
              </a:spcBef>
              <a:spcAft>
                <a:spcPts val="0"/>
              </a:spcAft>
              <a:buClr>
                <a:srgbClr val="C7DADC"/>
              </a:buClr>
              <a:buSzPts val="1000"/>
              <a:buFont typeface="Arial"/>
              <a:buChar char="•"/>
            </a:pPr>
            <a:r>
              <a:rPr lang="en-US" sz="1000" b="0" i="0" u="none" strike="noStrike" cap="none">
                <a:solidFill>
                  <a:srgbClr val="C7DADC"/>
                </a:solidFill>
                <a:latin typeface="Arial"/>
                <a:ea typeface="Arial"/>
                <a:cs typeface="Arial"/>
                <a:sym typeface="Arial"/>
              </a:rPr>
              <a:t>Chỉ số ảnh và scheduling lệch nhau</a:t>
            </a:r>
            <a:endParaRPr sz="1000" b="0" i="0" u="none" strike="noStrike" cap="none">
              <a:solidFill>
                <a:schemeClr val="dk1"/>
              </a:solidFill>
              <a:latin typeface="Calibri"/>
              <a:ea typeface="Calibri"/>
              <a:cs typeface="Calibri"/>
              <a:sym typeface="Calibri"/>
            </a:endParaRPr>
          </a:p>
        </p:txBody>
      </p:sp>
      <p:sp>
        <p:nvSpPr>
          <p:cNvPr id="860" name="Google Shape;860;p27"/>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Hai implementation cùng ý tưởng nhưng KHÔNG cùng state machine — khi trình bày phải nói rõ đang minh hoạ notebook real-world hay evaluator agent.</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865"/>
        <p:cNvGrpSpPr/>
        <p:nvPr/>
      </p:nvGrpSpPr>
      <p:grpSpPr>
        <a:xfrm>
          <a:off x="0" y="0"/>
          <a:ext cx="0" cy="0"/>
          <a:chOff x="0" y="0"/>
          <a:chExt cx="0" cy="0"/>
        </a:xfrm>
      </p:grpSpPr>
      <p:sp>
        <p:nvSpPr>
          <p:cNvPr id="866" name="Google Shape;866;p28"/>
          <p:cNvSpPr/>
          <p:nvPr/>
        </p:nvSpPr>
        <p:spPr>
          <a:xfrm>
            <a:off x="-1097280" y="3840480"/>
            <a:ext cx="4206240" cy="420624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8"/>
          <p:cNvSpPr/>
          <p:nvPr/>
        </p:nvSpPr>
        <p:spPr>
          <a:xfrm>
            <a:off x="1280160" y="2468880"/>
            <a:ext cx="54864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00"/>
              <a:buFont typeface="Arial"/>
              <a:buNone/>
            </a:pPr>
            <a:r>
              <a:rPr lang="en-US" sz="1200" b="1" i="0" u="none" strike="noStrike" cap="none">
                <a:solidFill>
                  <a:srgbClr val="D98324"/>
                </a:solidFill>
                <a:latin typeface="Arial"/>
                <a:ea typeface="Arial"/>
                <a:cs typeface="Arial"/>
                <a:sym typeface="Arial"/>
              </a:rPr>
              <a:t>PHẦN 05</a:t>
            </a:r>
            <a:endParaRPr sz="1200" b="0" i="0" u="none" strike="noStrike" cap="none">
              <a:solidFill>
                <a:schemeClr val="dk1"/>
              </a:solidFill>
              <a:latin typeface="Calibri"/>
              <a:ea typeface="Calibri"/>
              <a:cs typeface="Calibri"/>
              <a:sym typeface="Calibri"/>
            </a:endParaRPr>
          </a:p>
        </p:txBody>
      </p:sp>
      <p:sp>
        <p:nvSpPr>
          <p:cNvPr id="868" name="Google Shape;868;p28"/>
          <p:cNvSpPr/>
          <p:nvPr/>
        </p:nvSpPr>
        <p:spPr>
          <a:xfrm>
            <a:off x="1280160" y="2834640"/>
            <a:ext cx="8229600" cy="1371600"/>
          </a:xfrm>
          <a:prstGeom prst="rect">
            <a:avLst/>
          </a:prstGeom>
          <a:noFill/>
          <a:ln>
            <a:noFill/>
          </a:ln>
        </p:spPr>
        <p:txBody>
          <a:bodyPr spcFirstLastPara="1" wrap="square" lIns="0" tIns="0" rIns="0" bIns="0" anchor="ctr" anchorCtr="0">
            <a:noAutofit/>
          </a:bodyPr>
          <a:lstStyle/>
          <a:p>
            <a:pPr marL="0" marR="0" lvl="0" indent="0" algn="l" rtl="0">
              <a:lnSpc>
                <a:spcPct val="120588"/>
              </a:lnSpc>
              <a:spcBef>
                <a:spcPts val="0"/>
              </a:spcBef>
              <a:spcAft>
                <a:spcPts val="0"/>
              </a:spcAft>
              <a:buClr>
                <a:srgbClr val="FFFFFF"/>
              </a:buClr>
              <a:buSzPts val="3400"/>
              <a:buFont typeface="Arial"/>
              <a:buNone/>
            </a:pPr>
            <a:r>
              <a:rPr lang="en-US" sz="3400" b="1" i="0" u="none" strike="noStrike" cap="none">
                <a:solidFill>
                  <a:srgbClr val="FFFFFF"/>
                </a:solidFill>
                <a:latin typeface="Arial"/>
                <a:ea typeface="Arial"/>
                <a:cs typeface="Arial"/>
                <a:sym typeface="Arial"/>
              </a:rPr>
              <a:t>Bằng chứng, lỗi thường gặp</a:t>
            </a:r>
            <a:endParaRPr sz="3400" b="0" i="0" u="none" strike="noStrike" cap="none">
              <a:solidFill>
                <a:schemeClr val="dk1"/>
              </a:solidFill>
              <a:latin typeface="Calibri"/>
              <a:ea typeface="Calibri"/>
              <a:cs typeface="Calibri"/>
              <a:sym typeface="Calibri"/>
            </a:endParaRPr>
          </a:p>
          <a:p>
            <a:pPr marL="0" marR="0" lvl="0" indent="0" algn="l" rtl="0">
              <a:lnSpc>
                <a:spcPct val="120588"/>
              </a:lnSpc>
              <a:spcBef>
                <a:spcPts val="0"/>
              </a:spcBef>
              <a:spcAft>
                <a:spcPts val="0"/>
              </a:spcAft>
              <a:buClr>
                <a:srgbClr val="FFFFFF"/>
              </a:buClr>
              <a:buSzPts val="3400"/>
              <a:buFont typeface="Arial"/>
              <a:buNone/>
            </a:pPr>
            <a:r>
              <a:rPr lang="en-US" sz="3400" b="1" i="0" u="none" strike="noStrike" cap="none">
                <a:solidFill>
                  <a:srgbClr val="FFFFFF"/>
                </a:solidFill>
                <a:latin typeface="Arial"/>
                <a:ea typeface="Arial"/>
                <a:cs typeface="Arial"/>
                <a:sym typeface="Arial"/>
              </a:rPr>
              <a:t>và tiến độ</a:t>
            </a:r>
            <a:endParaRPr sz="3400" b="0" i="0" u="none" strike="noStrike" cap="none">
              <a:solidFill>
                <a:schemeClr val="dk1"/>
              </a:solidFill>
              <a:latin typeface="Calibri"/>
              <a:ea typeface="Calibri"/>
              <a:cs typeface="Calibri"/>
              <a:sym typeface="Calibri"/>
            </a:endParaRPr>
          </a:p>
        </p:txBody>
      </p:sp>
      <p:sp>
        <p:nvSpPr>
          <p:cNvPr id="869" name="Google Shape;869;p28"/>
          <p:cNvSpPr/>
          <p:nvPr/>
        </p:nvSpPr>
        <p:spPr>
          <a:xfrm>
            <a:off x="1280160" y="4343400"/>
            <a:ext cx="7315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FBEC2"/>
              </a:buClr>
              <a:buSzPts val="1400"/>
              <a:buFont typeface="Arial"/>
              <a:buNone/>
            </a:pPr>
            <a:r>
              <a:rPr lang="en-US" sz="1400" b="0" i="0" u="none" strike="noStrike" cap="none">
                <a:solidFill>
                  <a:srgbClr val="9FBEC2"/>
                </a:solidFill>
                <a:latin typeface="Arial"/>
                <a:ea typeface="Arial"/>
                <a:cs typeface="Arial"/>
                <a:sym typeface="Arial"/>
              </a:rPr>
              <a:t>Cái gì đã chứng minh được, cái gì vẫn là giả định</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2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BẰNG CHỨNG</a:t>
            </a:r>
            <a:endParaRPr sz="1050" b="0" i="0" u="none" strike="noStrike" cap="none">
              <a:solidFill>
                <a:schemeClr val="dk1"/>
              </a:solidFill>
              <a:latin typeface="Calibri"/>
              <a:ea typeface="Calibri"/>
              <a:cs typeface="Calibri"/>
              <a:sym typeface="Calibri"/>
            </a:endParaRPr>
          </a:p>
        </p:txBody>
      </p:sp>
      <p:sp>
        <p:nvSpPr>
          <p:cNvPr id="876" name="Google Shape;876;p2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Kết quả chạy thật trên RTX 4050 Laptop GPU</a:t>
            </a:r>
            <a:endParaRPr sz="2500" b="0" i="0" u="none" strike="noStrike" cap="none">
              <a:solidFill>
                <a:schemeClr val="dk1"/>
              </a:solidFill>
              <a:latin typeface="Calibri"/>
              <a:ea typeface="Calibri"/>
              <a:cs typeface="Calibri"/>
              <a:sym typeface="Calibri"/>
            </a:endParaRPr>
          </a:p>
        </p:txBody>
      </p:sp>
      <p:sp>
        <p:nvSpPr>
          <p:cNvPr id="877" name="Google Shape;877;p29"/>
          <p:cNvSpPr/>
          <p:nvPr/>
        </p:nvSpPr>
        <p:spPr>
          <a:xfrm>
            <a:off x="548640"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548640"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1.59 s</a:t>
            </a:r>
            <a:endParaRPr sz="3000" b="0" i="0" u="none" strike="noStrike" cap="none">
              <a:solidFill>
                <a:schemeClr val="dk1"/>
              </a:solidFill>
              <a:latin typeface="Calibri"/>
              <a:ea typeface="Calibri"/>
              <a:cs typeface="Calibri"/>
              <a:sym typeface="Calibri"/>
            </a:endParaRPr>
          </a:p>
        </p:txBody>
      </p:sp>
      <p:sp>
        <p:nvSpPr>
          <p:cNvPr id="879" name="Google Shape;879;p29"/>
          <p:cNvSpPr/>
          <p:nvPr/>
        </p:nvSpPr>
        <p:spPr>
          <a:xfrm>
            <a:off x="548640"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model-call latency</a:t>
            </a:r>
            <a:endParaRPr sz="1000" b="0" i="0" u="none" strike="noStrike" cap="none">
              <a:solidFill>
                <a:schemeClr val="dk1"/>
              </a:solidFill>
              <a:latin typeface="Calibri"/>
              <a:ea typeface="Calibri"/>
              <a:cs typeface="Calibri"/>
              <a:sym typeface="Calibri"/>
            </a:endParaRPr>
          </a:p>
        </p:txBody>
      </p:sp>
      <p:sp>
        <p:nvSpPr>
          <p:cNvPr id="880" name="Google Shape;880;p29"/>
          <p:cNvSpPr/>
          <p:nvPr/>
        </p:nvSpPr>
        <p:spPr>
          <a:xfrm>
            <a:off x="3355848"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355848"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575.5 MiB</a:t>
            </a:r>
            <a:endParaRPr sz="3000" b="0" i="0" u="none" strike="noStrike" cap="none">
              <a:solidFill>
                <a:schemeClr val="dk1"/>
              </a:solidFill>
              <a:latin typeface="Calibri"/>
              <a:ea typeface="Calibri"/>
              <a:cs typeface="Calibri"/>
              <a:sym typeface="Calibri"/>
            </a:endParaRPr>
          </a:p>
        </p:txBody>
      </p:sp>
      <p:sp>
        <p:nvSpPr>
          <p:cNvPr id="882" name="Google Shape;882;p29"/>
          <p:cNvSpPr/>
          <p:nvPr/>
        </p:nvSpPr>
        <p:spPr>
          <a:xfrm>
            <a:off x="3355848"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peak CUDA allocation</a:t>
            </a:r>
            <a:endParaRPr sz="1000" b="0" i="0" u="none" strike="noStrike" cap="none">
              <a:solidFill>
                <a:schemeClr val="dk1"/>
              </a:solidFill>
              <a:latin typeface="Calibri"/>
              <a:ea typeface="Calibri"/>
              <a:cs typeface="Calibri"/>
              <a:sym typeface="Calibri"/>
            </a:endParaRPr>
          </a:p>
        </p:txBody>
      </p:sp>
      <p:sp>
        <p:nvSpPr>
          <p:cNvPr id="883" name="Google Shape;883;p29"/>
          <p:cNvSpPr/>
          <p:nvPr/>
        </p:nvSpPr>
        <p:spPr>
          <a:xfrm>
            <a:off x="6163056"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6163056"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0</a:t>
            </a:r>
            <a:endParaRPr sz="3000" b="0" i="0" u="none" strike="noStrike" cap="none">
              <a:solidFill>
                <a:schemeClr val="dk1"/>
              </a:solidFill>
              <a:latin typeface="Calibri"/>
              <a:ea typeface="Calibri"/>
              <a:cs typeface="Calibri"/>
              <a:sym typeface="Calibri"/>
            </a:endParaRPr>
          </a:p>
        </p:txBody>
      </p:sp>
      <p:sp>
        <p:nvSpPr>
          <p:cNvPr id="885" name="Google Shape;885;p29"/>
          <p:cNvSpPr/>
          <p:nvPr/>
        </p:nvSpPr>
        <p:spPr>
          <a:xfrm>
            <a:off x="6163056"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missing checkpoint key</a:t>
            </a:r>
            <a:endParaRPr sz="1000" b="0" i="0" u="none" strike="noStrike" cap="none">
              <a:solidFill>
                <a:schemeClr val="dk1"/>
              </a:solidFill>
              <a:latin typeface="Calibri"/>
              <a:ea typeface="Calibri"/>
              <a:cs typeface="Calibri"/>
              <a:sym typeface="Calibri"/>
            </a:endParaRPr>
          </a:p>
        </p:txBody>
      </p:sp>
      <p:sp>
        <p:nvSpPr>
          <p:cNvPr id="886" name="Google Shape;886;p29"/>
          <p:cNvSpPr/>
          <p:nvPr/>
        </p:nvSpPr>
        <p:spPr>
          <a:xfrm>
            <a:off x="8970264"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970264"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122</a:t>
            </a:r>
            <a:endParaRPr sz="3000" b="0" i="0" u="none" strike="noStrike" cap="none">
              <a:solidFill>
                <a:schemeClr val="dk1"/>
              </a:solidFill>
              <a:latin typeface="Calibri"/>
              <a:ea typeface="Calibri"/>
              <a:cs typeface="Calibri"/>
              <a:sym typeface="Calibri"/>
            </a:endParaRPr>
          </a:p>
        </p:txBody>
      </p:sp>
      <p:sp>
        <p:nvSpPr>
          <p:cNvPr id="888" name="Google Shape;888;p29"/>
          <p:cNvSpPr/>
          <p:nvPr/>
        </p:nvSpPr>
        <p:spPr>
          <a:xfrm>
            <a:off x="8970264"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RGB / depth frame trong episode</a:t>
            </a:r>
            <a:endParaRPr sz="1000" b="0" i="0" u="none" strike="noStrike" cap="none">
              <a:solidFill>
                <a:schemeClr val="dk1"/>
              </a:solidFill>
              <a:latin typeface="Calibri"/>
              <a:ea typeface="Calibri"/>
              <a:cs typeface="Calibri"/>
              <a:sym typeface="Calibri"/>
            </a:endParaRPr>
          </a:p>
        </p:txBody>
      </p:sp>
      <p:sp>
        <p:nvSpPr>
          <p:cNvPr id="889" name="Google Shape;889;p29"/>
          <p:cNvSpPr/>
          <p:nvPr/>
        </p:nvSpPr>
        <p:spPr>
          <a:xfrm>
            <a:off x="54864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Input đã kiểm tra</a:t>
            </a:r>
            <a:endParaRPr sz="1250" b="0" i="0" u="none" strike="noStrike" cap="none">
              <a:solidFill>
                <a:schemeClr val="dk1"/>
              </a:solidFill>
              <a:latin typeface="Calibri"/>
              <a:ea typeface="Calibri"/>
              <a:cs typeface="Calibri"/>
              <a:sym typeface="Calibri"/>
            </a:endParaRPr>
          </a:p>
        </p:txBody>
      </p:sp>
      <p:graphicFrame>
        <p:nvGraphicFramePr>
          <p:cNvPr id="890" name="Google Shape;890;p29"/>
          <p:cNvGraphicFramePr/>
          <p:nvPr/>
        </p:nvGraphicFramePr>
        <p:xfrm>
          <a:off x="54864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Tensor</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goal_point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 3] float32, finite · [−0.396, 1.877]</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RGB history</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 8, 224, 224, 3] float32 · [0, 0.827]</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current depth</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 224, 224, 1] float32 · [0, 4.998] m</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1" name="Google Shape;891;p29"/>
          <p:cNvSpPr/>
          <p:nvPr/>
        </p:nvSpPr>
        <p:spPr>
          <a:xfrm>
            <a:off x="630936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Output đã kiểm tra</a:t>
            </a:r>
            <a:endParaRPr sz="1250" b="0" i="0" u="none" strike="noStrike" cap="none">
              <a:solidFill>
                <a:schemeClr val="dk1"/>
              </a:solidFill>
              <a:latin typeface="Calibri"/>
              <a:ea typeface="Calibri"/>
              <a:cs typeface="Calibri"/>
              <a:sym typeface="Calibri"/>
            </a:endParaRPr>
          </a:p>
        </p:txBody>
      </p:sp>
      <p:graphicFrame>
        <p:nvGraphicFramePr>
          <p:cNvPr id="892" name="Google Shape;892;p29"/>
          <p:cNvGraphicFramePr/>
          <p:nvPr/>
        </p:nvGraphicFramePr>
        <p:xfrm>
          <a:off x="630936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Tensor / metric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positive traj.</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[2, 24, 3] float32, finite</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negative traj.</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[2, 24, 3] float32, finite</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extra ckpt keys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18 · đều thuộc template decoder_layer.*</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3" name="Google Shape;893;p29"/>
          <p:cNvSpPr/>
          <p:nvPr/>
        </p:nvSpPr>
        <p:spPr>
          <a:xfrm>
            <a:off x="548640" y="4617720"/>
            <a:ext cx="11091672" cy="1554480"/>
          </a:xfrm>
          <a:prstGeom prst="roundRect">
            <a:avLst>
              <a:gd name="adj" fmla="val 35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822960" y="477316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Đọc số liệu cho đúng</a:t>
            </a:r>
            <a:endParaRPr sz="1250" b="0" i="0" u="none" strike="noStrike" cap="none">
              <a:solidFill>
                <a:schemeClr val="dk1"/>
              </a:solidFill>
              <a:latin typeface="Calibri"/>
              <a:ea typeface="Calibri"/>
              <a:cs typeface="Calibri"/>
              <a:sym typeface="Calibri"/>
            </a:endParaRPr>
          </a:p>
        </p:txBody>
      </p:sp>
      <p:sp>
        <p:nvSpPr>
          <p:cNvPr id="895" name="Google Shape;895;p29"/>
          <p:cNvSpPr/>
          <p:nvPr/>
        </p:nvSpPr>
        <p:spPr>
          <a:xfrm>
            <a:off x="822960" y="5074920"/>
            <a:ext cx="10451592" cy="96012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Range output trộn mét (x, y) và radian (theta) → chỉ dùng làm finite/sanity check, không phải một metric vật lý duy nhất.</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Latency chỉ đo inference sau khi model và dataset đã load; PyTorch allocated memory không bằng tổng VRAM trong nvidia-smi.</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Cảnh báo “xFormers not available” là warning hiệu năng — không chặn dựng model hay inference.</a:t>
            </a:r>
            <a:endParaRPr sz="1050" b="0" i="0" u="none" strike="noStrike" cap="none">
              <a:solidFill>
                <a:schemeClr val="dk1"/>
              </a:solidFill>
              <a:latin typeface="Calibri"/>
              <a:ea typeface="Calibri"/>
              <a:cs typeface="Calibri"/>
              <a:sym typeface="Calibri"/>
            </a:endParaRPr>
          </a:p>
        </p:txBody>
      </p:sp>
      <p:sp>
        <p:nvSpPr>
          <p:cNvPr id="896" name="Google Shape;896;p29"/>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Bằng chứng máy đọc được: MH_week2/logs/navdp_real_sample.json</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Google Shape;875;p2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BẰNG CHỨNG · DUAL-SYSTEM</a:t>
            </a:r>
            <a:endParaRPr sz="1050" b="0" i="0" u="none" strike="noStrike" cap="none">
              <a:solidFill>
                <a:schemeClr val="dk1"/>
              </a:solidFill>
              <a:latin typeface="Calibri"/>
              <a:ea typeface="Calibri"/>
              <a:cs typeface="Calibri"/>
              <a:sym typeface="Calibri"/>
            </a:endParaRPr>
          </a:p>
        </p:txBody>
      </p:sp>
      <p:sp>
        <p:nvSpPr>
          <p:cNvPr id="876" name="Google Shape;876;p2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Dual-system 7B chạy end-to-end open-loop trên Kaggle T4×2 (23/07)</a:t>
            </a:r>
            <a:endParaRPr sz="2500" b="0" i="0" u="none" strike="noStrike" cap="none">
              <a:solidFill>
                <a:schemeClr val="dk1"/>
              </a:solidFill>
              <a:latin typeface="Calibri"/>
              <a:ea typeface="Calibri"/>
              <a:cs typeface="Calibri"/>
              <a:sym typeface="Calibri"/>
            </a:endParaRPr>
          </a:p>
        </p:txBody>
      </p:sp>
      <p:sp>
        <p:nvSpPr>
          <p:cNvPr id="877" name="Google Shape;877;p29"/>
          <p:cNvSpPr/>
          <p:nvPr/>
        </p:nvSpPr>
        <p:spPr>
          <a:xfrm>
            <a:off x="548640"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548640"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16.78 GB</a:t>
            </a:r>
            <a:endParaRPr sz="3000" b="0" i="0" u="none" strike="noStrike" cap="none">
              <a:solidFill>
                <a:schemeClr val="dk1"/>
              </a:solidFill>
              <a:latin typeface="Calibri"/>
              <a:ea typeface="Calibri"/>
              <a:cs typeface="Calibri"/>
              <a:sym typeface="Calibri"/>
            </a:endParaRPr>
          </a:p>
        </p:txBody>
      </p:sp>
      <p:sp>
        <p:nvSpPr>
          <p:cNvPr id="879" name="Google Shape;879;p29"/>
          <p:cNvSpPr/>
          <p:nvPr/>
        </p:nvSpPr>
        <p:spPr>
          <a:xfrm>
            <a:off x="548640"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checkpoint · VRAM 7.57+9.21 GB</a:t>
            </a:r>
            <a:endParaRPr sz="1000" b="0" i="0" u="none" strike="noStrike" cap="none">
              <a:solidFill>
                <a:schemeClr val="dk1"/>
              </a:solidFill>
              <a:latin typeface="Calibri"/>
              <a:ea typeface="Calibri"/>
              <a:cs typeface="Calibri"/>
              <a:sym typeface="Calibri"/>
            </a:endParaRPr>
          </a:p>
        </p:txBody>
      </p:sp>
      <p:sp>
        <p:nvSpPr>
          <p:cNvPr id="880" name="Google Shape;880;p29"/>
          <p:cNvSpPr/>
          <p:nvPr/>
        </p:nvSpPr>
        <p:spPr>
          <a:xfrm>
            <a:off x="3355848"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355848"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98.8 M</a:t>
            </a:r>
            <a:endParaRPr sz="3000" b="0" i="0" u="none" strike="noStrike" cap="none">
              <a:solidFill>
                <a:schemeClr val="dk1"/>
              </a:solidFill>
              <a:latin typeface="Calibri"/>
              <a:ea typeface="Calibri"/>
              <a:cs typeface="Calibri"/>
              <a:sym typeface="Calibri"/>
            </a:endParaRPr>
          </a:p>
        </p:txBody>
      </p:sp>
      <p:sp>
        <p:nvSpPr>
          <p:cNvPr id="882" name="Google Shape;882;p29"/>
          <p:cNvSpPr/>
          <p:nvPr/>
        </p:nvSpPr>
        <p:spPr>
          <a:xfrm>
            <a:off x="3355848"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tham số NavDP (S1) đã nạp</a:t>
            </a:r>
            <a:endParaRPr sz="1000" b="0" i="0" u="none" strike="noStrike" cap="none">
              <a:solidFill>
                <a:schemeClr val="dk1"/>
              </a:solidFill>
              <a:latin typeface="Calibri"/>
              <a:ea typeface="Calibri"/>
              <a:cs typeface="Calibri"/>
              <a:sym typeface="Calibri"/>
            </a:endParaRPr>
          </a:p>
        </p:txBody>
      </p:sp>
      <p:sp>
        <p:nvSpPr>
          <p:cNvPr id="883" name="Google Shape;883;p29"/>
          <p:cNvSpPr/>
          <p:nvPr/>
        </p:nvSpPr>
        <p:spPr>
          <a:xfrm>
            <a:off x="6163056"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6163056"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0</a:t>
            </a:r>
            <a:endParaRPr sz="3000" b="0" i="0" u="none" strike="noStrike" cap="none">
              <a:solidFill>
                <a:schemeClr val="dk1"/>
              </a:solidFill>
              <a:latin typeface="Calibri"/>
              <a:ea typeface="Calibri"/>
              <a:cs typeface="Calibri"/>
              <a:sym typeface="Calibri"/>
            </a:endParaRPr>
          </a:p>
        </p:txBody>
      </p:sp>
      <p:sp>
        <p:nvSpPr>
          <p:cNvPr id="885" name="Google Shape;885;p29"/>
          <p:cNvSpPr/>
          <p:nvPr/>
        </p:nvSpPr>
        <p:spPr>
          <a:xfrm>
            <a:off x="6163056"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tham số meta còn sót sau load</a:t>
            </a:r>
            <a:endParaRPr sz="1000" b="0" i="0" u="none" strike="noStrike" cap="none">
              <a:solidFill>
                <a:schemeClr val="dk1"/>
              </a:solidFill>
              <a:latin typeface="Calibri"/>
              <a:ea typeface="Calibri"/>
              <a:cs typeface="Calibri"/>
              <a:sym typeface="Calibri"/>
            </a:endParaRPr>
          </a:p>
        </p:txBody>
      </p:sp>
      <p:sp>
        <p:nvSpPr>
          <p:cNvPr id="886" name="Google Shape;886;p29"/>
          <p:cNvSpPr/>
          <p:nvPr/>
        </p:nvSpPr>
        <p:spPr>
          <a:xfrm>
            <a:off x="8970264"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970264"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101/128</a:t>
            </a:r>
            <a:endParaRPr sz="3000" b="0" i="0" u="none" strike="noStrike" cap="none">
              <a:solidFill>
                <a:schemeClr val="dk1"/>
              </a:solidFill>
              <a:latin typeface="Calibri"/>
              <a:ea typeface="Calibri"/>
              <a:cs typeface="Calibri"/>
              <a:sym typeface="Calibri"/>
            </a:endParaRPr>
          </a:p>
        </p:txBody>
      </p:sp>
      <p:sp>
        <p:nvSpPr>
          <p:cNvPr id="888" name="Google Shape;888;p29"/>
          <p:cNvSpPr/>
          <p:nvPr/>
        </p:nvSpPr>
        <p:spPr>
          <a:xfrm>
            <a:off x="8970264"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frame S2 ra pixel + latent</a:t>
            </a:r>
            <a:endParaRPr sz="1000" b="0" i="0" u="none" strike="noStrike" cap="none">
              <a:solidFill>
                <a:schemeClr val="dk1"/>
              </a:solidFill>
              <a:latin typeface="Calibri"/>
              <a:ea typeface="Calibri"/>
              <a:cs typeface="Calibri"/>
              <a:sym typeface="Calibri"/>
            </a:endParaRPr>
          </a:p>
        </p:txBody>
      </p:sp>
      <p:sp>
        <p:nvSpPr>
          <p:cNvPr id="889" name="Google Shape;889;p29"/>
          <p:cNvSpPr/>
          <p:nvPr/>
        </p:nvSpPr>
        <p:spPr>
          <a:xfrm>
            <a:off x="54864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GATE 1 — load &amp; verify</a:t>
            </a:r>
            <a:endParaRPr sz="1250" b="0" i="0" u="none" strike="noStrike" cap="none">
              <a:solidFill>
                <a:schemeClr val="dk1"/>
              </a:solidFill>
              <a:latin typeface="Calibri"/>
              <a:ea typeface="Calibri"/>
              <a:cs typeface="Calibri"/>
              <a:sym typeface="Calibri"/>
            </a:endParaRPr>
          </a:p>
        </p:txBody>
      </p:sp>
      <p:graphicFrame>
        <p:nvGraphicFramePr>
          <p:cNvPr id="890" name="Google Shape;890;p29"/>
          <p:cNvGraphicFramePr/>
          <p:nvPr/>
        </p:nvGraphicFramePr>
        <p:xfrm>
          <a:off x="54864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Phép kiểm</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system1</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navdp_async (config có sẵn, không patch)</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latent_queries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 4, 3584] · n_query = 4</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tokenizer</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slow→fast OK (transformers 4.51.0)</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1" name="Google Shape;891;p29"/>
          <p:cNvSpPr/>
          <p:nvPr/>
        </p:nvSpPr>
        <p:spPr>
          <a:xfrm>
            <a:off x="630936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GATE 2 + 3 — S2 → latent → S1</a:t>
            </a:r>
            <a:endParaRPr sz="1250" b="0" i="0" u="none" strike="noStrike" cap="none">
              <a:solidFill>
                <a:schemeClr val="dk1"/>
              </a:solidFill>
              <a:latin typeface="Calibri"/>
              <a:ea typeface="Calibri"/>
              <a:cs typeface="Calibri"/>
              <a:sym typeface="Calibri"/>
            </a:endParaRPr>
          </a:p>
        </p:txBody>
      </p:sp>
      <p:graphicFrame>
        <p:nvGraphicFramePr>
          <p:cNvPr id="892" name="Google Shape;892;p29"/>
          <p:cNvGraphicFramePr/>
          <p:nvPr/>
        </p:nvGraphicFramePr>
        <p:xfrm>
          <a:off x="630936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Tensor / metric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quan sát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S2 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[B, 4, 3584] finite (nhánh pixel-goal)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s1_traj</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(33, 2) không NaN · predict_size = 32</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s1_actions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 {1,2,3}, ≤4 · trên 101 frame 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3" name="Google Shape;893;p29"/>
          <p:cNvSpPr/>
          <p:nvPr/>
        </p:nvSpPr>
        <p:spPr>
          <a:xfrm>
            <a:off x="548640" y="4617720"/>
            <a:ext cx="11091672" cy="1554480"/>
          </a:xfrm>
          <a:prstGeom prst="roundRect">
            <a:avLst>
              <a:gd name="adj" fmla="val 35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822960" y="477316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Đọc số liệu cho đúng</a:t>
            </a:r>
            <a:endParaRPr sz="1250" b="0" i="0" u="none" strike="noStrike" cap="none">
              <a:solidFill>
                <a:schemeClr val="dk1"/>
              </a:solidFill>
              <a:latin typeface="Calibri"/>
              <a:ea typeface="Calibri"/>
              <a:cs typeface="Calibri"/>
              <a:sym typeface="Calibri"/>
            </a:endParaRPr>
          </a:p>
        </p:txBody>
      </p:sp>
      <p:sp>
        <p:nvSpPr>
          <p:cNvPr id="895" name="Google Shape;895;p29"/>
          <p:cNvSpPr/>
          <p:nvPr/>
        </p:nvSpPr>
        <p:spPr>
          <a:xfrm>
            <a:off x="822960" y="5074920"/>
            <a:ext cx="10451592" cy="96012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Open-loop = feed observation tĩnh vln_ce vào policy (pose = ma trận đơn vị); KHÔNG phải benchmark SR/SPL closed-loop.</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device_map='auto' + attn 'sdpa' là 2 override bắt buộc so với code gốc (pin 1 GPU + flash_attention_2) để chạy trên T4×2.</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GATE 1/2/3 đều PASS — lần đầu xác nhận runtime cơ chế config.system1 dựng NavDP (bản -w-NavDP có sẵn field này).</a:t>
            </a:r>
            <a:endParaRPr sz="1050" b="0" i="0" u="none" strike="noStrike" cap="none">
              <a:solidFill>
                <a:schemeClr val="dk1"/>
              </a:solidFill>
              <a:latin typeface="Calibri"/>
              <a:ea typeface="Calibri"/>
              <a:cs typeface="Calibri"/>
              <a:sym typeface="Calibri"/>
            </a:endParaRPr>
          </a:p>
        </p:txBody>
      </p:sp>
      <p:sp>
        <p:nvSpPr>
          <p:cNvPr id="896" name="Google Shape;896;p29"/>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Bằng chứng máy đọc được: docs/handbook/results.json · 05_appendix.md PL-E2/E3 (23-07-2026)</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 name="Google Shape;875;p29"/>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SYSTEM 2 · CHẠY THẬT</a:t>
            </a:r>
            <a:endParaRPr sz="1050" b="0" i="0" u="none" strike="noStrike" cap="none">
              <a:solidFill>
                <a:schemeClr val="dk1"/>
              </a:solidFill>
              <a:latin typeface="Calibri"/>
              <a:ea typeface="Calibri"/>
              <a:cs typeface="Calibri"/>
              <a:sym typeface="Calibri"/>
            </a:endParaRPr>
          </a:p>
        </p:txBody>
      </p:sp>
      <p:sp>
        <p:nvSpPr>
          <p:cNvPr id="876" name="Google Shape;876;p29"/>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System 2 open-loop: chỉ số thật và cơ chế look-down 2 nhịp</a:t>
            </a:r>
            <a:endParaRPr sz="2500" b="0" i="0" u="none" strike="noStrike" cap="none">
              <a:solidFill>
                <a:schemeClr val="dk1"/>
              </a:solidFill>
              <a:latin typeface="Calibri"/>
              <a:ea typeface="Calibri"/>
              <a:cs typeface="Calibri"/>
              <a:sym typeface="Calibri"/>
            </a:endParaRPr>
          </a:p>
        </p:txBody>
      </p:sp>
      <p:sp>
        <p:nvSpPr>
          <p:cNvPr id="877" name="Google Shape;877;p29"/>
          <p:cNvSpPr/>
          <p:nvPr/>
        </p:nvSpPr>
        <p:spPr>
          <a:xfrm>
            <a:off x="548640"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9"/>
          <p:cNvSpPr/>
          <p:nvPr/>
        </p:nvSpPr>
        <p:spPr>
          <a:xfrm>
            <a:off x="548640"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41.8 px</a:t>
            </a:r>
            <a:endParaRPr sz="3000" b="0" i="0" u="none" strike="noStrike" cap="none">
              <a:solidFill>
                <a:schemeClr val="dk1"/>
              </a:solidFill>
              <a:latin typeface="Calibri"/>
              <a:ea typeface="Calibri"/>
              <a:cs typeface="Calibri"/>
              <a:sym typeface="Calibri"/>
            </a:endParaRPr>
          </a:p>
        </p:txBody>
      </p:sp>
      <p:sp>
        <p:nvSpPr>
          <p:cNvPr id="879" name="Google Shape;879;p29"/>
          <p:cNvSpPr/>
          <p:nvPr/>
        </p:nvSpPr>
        <p:spPr>
          <a:xfrm>
            <a:off x="548640"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pixel-goal L2 trung bình (median 20)</a:t>
            </a:r>
            <a:endParaRPr sz="1000" b="0" i="0" u="none" strike="noStrike" cap="none">
              <a:solidFill>
                <a:schemeClr val="dk1"/>
              </a:solidFill>
              <a:latin typeface="Calibri"/>
              <a:ea typeface="Calibri"/>
              <a:cs typeface="Calibri"/>
              <a:sym typeface="Calibri"/>
            </a:endParaRPr>
          </a:p>
        </p:txBody>
      </p:sp>
      <p:sp>
        <p:nvSpPr>
          <p:cNvPr id="880" name="Google Shape;880;p29"/>
          <p:cNvSpPr/>
          <p:nvPr/>
        </p:nvSpPr>
        <p:spPr>
          <a:xfrm>
            <a:off x="3355848"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9"/>
          <p:cNvSpPr/>
          <p:nvPr/>
        </p:nvSpPr>
        <p:spPr>
          <a:xfrm>
            <a:off x="3355848"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28090"/>
              </a:buClr>
              <a:buSzPts val="3000"/>
              <a:buFont typeface="Arial"/>
              <a:buNone/>
            </a:pPr>
            <a:r>
              <a:rPr lang="en-US" sz="3000" b="1" i="0" u="none" strike="noStrike" cap="none">
                <a:solidFill>
                  <a:srgbClr val="028090"/>
                </a:solidFill>
                <a:latin typeface="Arial"/>
                <a:ea typeface="Arial"/>
                <a:cs typeface="Arial"/>
                <a:sym typeface="Arial"/>
              </a:rPr>
              <a:t>37 %</a:t>
            </a:r>
            <a:endParaRPr sz="3000" b="0" i="0" u="none" strike="noStrike" cap="none">
              <a:solidFill>
                <a:schemeClr val="dk1"/>
              </a:solidFill>
              <a:latin typeface="Calibri"/>
              <a:ea typeface="Calibri"/>
              <a:cs typeface="Calibri"/>
              <a:sym typeface="Calibri"/>
            </a:endParaRPr>
          </a:p>
        </p:txBody>
      </p:sp>
      <p:sp>
        <p:nvSpPr>
          <p:cNvPr id="882" name="Google Shape;882;p29"/>
          <p:cNvSpPr/>
          <p:nvPr/>
        </p:nvSpPr>
        <p:spPr>
          <a:xfrm>
            <a:off x="3355848"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action accuracy (n=27)</a:t>
            </a:r>
            <a:endParaRPr sz="1000" b="0" i="0" u="none" strike="noStrike" cap="none">
              <a:solidFill>
                <a:schemeClr val="dk1"/>
              </a:solidFill>
              <a:latin typeface="Calibri"/>
              <a:ea typeface="Calibri"/>
              <a:cs typeface="Calibri"/>
              <a:sym typeface="Calibri"/>
            </a:endParaRPr>
          </a:p>
        </p:txBody>
      </p:sp>
      <p:sp>
        <p:nvSpPr>
          <p:cNvPr id="883" name="Google Shape;883;p29"/>
          <p:cNvSpPr/>
          <p:nvPr/>
        </p:nvSpPr>
        <p:spPr>
          <a:xfrm>
            <a:off x="6163056"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9"/>
          <p:cNvSpPr/>
          <p:nvPr/>
        </p:nvSpPr>
        <p:spPr>
          <a:xfrm>
            <a:off x="6163056"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79 %</a:t>
            </a:r>
            <a:endParaRPr sz="3000" b="0" i="0" u="none" strike="noStrike" cap="none">
              <a:solidFill>
                <a:schemeClr val="dk1"/>
              </a:solidFill>
              <a:latin typeface="Calibri"/>
              <a:ea typeface="Calibri"/>
              <a:cs typeface="Calibri"/>
              <a:sym typeface="Calibri"/>
            </a:endParaRPr>
          </a:p>
        </p:txBody>
      </p:sp>
      <p:sp>
        <p:nvSpPr>
          <p:cNvPr id="885" name="Google Shape;885;p29"/>
          <p:cNvSpPr/>
          <p:nvPr/>
        </p:nvSpPr>
        <p:spPr>
          <a:xfrm>
            <a:off x="6163056"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frame ra pixel+latent (101/128)</a:t>
            </a:r>
            <a:endParaRPr sz="1000" b="0" i="0" u="none" strike="noStrike" cap="none">
              <a:solidFill>
                <a:schemeClr val="dk1"/>
              </a:solidFill>
              <a:latin typeface="Calibri"/>
              <a:ea typeface="Calibri"/>
              <a:cs typeface="Calibri"/>
              <a:sym typeface="Calibri"/>
            </a:endParaRPr>
          </a:p>
        </p:txBody>
      </p:sp>
      <p:sp>
        <p:nvSpPr>
          <p:cNvPr id="886" name="Google Shape;886;p29"/>
          <p:cNvSpPr/>
          <p:nvPr/>
        </p:nvSpPr>
        <p:spPr>
          <a:xfrm>
            <a:off x="8970264" y="1371600"/>
            <a:ext cx="2606040" cy="1188720"/>
          </a:xfrm>
          <a:prstGeom prst="roundRect">
            <a:avLst>
              <a:gd name="adj" fmla="val 461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9"/>
          <p:cNvSpPr/>
          <p:nvPr/>
        </p:nvSpPr>
        <p:spPr>
          <a:xfrm>
            <a:off x="8970264" y="1481328"/>
            <a:ext cx="26060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A896"/>
              </a:buClr>
              <a:buSzPts val="3000"/>
              <a:buFont typeface="Arial"/>
              <a:buNone/>
            </a:pPr>
            <a:r>
              <a:rPr lang="en-US" sz="3000" b="1" i="0" u="none" strike="noStrike" cap="none">
                <a:solidFill>
                  <a:srgbClr val="00A896"/>
                </a:solidFill>
                <a:latin typeface="Arial"/>
                <a:ea typeface="Arial"/>
                <a:cs typeface="Arial"/>
                <a:sym typeface="Arial"/>
              </a:rPr>
              <a:t>35.5 s</a:t>
            </a:r>
            <a:endParaRPr sz="3000" b="0" i="0" u="none" strike="noStrike" cap="none">
              <a:solidFill>
                <a:schemeClr val="dk1"/>
              </a:solidFill>
              <a:latin typeface="Calibri"/>
              <a:ea typeface="Calibri"/>
              <a:cs typeface="Calibri"/>
              <a:sym typeface="Calibri"/>
            </a:endParaRPr>
          </a:p>
        </p:txBody>
      </p:sp>
      <p:sp>
        <p:nvSpPr>
          <p:cNvPr id="888" name="Google Shape;888;p29"/>
          <p:cNvSpPr/>
          <p:nvPr/>
        </p:nvSpPr>
        <p:spPr>
          <a:xfrm>
            <a:off x="8970264" y="2057400"/>
            <a:ext cx="2606040" cy="36576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9FBEC2"/>
              </a:buClr>
              <a:buSzPts val="1000"/>
              <a:buFont typeface="Arial"/>
              <a:buNone/>
            </a:pPr>
            <a:r>
              <a:rPr lang="en-US" sz="1000" b="0" i="0" u="none" strike="noStrike" cap="none">
                <a:solidFill>
                  <a:srgbClr val="9FBEC2"/>
                </a:solidFill>
                <a:latin typeface="Arial"/>
                <a:ea typeface="Arial"/>
                <a:cs typeface="Arial"/>
                <a:sym typeface="Arial"/>
              </a:rPr>
              <a:t>thời gian S2 mỗi frame (2 nhịp)</a:t>
            </a:r>
            <a:endParaRPr sz="1000" b="0" i="0" u="none" strike="noStrike" cap="none">
              <a:solidFill>
                <a:schemeClr val="dk1"/>
              </a:solidFill>
              <a:latin typeface="Calibri"/>
              <a:ea typeface="Calibri"/>
              <a:cs typeface="Calibri"/>
              <a:sym typeface="Calibri"/>
            </a:endParaRPr>
          </a:p>
        </p:txBody>
      </p:sp>
      <p:sp>
        <p:nvSpPr>
          <p:cNvPr id="889" name="Google Shape;889;p29"/>
          <p:cNvSpPr/>
          <p:nvPr/>
        </p:nvSpPr>
        <p:spPr>
          <a:xfrm>
            <a:off x="54864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250"/>
              <a:buFont typeface="Arial"/>
              <a:buNone/>
            </a:pPr>
            <a:r>
              <a:rPr lang="en-US" sz="1250" b="1" i="0" u="none" strike="noStrike" cap="none">
                <a:solidFill>
                  <a:srgbClr val="028090"/>
                </a:solidFill>
                <a:latin typeface="Arial"/>
                <a:ea typeface="Arial"/>
                <a:cs typeface="Arial"/>
                <a:sym typeface="Arial"/>
              </a:rPr>
              <a:t>Cơ chế look-down 2 nhịp</a:t>
            </a:r>
            <a:endParaRPr sz="1250" b="0" i="0" u="none" strike="noStrike" cap="none">
              <a:solidFill>
                <a:schemeClr val="dk1"/>
              </a:solidFill>
              <a:latin typeface="Calibri"/>
              <a:ea typeface="Calibri"/>
              <a:cs typeface="Calibri"/>
              <a:sym typeface="Calibri"/>
            </a:endParaRPr>
          </a:p>
        </p:txBody>
      </p:sp>
      <p:graphicFrame>
        <p:nvGraphicFramePr>
          <p:cNvPr id="890" name="Google Shape;890;p29"/>
          <p:cNvGraphicFramePr/>
          <p:nvPr/>
        </p:nvGraphicFramePr>
        <p:xfrm>
          <a:off x="54864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Nhịp</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Điều gì xảy ra</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Nhịp 1</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model trả '↓' = action 5 (xin cúi camera)</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Nhịp 2</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gọi lại s2_step(look_down=True) → ra pixel+latent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Kết quả</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101/128 frame ra pixel qua đúng cú 2 nhịp</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1" name="Google Shape;891;p29"/>
          <p:cNvSpPr/>
          <p:nvPr/>
        </p:nvSpPr>
        <p:spPr>
          <a:xfrm>
            <a:off x="6309360" y="2743200"/>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Toạ độ &amp; nhánh output</a:t>
            </a:r>
            <a:endParaRPr sz="1250" b="0" i="0" u="none" strike="noStrike" cap="none">
              <a:solidFill>
                <a:schemeClr val="dk1"/>
              </a:solidFill>
              <a:latin typeface="Calibri"/>
              <a:ea typeface="Calibri"/>
              <a:cs typeface="Calibri"/>
              <a:sym typeface="Calibri"/>
            </a:endParaRPr>
          </a:p>
        </p:txBody>
      </p:sp>
      <p:graphicFrame>
        <p:nvGraphicFramePr>
          <p:cNvPr id="892" name="Google Shape;892;p29"/>
          <p:cNvGraphicFramePr/>
          <p:nvPr/>
        </p:nvGraphicFramePr>
        <p:xfrm>
          <a:off x="6309360" y="3063240"/>
          <a:ext cx="3000000" cy="3000000"/>
        </p:xfrm>
        <a:graphic>
          <a:graphicData uri="http://schemas.openxmlformats.org/drawingml/2006/table">
            <a:tbl>
              <a:tblPr>
                <a:noFill/>
                <a:tableStyleId>{F1D69EF9-3EB6-4A34-B587-486656E65251}</a:tableStyleId>
              </a:tblPr>
              <a:tblGrid>
                <a:gridCol w="1600200">
                  <a:extLst>
                    <a:ext uri="{9D8B030D-6E8A-4147-A177-3AD203B41FA5}">
                      <a16:colId xmlns:a16="http://schemas.microsoft.com/office/drawing/2014/main" val="20000"/>
                    </a:ext>
                  </a:extLst>
                </a:gridCol>
                <a:gridCol w="3730750">
                  <a:extLst>
                    <a:ext uri="{9D8B030D-6E8A-4147-A177-3AD203B41FA5}">
                      <a16:colId xmlns:a16="http://schemas.microsoft.com/office/drawing/2014/main" val="20001"/>
                    </a:ext>
                  </a:extLst>
                </a:gridCol>
              </a:tblGrid>
              <a:tr h="36575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Điểm</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Kết quả thật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Không gian toạ độ</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model nhả 'u v' trong 640×480 gốc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KHÔNG scale 384→640</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scale nhầm thổi L2 41.8 → 206 px</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65750">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pixel lưu [row,col]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Arial"/>
                        <a:buNone/>
                      </a:pPr>
                      <a:r>
                        <a:rPr lang="en-US" sz="1000" u="none" strike="noStrike" cap="none">
                          <a:solidFill>
                            <a:srgbClr val="1B2B31"/>
                          </a:solidFill>
                          <a:latin typeface="Arial"/>
                          <a:ea typeface="Arial"/>
                          <a:cs typeface="Arial"/>
                          <a:sym typeface="Arial"/>
                        </a:rPr>
                        <a:t>= [v, u]; đảo lại khi so với GT goal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893" name="Google Shape;893;p29"/>
          <p:cNvSpPr/>
          <p:nvPr/>
        </p:nvSpPr>
        <p:spPr>
          <a:xfrm>
            <a:off x="548640" y="4617720"/>
            <a:ext cx="11091672" cy="1554480"/>
          </a:xfrm>
          <a:prstGeom prst="roundRect">
            <a:avLst>
              <a:gd name="adj" fmla="val 3529"/>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9"/>
          <p:cNvSpPr/>
          <p:nvPr/>
        </p:nvSpPr>
        <p:spPr>
          <a:xfrm>
            <a:off x="822960" y="477316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250"/>
              <a:buFont typeface="Arial"/>
              <a:buNone/>
            </a:pPr>
            <a:r>
              <a:rPr lang="en-US" sz="1250" b="1" i="0" u="none" strike="noStrike" cap="none">
                <a:solidFill>
                  <a:srgbClr val="D98324"/>
                </a:solidFill>
                <a:latin typeface="Arial"/>
                <a:ea typeface="Arial"/>
                <a:cs typeface="Arial"/>
                <a:sym typeface="Arial"/>
              </a:rPr>
              <a:t>Đọc số liệu cho đúng</a:t>
            </a:r>
            <a:endParaRPr sz="1250" b="0" i="0" u="none" strike="noStrike" cap="none">
              <a:solidFill>
                <a:schemeClr val="dk1"/>
              </a:solidFill>
              <a:latin typeface="Calibri"/>
              <a:ea typeface="Calibri"/>
              <a:cs typeface="Calibri"/>
              <a:sym typeface="Calibri"/>
            </a:endParaRPr>
          </a:p>
        </p:txBody>
      </p:sp>
      <p:sp>
        <p:nvSpPr>
          <p:cNvPr id="895" name="Google Shape;895;p29"/>
          <p:cNvSpPr/>
          <p:nvPr/>
        </p:nvSpPr>
        <p:spPr>
          <a:xfrm>
            <a:off x="822960" y="5074920"/>
            <a:ext cx="10451592" cy="96012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L2 41.8 px trên 640×480: 12 outlier &gt;100px (3 là frame 0–2 ep0 chưa có history) — median 20 px sát thực tế hơn.</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Action acc 37% trông thấp nhưng 10/17 lỗi là 'STOP sớm' dồn cuối episode; chỉ 7 lỗi điều hướng thật giữa episode.</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S2 ~35.5 s/frame gồm ~2 lần generate/frame (look-down) — cả run 128 frame ≈ 75 phút trên T4×2.</a:t>
            </a:r>
            <a:endParaRPr sz="1050" b="0" i="0" u="none" strike="noStrike" cap="none">
              <a:solidFill>
                <a:schemeClr val="dk1"/>
              </a:solidFill>
              <a:latin typeface="Calibri"/>
              <a:ea typeface="Calibri"/>
              <a:cs typeface="Calibri"/>
              <a:sym typeface="Calibri"/>
            </a:endParaRPr>
          </a:p>
        </p:txBody>
      </p:sp>
      <p:sp>
        <p:nvSpPr>
          <p:cNvPr id="896" name="Google Shape;896;p29"/>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Nguồn: 05_appendix.md PL-E3 · results.json · 06_eval_plan Phase E–G</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30"/>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RANH GIỚI BẰNG CHỨNG</a:t>
            </a:r>
            <a:endParaRPr sz="1050" b="0" i="0" u="none" strike="noStrike" cap="none">
              <a:solidFill>
                <a:schemeClr val="dk1"/>
              </a:solidFill>
              <a:latin typeface="Calibri"/>
              <a:ea typeface="Calibri"/>
              <a:cs typeface="Calibri"/>
              <a:sym typeface="Calibri"/>
            </a:endParaRPr>
          </a:p>
        </p:txBody>
      </p:sp>
      <p:sp>
        <p:nvSpPr>
          <p:cNvPr id="903" name="Google Shape;903;p30"/>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Notebook chính thức chứng minh gì — và không chứng minh gì</a:t>
            </a:r>
            <a:endParaRPr sz="2500" b="0" i="0" u="none" strike="noStrike" cap="none">
              <a:solidFill>
                <a:schemeClr val="dk1"/>
              </a:solidFill>
              <a:latin typeface="Calibri"/>
              <a:ea typeface="Calibri"/>
              <a:cs typeface="Calibri"/>
              <a:sym typeface="Calibri"/>
            </a:endParaRPr>
          </a:p>
        </p:txBody>
      </p:sp>
      <p:sp>
        <p:nvSpPr>
          <p:cNvPr id="904" name="Google Shape;904;p30"/>
          <p:cNvSpPr/>
          <p:nvPr/>
        </p:nvSpPr>
        <p:spPr>
          <a:xfrm>
            <a:off x="548640" y="1417320"/>
            <a:ext cx="5349240" cy="2743200"/>
          </a:xfrm>
          <a:prstGeom prst="roundRect">
            <a:avLst>
              <a:gd name="adj" fmla="val 2000"/>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0"/>
          <p:cNvSpPr/>
          <p:nvPr/>
        </p:nvSpPr>
        <p:spPr>
          <a:xfrm>
            <a:off x="822960" y="1627632"/>
            <a:ext cx="365760" cy="365760"/>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0"/>
          <p:cNvSpPr/>
          <p:nvPr/>
        </p:nvSpPr>
        <p:spPr>
          <a:xfrm>
            <a:off x="822960"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i="0" u="none" strike="noStrike" cap="none">
                <a:solidFill>
                  <a:srgbClr val="FFFFFF"/>
                </a:solidFill>
                <a:latin typeface="Arial"/>
                <a:ea typeface="Arial"/>
                <a:cs typeface="Arial"/>
                <a:sym typeface="Arial"/>
              </a:rPr>
              <a:t>✓</a:t>
            </a:r>
            <a:endParaRPr sz="1300" b="0" i="0" u="none" strike="noStrike" cap="none">
              <a:solidFill>
                <a:schemeClr val="dk1"/>
              </a:solidFill>
              <a:latin typeface="Calibri"/>
              <a:ea typeface="Calibri"/>
              <a:cs typeface="Calibri"/>
              <a:sym typeface="Calibri"/>
            </a:endParaRPr>
          </a:p>
        </p:txBody>
      </p:sp>
      <p:sp>
        <p:nvSpPr>
          <p:cNvPr id="907" name="Google Shape;907;p30"/>
          <p:cNvSpPr/>
          <p:nvPr/>
        </p:nvSpPr>
        <p:spPr>
          <a:xfrm>
            <a:off x="1325880"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350"/>
              <a:buFont typeface="Arial"/>
              <a:buNone/>
            </a:pPr>
            <a:r>
              <a:rPr lang="en-US" sz="1350" b="1" i="0" u="none" strike="noStrike" cap="none">
                <a:solidFill>
                  <a:srgbClr val="00A896"/>
                </a:solidFill>
                <a:latin typeface="Arial"/>
                <a:ea typeface="Arial"/>
                <a:cs typeface="Arial"/>
                <a:sym typeface="Arial"/>
              </a:rPr>
              <a:t>Notebook CHỨNG MINH</a:t>
            </a:r>
            <a:endParaRPr sz="1350" b="0" i="0" u="none" strike="noStrike" cap="none">
              <a:solidFill>
                <a:schemeClr val="dk1"/>
              </a:solidFill>
              <a:latin typeface="Calibri"/>
              <a:ea typeface="Calibri"/>
              <a:cs typeface="Calibri"/>
              <a:sym typeface="Calibri"/>
            </a:endParaRPr>
          </a:p>
        </p:txBody>
      </p:sp>
      <p:sp>
        <p:nvSpPr>
          <p:cNvPr id="908" name="Google Shape;908;p30"/>
          <p:cNvSpPr/>
          <p:nvPr/>
        </p:nvSpPr>
        <p:spPr>
          <a:xfrm>
            <a:off x="841248"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Cách load custom InternVLAN1ForCausalLM</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API InternVLAN1AsyncAgent.step(rgb, depth, pose, instruction, intrinsic)</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History frame, plan_step_gap, pixel output, latent, quỹ đạo liên tục</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Depth phải aligned với RGB và có đơn vị mét</a:t>
            </a:r>
            <a:endParaRPr sz="1150" b="0" i="0" u="none" strike="noStrike" cap="none">
              <a:solidFill>
                <a:schemeClr val="dk1"/>
              </a:solidFill>
              <a:latin typeface="Calibri"/>
              <a:ea typeface="Calibri"/>
              <a:cs typeface="Calibri"/>
              <a:sym typeface="Calibri"/>
            </a:endParaRPr>
          </a:p>
        </p:txBody>
      </p:sp>
      <p:sp>
        <p:nvSpPr>
          <p:cNvPr id="909" name="Google Shape;909;p30"/>
          <p:cNvSpPr/>
          <p:nvPr/>
        </p:nvSpPr>
        <p:spPr>
          <a:xfrm>
            <a:off x="6291072" y="1417320"/>
            <a:ext cx="5349240" cy="2743200"/>
          </a:xfrm>
          <a:prstGeom prst="roundRect">
            <a:avLst>
              <a:gd name="adj" fmla="val 2000"/>
            </a:avLst>
          </a:prstGeom>
          <a:solidFill>
            <a:srgbClr val="FFFFFF"/>
          </a:solidFill>
          <a:ln w="16500" cap="flat" cmpd="sng">
            <a:solidFill>
              <a:srgbClr val="D9832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0"/>
          <p:cNvSpPr/>
          <p:nvPr/>
        </p:nvSpPr>
        <p:spPr>
          <a:xfrm>
            <a:off x="6565392" y="1627632"/>
            <a:ext cx="365760" cy="365760"/>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0"/>
          <p:cNvSpPr/>
          <p:nvPr/>
        </p:nvSpPr>
        <p:spPr>
          <a:xfrm>
            <a:off x="6565392" y="162763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a:t>
            </a:r>
            <a:endParaRPr sz="1400" b="0" i="0" u="none" strike="noStrike" cap="none">
              <a:solidFill>
                <a:schemeClr val="dk1"/>
              </a:solidFill>
              <a:latin typeface="Calibri"/>
              <a:ea typeface="Calibri"/>
              <a:cs typeface="Calibri"/>
              <a:sym typeface="Calibri"/>
            </a:endParaRPr>
          </a:p>
        </p:txBody>
      </p:sp>
      <p:sp>
        <p:nvSpPr>
          <p:cNvPr id="912" name="Google Shape;912;p30"/>
          <p:cNvSpPr/>
          <p:nvPr/>
        </p:nvSpPr>
        <p:spPr>
          <a:xfrm>
            <a:off x="7068312" y="1664208"/>
            <a:ext cx="42976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350"/>
              <a:buFont typeface="Arial"/>
              <a:buNone/>
            </a:pPr>
            <a:r>
              <a:rPr lang="en-US" sz="1350" b="1" i="0" u="none" strike="noStrike" cap="none">
                <a:solidFill>
                  <a:srgbClr val="D98324"/>
                </a:solidFill>
                <a:latin typeface="Arial"/>
                <a:ea typeface="Arial"/>
                <a:cs typeface="Arial"/>
                <a:sym typeface="Arial"/>
              </a:rPr>
              <a:t>Notebook KHÔNG chứng minh</a:t>
            </a:r>
            <a:endParaRPr sz="1350" b="0" i="0" u="none" strike="noStrike" cap="none">
              <a:solidFill>
                <a:schemeClr val="dk1"/>
              </a:solidFill>
              <a:latin typeface="Calibri"/>
              <a:ea typeface="Calibri"/>
              <a:cs typeface="Calibri"/>
              <a:sym typeface="Calibri"/>
            </a:endParaRPr>
          </a:p>
        </p:txBody>
      </p:sp>
      <p:sp>
        <p:nvSpPr>
          <p:cNvPr id="913" name="Google Shape;913;p30"/>
          <p:cNvSpPr/>
          <p:nvPr/>
        </p:nvSpPr>
        <p:spPr>
          <a:xfrm>
            <a:off x="6583680" y="2194560"/>
            <a:ext cx="4800600" cy="1783080"/>
          </a:xfrm>
          <a:prstGeom prst="rect">
            <a:avLst/>
          </a:prstGeom>
          <a:noFill/>
          <a:ln>
            <a:noFill/>
          </a:ln>
        </p:spPr>
        <p:txBody>
          <a:bodyPr spcFirstLastPara="1" wrap="square" lIns="0" tIns="0" rIns="0" bIns="0" anchor="ctr" anchorCtr="0">
            <a:noAutofit/>
          </a:bodyPr>
          <a:lstStyle/>
          <a:p>
            <a:pPr marL="342900" marR="0" lvl="0" indent="-342900" algn="l" rtl="0">
              <a:lnSpc>
                <a:spcPct val="147826"/>
              </a:lnSpc>
              <a:spcBef>
                <a:spcPts val="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Chất lượng S1 trên sample đi kèm — sample real-world quên ghi depth</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Cell demo dùng depth giả toàn giá trị 10 m</a:t>
            </a:r>
            <a:endParaRPr sz="1150" b="0" i="0" u="none" strike="noStrike" cap="none">
              <a:solidFill>
                <a:schemeClr val="dk1"/>
              </a:solidFill>
              <a:latin typeface="Calibri"/>
              <a:ea typeface="Calibri"/>
              <a:cs typeface="Calibri"/>
              <a:sym typeface="Calibri"/>
            </a:endParaRPr>
          </a:p>
          <a:p>
            <a:pPr marL="342900" marR="0" lvl="0" indent="-342900" algn="l" rtl="0">
              <a:lnSpc>
                <a:spcPct val="147826"/>
              </a:lnSpc>
              <a:spcBef>
                <a:spcPts val="700"/>
              </a:spcBef>
              <a:spcAft>
                <a:spcPts val="0"/>
              </a:spcAft>
              <a:buClr>
                <a:srgbClr val="1B2B31"/>
              </a:buClr>
              <a:buSzPts val="1150"/>
              <a:buFont typeface="Arial"/>
              <a:buChar char="•"/>
            </a:pPr>
            <a:r>
              <a:rPr lang="en-US" sz="1150" b="0" i="0" u="none" strike="noStrike" cap="none">
                <a:solidFill>
                  <a:srgbClr val="1B2B31"/>
                </a:solidFill>
                <a:latin typeface="Arial"/>
                <a:ea typeface="Arial"/>
                <a:cs typeface="Arial"/>
                <a:sym typeface="Arial"/>
              </a:rPr>
              <a:t>Chính notebook cảnh báo quỹ đạo sẽ ngắn và yêu cầu dữ liệu tự thu phải ghi cả aligned RGB/depth</a:t>
            </a:r>
            <a:endParaRPr sz="1150" b="0" i="0" u="none" strike="noStrike" cap="none">
              <a:solidFill>
                <a:schemeClr val="dk1"/>
              </a:solidFill>
              <a:latin typeface="Calibri"/>
              <a:ea typeface="Calibri"/>
              <a:cs typeface="Calibri"/>
              <a:sym typeface="Calibri"/>
            </a:endParaRPr>
          </a:p>
        </p:txBody>
      </p:sp>
      <p:sp>
        <p:nvSpPr>
          <p:cNvPr id="914" name="Google Shape;914;p30"/>
          <p:cNvSpPr/>
          <p:nvPr/>
        </p:nvSpPr>
        <p:spPr>
          <a:xfrm>
            <a:off x="548640" y="4434840"/>
            <a:ext cx="11091672" cy="1783080"/>
          </a:xfrm>
          <a:prstGeom prst="roundRect">
            <a:avLst>
              <a:gd name="adj" fmla="val 3077"/>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0"/>
          <p:cNvSpPr/>
          <p:nvPr/>
        </p:nvSpPr>
        <p:spPr>
          <a:xfrm>
            <a:off x="868680" y="4645152"/>
            <a:ext cx="6400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400"/>
              <a:buFont typeface="Arial"/>
              <a:buNone/>
            </a:pPr>
            <a:r>
              <a:rPr lang="en-US" sz="1400" b="1" i="0" u="none" strike="noStrike" cap="none">
                <a:solidFill>
                  <a:srgbClr val="00A896"/>
                </a:solidFill>
                <a:latin typeface="Arial"/>
                <a:ea typeface="Arial"/>
                <a:cs typeface="Arial"/>
                <a:sym typeface="Arial"/>
              </a:rPr>
              <a:t>Kết quả standalone bổ sung đúng phần còn thiếu</a:t>
            </a:r>
            <a:endParaRPr sz="1400" b="0" i="0" u="none" strike="noStrike" cap="none">
              <a:solidFill>
                <a:schemeClr val="dk1"/>
              </a:solidFill>
              <a:latin typeface="Calibri"/>
              <a:ea typeface="Calibri"/>
              <a:cs typeface="Calibri"/>
              <a:sym typeface="Calibri"/>
            </a:endParaRPr>
          </a:p>
        </p:txBody>
      </p:sp>
      <p:sp>
        <p:nvSpPr>
          <p:cNvPr id="916" name="Google Shape;916;p30"/>
          <p:cNvSpPr/>
          <p:nvPr/>
        </p:nvSpPr>
        <p:spPr>
          <a:xfrm>
            <a:off x="868680" y="4983480"/>
            <a:ext cx="10424160" cy="82296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C7DADC"/>
              </a:buClr>
              <a:buSzPts val="1250"/>
              <a:buFont typeface="Arial"/>
              <a:buNone/>
            </a:pPr>
            <a:r>
              <a:rPr lang="en-US" sz="1250" b="0" i="0" u="none" strike="noStrike" cap="none">
                <a:solidFill>
                  <a:srgbClr val="C7DADC"/>
                </a:solidFill>
                <a:latin typeface="Arial"/>
                <a:ea typeface="Arial"/>
                <a:cs typeface="Arial"/>
                <a:sym typeface="Arial"/>
              </a:rPr>
              <a:t>Lần chạy real-data dùng depth thật từ InternData-N1, đúng loader và đúng đơn vị mét — tức là lấp vào chỗ notebook để trống. Nhưng nó vẫn KHÔNG thay thế được một lần chạy dual-system 7B end-to-end.</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31"/>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VẬN HÀNH</a:t>
            </a:r>
            <a:endParaRPr sz="1050" b="0" i="0" u="none" strike="noStrike" cap="none">
              <a:solidFill>
                <a:schemeClr val="dk1"/>
              </a:solidFill>
              <a:latin typeface="Calibri"/>
              <a:ea typeface="Calibri"/>
              <a:cs typeface="Calibri"/>
              <a:sym typeface="Calibri"/>
            </a:endParaRPr>
          </a:p>
        </p:txBody>
      </p:sp>
      <p:sp>
        <p:nvSpPr>
          <p:cNvPr id="923" name="Google Shape;923;p31"/>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Các failure mode cần nhớ</a:t>
            </a:r>
            <a:endParaRPr sz="2500" b="0" i="0" u="none" strike="noStrike" cap="none">
              <a:solidFill>
                <a:schemeClr val="dk1"/>
              </a:solidFill>
              <a:latin typeface="Calibri"/>
              <a:ea typeface="Calibri"/>
              <a:cs typeface="Calibri"/>
              <a:sym typeface="Calibri"/>
            </a:endParaRPr>
          </a:p>
        </p:txBody>
      </p:sp>
      <p:graphicFrame>
        <p:nvGraphicFramePr>
          <p:cNvPr id="924" name="Google Shape;924;p31"/>
          <p:cNvGraphicFramePr/>
          <p:nvPr/>
        </p:nvGraphicFramePr>
        <p:xfrm>
          <a:off x="548640" y="1371600"/>
          <a:ext cx="3000000" cy="3000000"/>
        </p:xfrm>
        <a:graphic>
          <a:graphicData uri="http://schemas.openxmlformats.org/drawingml/2006/table">
            <a:tbl>
              <a:tblPr>
                <a:noFill/>
                <a:tableStyleId>{F1D69EF9-3EB6-4A34-B587-486656E65251}</a:tableStyleId>
              </a:tblPr>
              <a:tblGrid>
                <a:gridCol w="3017525">
                  <a:extLst>
                    <a:ext uri="{9D8B030D-6E8A-4147-A177-3AD203B41FA5}">
                      <a16:colId xmlns:a16="http://schemas.microsoft.com/office/drawing/2014/main" val="20000"/>
                    </a:ext>
                  </a:extLst>
                </a:gridCol>
                <a:gridCol w="3794750">
                  <a:extLst>
                    <a:ext uri="{9D8B030D-6E8A-4147-A177-3AD203B41FA5}">
                      <a16:colId xmlns:a16="http://schemas.microsoft.com/office/drawing/2014/main" val="20001"/>
                    </a:ext>
                  </a:extLst>
                </a:gridCol>
                <a:gridCol w="42794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rgbClr val="FFFFFF"/>
                        </a:buClr>
                        <a:buSzPts val="1050"/>
                        <a:buFont typeface="Arial"/>
                        <a:buNone/>
                      </a:pPr>
                      <a:r>
                        <a:rPr lang="en-US" sz="1050" b="1" u="none" strike="noStrike" cap="none">
                          <a:solidFill>
                            <a:srgbClr val="FFFFFF"/>
                          </a:solidFill>
                          <a:latin typeface="Arial"/>
                          <a:ea typeface="Arial"/>
                          <a:cs typeface="Arial"/>
                          <a:sym typeface="Arial"/>
                        </a:rPr>
                        <a:t>Hiện tượng</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50"/>
                        <a:buFont typeface="Arial"/>
                        <a:buNone/>
                      </a:pPr>
                      <a:r>
                        <a:rPr lang="en-US" sz="1050" b="1" u="none" strike="noStrike" cap="none">
                          <a:solidFill>
                            <a:srgbClr val="FFFFFF"/>
                          </a:solidFill>
                          <a:latin typeface="Arial"/>
                          <a:ea typeface="Arial"/>
                          <a:cs typeface="Arial"/>
                          <a:sym typeface="Arial"/>
                        </a:rPr>
                        <a:t>Nguyên nhân thường gặp</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50"/>
                        <a:buFont typeface="Arial"/>
                        <a:buNone/>
                      </a:pPr>
                      <a:r>
                        <a:rPr lang="en-US" sz="1050" b="1" u="none" strike="noStrike" cap="none">
                          <a:solidFill>
                            <a:srgbClr val="FFFFFF"/>
                          </a:solidFill>
                          <a:latin typeface="Arial"/>
                          <a:ea typeface="Arial"/>
                          <a:cs typeface="Arial"/>
                          <a:sym typeface="Arial"/>
                        </a:rPr>
                        <a:t>Cách kiểm tra</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S1 output rất ngắn / vô lý</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Depth giả, sai đơn vị hoặc invalid</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In min/max depth theo mét; kiểm tra aligned RGB-D</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Lỗi shape positional embedding</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Nhầm contract standalone và dual async; lặp depth sai</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Standalone: 8 RGB + 1 depth · dual async: 2 RGB + 2 depth</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VLM chạy nhưng không có latent/NavDP</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Load bằng Qwen/AutoModel thuần</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Dùng custom InternVLAN1ForCausalLM; kiểm tra custom keys</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Pixel bị vẽ lệch</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Nhầm [x, y] với [y, x]</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Parser lưu [y, x]; OpenCV circle nhận (x, y)</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4"/>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Episode mới hành động sai ngay đầu</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Quên reset()</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Xoá history, latent, cached action và counters</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Preview loader lỗi image_index</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Metadata mới lồng dưới stats</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Dùng compatibility discovery như adapter Ngày 2</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6"/>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Obstacle critic không thật</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Preview thiếu meta/pointcloud.ply</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Không đánh đồng path.ply với obstacle point cloud</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84050">
                <a:tc>
                  <a:txBody>
                    <a:bodyPr/>
                    <a:lstStyle/>
                    <a:p>
                      <a:pPr marL="0" marR="0" lvl="0" indent="0" algn="l" rtl="0">
                        <a:spcBef>
                          <a:spcPts val="0"/>
                        </a:spcBef>
                        <a:spcAft>
                          <a:spcPts val="0"/>
                        </a:spcAft>
                        <a:buClr>
                          <a:srgbClr val="1B2B31"/>
                        </a:buClr>
                        <a:buSzPts val="1050"/>
                        <a:buFont typeface="Arial"/>
                        <a:buNone/>
                      </a:pPr>
                      <a:r>
                        <a:rPr lang="en-US" sz="1050" b="1" u="none" strike="noStrike" cap="none">
                          <a:solidFill>
                            <a:srgbClr val="1B2B31"/>
                          </a:solidFill>
                          <a:latin typeface="Arial"/>
                          <a:ea typeface="Arial"/>
                          <a:cs typeface="Arial"/>
                          <a:sym typeface="Arial"/>
                        </a:rPr>
                        <a:t>positive/negative có cùng range</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sample_num quá nhỏ so với top-8</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50"/>
                        <a:buFont typeface="Arial"/>
                        <a:buNone/>
                      </a:pPr>
                      <a:r>
                        <a:rPr lang="en-US" sz="1050" u="none" strike="noStrike" cap="none">
                          <a:solidFill>
                            <a:srgbClr val="1B2B31"/>
                          </a:solidFill>
                          <a:latin typeface="Arial"/>
                          <a:ea typeface="Arial"/>
                          <a:cs typeface="Arial"/>
                          <a:sym typeface="Arial"/>
                        </a:rPr>
                        <a:t>Với K = 2, cả hai nhóm chứa cùng hai candidate</a:t>
                      </a:r>
                      <a:endParaRPr sz="105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32"/>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TIẾN ĐỘ</a:t>
            </a:r>
            <a:endParaRPr sz="1050" b="0" i="0" u="none" strike="noStrike" cap="none">
              <a:solidFill>
                <a:schemeClr val="dk1"/>
              </a:solidFill>
              <a:latin typeface="Calibri"/>
              <a:ea typeface="Calibri"/>
              <a:cs typeface="Calibri"/>
              <a:sym typeface="Calibri"/>
            </a:endParaRPr>
          </a:p>
        </p:txBody>
      </p:sp>
      <p:sp>
        <p:nvSpPr>
          <p:cNvPr id="931" name="Google Shape;931;p32"/>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Nhánh A (standalone) và nhánh B (dual-system open-loop) đã đóng</a:t>
            </a:r>
            <a:endParaRPr sz="2500" b="0" i="0" u="none" strike="noStrike" cap="none">
              <a:solidFill>
                <a:schemeClr val="dk1"/>
              </a:solidFill>
              <a:latin typeface="Calibri"/>
              <a:ea typeface="Calibri"/>
              <a:cs typeface="Calibri"/>
              <a:sym typeface="Calibri"/>
            </a:endParaRPr>
          </a:p>
        </p:txBody>
      </p:sp>
      <p:sp>
        <p:nvSpPr>
          <p:cNvPr id="932" name="Google Shape;932;p32"/>
          <p:cNvSpPr/>
          <p:nvPr/>
        </p:nvSpPr>
        <p:spPr>
          <a:xfrm>
            <a:off x="548640" y="1371600"/>
            <a:ext cx="3566160" cy="3886200"/>
          </a:xfrm>
          <a:prstGeom prst="roundRect">
            <a:avLst>
              <a:gd name="adj" fmla="val 1538"/>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2"/>
          <p:cNvSpPr/>
          <p:nvPr/>
        </p:nvSpPr>
        <p:spPr>
          <a:xfrm>
            <a:off x="804672"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050"/>
              <a:buFont typeface="Arial"/>
              <a:buNone/>
            </a:pPr>
            <a:r>
              <a:rPr lang="en-US" sz="1050" b="1" i="0" u="none" strike="noStrike" cap="none">
                <a:solidFill>
                  <a:srgbClr val="00A896"/>
                </a:solidFill>
                <a:latin typeface="Arial"/>
                <a:ea typeface="Arial"/>
                <a:cs typeface="Arial"/>
                <a:sym typeface="Arial"/>
              </a:rPr>
              <a:t>NGÀY 1 — MÔI TRƯỜNG</a:t>
            </a:r>
            <a:endParaRPr sz="1050" b="0" i="0" u="none" strike="noStrike" cap="none">
              <a:solidFill>
                <a:schemeClr val="dk1"/>
              </a:solidFill>
              <a:latin typeface="Calibri"/>
              <a:ea typeface="Calibri"/>
              <a:cs typeface="Calibri"/>
              <a:sym typeface="Calibri"/>
            </a:endParaRPr>
          </a:p>
        </p:txBody>
      </p:sp>
      <p:sp>
        <p:nvSpPr>
          <p:cNvPr id="934" name="Google Shape;934;p32"/>
          <p:cNvSpPr/>
          <p:nvPr/>
        </p:nvSpPr>
        <p:spPr>
          <a:xfrm>
            <a:off x="804672" y="1920240"/>
            <a:ext cx="3154680" cy="3108960"/>
          </a:xfrm>
          <a:prstGeom prst="rect">
            <a:avLst/>
          </a:prstGeom>
          <a:noFill/>
          <a:ln>
            <a:noFill/>
          </a:ln>
        </p:spPr>
        <p:txBody>
          <a:bodyPr spcFirstLastPara="1" wrap="square" lIns="0" tIns="0" rIns="0" bIns="0" anchor="ctr" anchorCtr="0">
            <a:noAutofit/>
          </a:bodyPr>
          <a:lstStyle/>
          <a:p>
            <a:pPr marL="342900" marR="0" lvl="0" indent="-342900" algn="l" rtl="0">
              <a:lnSpc>
                <a:spcPct val="115000"/>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WSL2 nhận GPU, torch.cuda.is_available() == True</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Env internnav-s1 hoạt động, import internnav thành công</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Khởi tạo submodule LongCLIP và diffusion-policy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Có checkpoint DepthAnything và NavDP standalone</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Smoke inference GPU local đã chạy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Bổ sung dependency loader InternData, pip check sạch</a:t>
            </a:r>
            <a:endParaRPr sz="1050" b="0" i="0" u="none" strike="noStrike" cap="none">
              <a:solidFill>
                <a:schemeClr val="dk1"/>
              </a:solidFill>
              <a:latin typeface="Calibri"/>
              <a:ea typeface="Calibri"/>
              <a:cs typeface="Calibri"/>
              <a:sym typeface="Calibri"/>
            </a:endParaRPr>
          </a:p>
        </p:txBody>
      </p:sp>
      <p:sp>
        <p:nvSpPr>
          <p:cNvPr id="935" name="Google Shape;935;p32"/>
          <p:cNvSpPr/>
          <p:nvPr/>
        </p:nvSpPr>
        <p:spPr>
          <a:xfrm>
            <a:off x="4315968" y="1371600"/>
            <a:ext cx="3566160" cy="3886200"/>
          </a:xfrm>
          <a:prstGeom prst="roundRect">
            <a:avLst>
              <a:gd name="adj" fmla="val 1538"/>
            </a:avLst>
          </a:prstGeom>
          <a:solidFill>
            <a:srgbClr val="FFFFFF"/>
          </a:solidFill>
          <a:ln w="16500" cap="flat" cmpd="sng">
            <a:solidFill>
              <a:srgbClr val="00A8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2"/>
          <p:cNvSpPr/>
          <p:nvPr/>
        </p:nvSpPr>
        <p:spPr>
          <a:xfrm>
            <a:off x="4553712"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050"/>
              <a:buFont typeface="Arial"/>
              <a:buNone/>
            </a:pPr>
            <a:r>
              <a:rPr lang="en-US" sz="1050" b="1" i="0" u="none" strike="noStrike" cap="none">
                <a:solidFill>
                  <a:srgbClr val="00A896"/>
                </a:solidFill>
                <a:latin typeface="Arial"/>
                <a:ea typeface="Arial"/>
                <a:cs typeface="Arial"/>
                <a:sym typeface="Arial"/>
              </a:rPr>
              <a:t>NGÀY 2 — NHÁNH A (NAVDP)</a:t>
            </a:r>
            <a:endParaRPr sz="1050" b="0" i="0" u="none" strike="noStrike" cap="none">
              <a:solidFill>
                <a:schemeClr val="dk1"/>
              </a:solidFill>
              <a:latin typeface="Calibri"/>
              <a:ea typeface="Calibri"/>
              <a:cs typeface="Calibri"/>
              <a:sym typeface="Calibri"/>
            </a:endParaRPr>
          </a:p>
        </p:txBody>
      </p:sp>
      <p:sp>
        <p:nvSpPr>
          <p:cNvPr id="937" name="Google Shape;937;p32"/>
          <p:cNvSpPr/>
          <p:nvPr/>
        </p:nvSpPr>
        <p:spPr>
          <a:xfrm>
            <a:off x="4553712" y="1920240"/>
            <a:ext cx="3154680" cy="3108960"/>
          </a:xfrm>
          <a:prstGeom prst="rect">
            <a:avLst/>
          </a:prstGeom>
          <a:noFill/>
          <a:ln>
            <a:noFill/>
          </a:ln>
        </p:spPr>
        <p:txBody>
          <a:bodyPr spcFirstLastPara="1" wrap="square" lIns="0" tIns="0" rIns="0" bIns="0" anchor="ctr" anchorCtr="0">
            <a:noAutofit/>
          </a:bodyPr>
          <a:lstStyle/>
          <a:p>
            <a:pPr marL="342900" marR="0" lvl="0" indent="-342900" algn="l" rtl="0">
              <a:lnSpc>
                <a:spcPct val="115000"/>
              </a:lnSpc>
              <a:spcBef>
                <a:spcPts val="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Tải chọn lọc InternData-N1: sample vln_n1 (tar.gz) + vln_ce/vln_pe — preview/ không tồn tại</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Hiểu và ghi lại cấu trúc LeRobot/InternNav</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Tìm đúng sample vln_n1 có đủ RGB, depth, camera matrices</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Dùng preprocessing/geometry chính thức thay dummy tensor</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Chạy NavDP standalone trên RGB/depth/goal thật</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Xác minh shape, dtype, range, finite, latency, CUDA memory</a:t>
            </a:r>
            <a:endParaRPr sz="1050" b="0" i="0" u="none" strike="noStrike" cap="none">
              <a:solidFill>
                <a:schemeClr val="dk1"/>
              </a:solidFill>
              <a:latin typeface="Calibri"/>
              <a:ea typeface="Calibri"/>
              <a:cs typeface="Calibri"/>
              <a:sym typeface="Calibri"/>
            </a:endParaRPr>
          </a:p>
          <a:p>
            <a:pPr marL="342900" marR="0" lvl="0" indent="-342900" algn="l" rtl="0">
              <a:lnSpc>
                <a:spcPct val="115000"/>
              </a:lnSpc>
              <a:spcBef>
                <a:spcPts val="700"/>
              </a:spcBef>
              <a:spcAft>
                <a:spcPts val="0"/>
              </a:spcAft>
              <a:buClr>
                <a:srgbClr val="1B2B31"/>
              </a:buClr>
              <a:buSzPts val="1050"/>
              <a:buFont typeface="Arial"/>
              <a:buChar char="•"/>
            </a:pPr>
            <a:r>
              <a:rPr lang="en-US" sz="1050" b="0" i="0" u="none" strike="noStrike" cap="none">
                <a:solidFill>
                  <a:srgbClr val="1B2B31"/>
                </a:solidFill>
                <a:latin typeface="Arial"/>
                <a:ea typeface="Arial"/>
                <a:cs typeface="Arial"/>
                <a:sym typeface="Arial"/>
              </a:rPr>
              <a:t>Có script tái sử dụng, JSON log và tài liệu I/O</a:t>
            </a:r>
            <a:endParaRPr sz="1050" b="0" i="0" u="none" strike="noStrike" cap="none">
              <a:solidFill>
                <a:schemeClr val="dk1"/>
              </a:solidFill>
              <a:latin typeface="Calibri"/>
              <a:ea typeface="Calibri"/>
              <a:cs typeface="Calibri"/>
              <a:sym typeface="Calibri"/>
            </a:endParaRPr>
          </a:p>
        </p:txBody>
      </p:sp>
      <p:sp>
        <p:nvSpPr>
          <p:cNvPr id="938" name="Google Shape;938;p32"/>
          <p:cNvSpPr/>
          <p:nvPr/>
        </p:nvSpPr>
        <p:spPr>
          <a:xfrm>
            <a:off x="8074152" y="1371600"/>
            <a:ext cx="3566160" cy="3886200"/>
          </a:xfrm>
          <a:prstGeom prst="roundRect">
            <a:avLst>
              <a:gd name="adj" fmla="val 1538"/>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2"/>
          <p:cNvSpPr/>
          <p:nvPr/>
        </p:nvSpPr>
        <p:spPr>
          <a:xfrm>
            <a:off x="8321040" y="1572768"/>
            <a:ext cx="31089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050"/>
              <a:buFont typeface="Arial"/>
              <a:buNone/>
            </a:pPr>
            <a:r>
              <a:rPr lang="en-US" sz="1050" b="1" i="0" u="none" strike="noStrike" cap="none">
                <a:solidFill>
                  <a:srgbClr val="D98324"/>
                </a:solidFill>
                <a:latin typeface="Arial"/>
                <a:ea typeface="Arial"/>
                <a:cs typeface="Arial"/>
                <a:sym typeface="Arial"/>
              </a:rPr>
              <a:t>CÒN LẠI — CLOSED-LOOP / EVAL</a:t>
            </a:r>
            <a:endParaRPr sz="1050" b="0" i="0" u="none" strike="noStrike" cap="none">
              <a:solidFill>
                <a:schemeClr val="dk1"/>
              </a:solidFill>
              <a:latin typeface="Calibri"/>
              <a:ea typeface="Calibri"/>
              <a:cs typeface="Calibri"/>
              <a:sym typeface="Calibri"/>
            </a:endParaRPr>
          </a:p>
        </p:txBody>
      </p:sp>
      <p:sp>
        <p:nvSpPr>
          <p:cNvPr id="940" name="Google Shape;940;p32"/>
          <p:cNvSpPr/>
          <p:nvPr/>
        </p:nvSpPr>
        <p:spPr>
          <a:xfrm>
            <a:off x="8321040" y="1920240"/>
            <a:ext cx="3154680" cy="2377440"/>
          </a:xfrm>
          <a:prstGeom prst="rect">
            <a:avLst/>
          </a:prstGeom>
          <a:noFill/>
          <a:ln>
            <a:noFill/>
          </a:ln>
        </p:spPr>
        <p:txBody>
          <a:bodyPr spcFirstLastPara="1" wrap="square" lIns="0" tIns="0" rIns="0" bIns="0" anchor="ctr" anchorCtr="0">
            <a:noAutofit/>
          </a:bodyPr>
          <a:lstStyle/>
          <a:p>
            <a:pPr marL="342900" marR="0" lvl="0" indent="-342900" algn="l" rtl="0">
              <a:lnSpc>
                <a:spcPct val="161904"/>
              </a:lnSpc>
              <a:spcBef>
                <a:spcPts val="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Chạy closed-loop trong Habitat/Isaac → chưa có SR/SPL thật</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Xác nhận trên split chính thức R2R val_unseen / MP3D</a:t>
            </a:r>
            <a:endParaRPr sz="1050" b="0" i="0" u="none" strike="noStrike" cap="none">
              <a:solidFill>
                <a:schemeClr val="dk1"/>
              </a:solidFill>
              <a:latin typeface="Calibri"/>
              <a:ea typeface="Calibri"/>
              <a:cs typeface="Calibri"/>
              <a:sym typeface="Calibri"/>
            </a:endParaRPr>
          </a:p>
          <a:p>
            <a:pPr marL="342900" marR="0" lvl="0" indent="-342900" algn="l" rtl="0">
              <a:lnSpc>
                <a:spcPct val="161904"/>
              </a:lnSpc>
              <a:spcBef>
                <a:spcPts val="700"/>
              </a:spcBef>
              <a:spcAft>
                <a:spcPts val="0"/>
              </a:spcAft>
              <a:buClr>
                <a:srgbClr val="C7DADC"/>
              </a:buClr>
              <a:buSzPts val="1050"/>
              <a:buFont typeface="Arial"/>
              <a:buChar char="•"/>
            </a:pPr>
            <a:r>
              <a:rPr lang="en-US" sz="1050" b="0" i="0" u="none" strike="noStrike" cap="none">
                <a:solidFill>
                  <a:srgbClr val="C7DADC"/>
                </a:solidFill>
                <a:latin typeface="Arial"/>
                <a:ea typeface="Arial"/>
                <a:cs typeface="Arial"/>
                <a:sym typeface="Arial"/>
              </a:rPr>
              <a:t>Dựng env eval đầy đủ + đo latency S2/S1 trên server ≥24GB</a:t>
            </a:r>
            <a:endParaRPr sz="1050" b="0" i="0" u="none" strike="noStrike" cap="none">
              <a:solidFill>
                <a:schemeClr val="dk1"/>
              </a:solidFill>
              <a:latin typeface="Calibri"/>
              <a:ea typeface="Calibri"/>
              <a:cs typeface="Calibri"/>
              <a:sym typeface="Calibri"/>
            </a:endParaRPr>
          </a:p>
        </p:txBody>
      </p:sp>
      <p:cxnSp>
        <p:nvCxnSpPr>
          <p:cNvPr id="941" name="Google Shape;941;p32"/>
          <p:cNvCxnSpPr/>
          <p:nvPr/>
        </p:nvCxnSpPr>
        <p:spPr>
          <a:xfrm>
            <a:off x="8321040" y="4343400"/>
            <a:ext cx="3063240" cy="0"/>
          </a:xfrm>
          <a:prstGeom prst="straightConnector1">
            <a:avLst/>
          </a:prstGeom>
          <a:noFill/>
          <a:ln w="9525" cap="flat" cmpd="sng">
            <a:solidFill>
              <a:srgbClr val="27505B"/>
            </a:solidFill>
            <a:prstDash val="solid"/>
            <a:round/>
            <a:headEnd type="none" w="sm" len="sm"/>
            <a:tailEnd type="none" w="sm" len="sm"/>
          </a:ln>
        </p:spPr>
      </p:cxnSp>
      <p:sp>
        <p:nvSpPr>
          <p:cNvPr id="942" name="Google Shape;942;p32"/>
          <p:cNvSpPr/>
          <p:nvPr/>
        </p:nvSpPr>
        <p:spPr>
          <a:xfrm>
            <a:off x="8321040" y="4480560"/>
            <a:ext cx="3108960" cy="640080"/>
          </a:xfrm>
          <a:prstGeom prst="rect">
            <a:avLst/>
          </a:prstGeom>
          <a:noFill/>
          <a:ln>
            <a:noFill/>
          </a:ln>
        </p:spPr>
        <p:txBody>
          <a:bodyPr spcFirstLastPara="1" wrap="square" lIns="0" tIns="0" rIns="0" bIns="0" anchor="ctr" anchorCtr="0">
            <a:noAutofit/>
          </a:bodyPr>
          <a:lstStyle/>
          <a:p>
            <a:pPr marL="0" marR="0" lvl="0" indent="0" algn="l" rtl="0">
              <a:lnSpc>
                <a:spcPct val="133333"/>
              </a:lnSpc>
              <a:spcBef>
                <a:spcPts val="0"/>
              </a:spcBef>
              <a:spcAft>
                <a:spcPts val="0"/>
              </a:spcAft>
              <a:buClr>
                <a:srgbClr val="9FBEC2"/>
              </a:buClr>
              <a:buSzPts val="1050"/>
              <a:buFont typeface="Arial"/>
              <a:buNone/>
            </a:pPr>
            <a:r>
              <a:rPr lang="en-US" sz="1050" b="0" i="1" u="none" strike="noStrike" cap="none">
                <a:solidFill>
                  <a:srgbClr val="9FBEC2"/>
                </a:solidFill>
                <a:latin typeface="Arial"/>
                <a:ea typeface="Arial"/>
                <a:cs typeface="Arial"/>
                <a:sym typeface="Arial"/>
              </a:rPr>
              <a:t>Đây là luồng cloud/eval của nhóm, không phải lỗi của pipeline local.</a:t>
            </a:r>
            <a:endParaRPr sz="1050" b="0" i="0" u="none" strike="noStrike" cap="none">
              <a:solidFill>
                <a:schemeClr val="dk1"/>
              </a:solidFill>
              <a:latin typeface="Calibri"/>
              <a:ea typeface="Calibri"/>
              <a:cs typeface="Calibri"/>
              <a:sym typeface="Calibri"/>
            </a:endParaRPr>
          </a:p>
        </p:txBody>
      </p:sp>
      <p:sp>
        <p:nvSpPr>
          <p:cNvPr id="943" name="Google Shape;943;p32"/>
          <p:cNvSpPr/>
          <p:nvPr/>
        </p:nvSpPr>
        <p:spPr>
          <a:xfrm>
            <a:off x="548640" y="5440680"/>
            <a:ext cx="11091672" cy="822960"/>
          </a:xfrm>
          <a:prstGeom prst="roundRect">
            <a:avLst>
              <a:gd name="adj" fmla="val 6667"/>
            </a:avLst>
          </a:prstGeom>
          <a:solidFill>
            <a:srgbClr val="EDF4F4"/>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2"/>
          <p:cNvSpPr/>
          <p:nvPr/>
        </p:nvSpPr>
        <p:spPr>
          <a:xfrm>
            <a:off x="822960" y="5440680"/>
            <a:ext cx="10543032" cy="82296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Nhánh B (dual-system 7B) đã chạy end-to-end open-loop ngày 23/07 — sớm hơn dự kiến. Việc còn lại thuần tuý là closed-loop trên simulator, không phải lỗi pipeline.</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33"/>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ĐÃ XÁC MINH</a:t>
            </a:r>
            <a:endParaRPr sz="1050" b="0" i="0" u="none" strike="noStrike" cap="none">
              <a:solidFill>
                <a:schemeClr val="dk1"/>
              </a:solidFill>
              <a:latin typeface="Calibri"/>
              <a:ea typeface="Calibri"/>
              <a:cs typeface="Calibri"/>
              <a:sym typeface="Calibri"/>
            </a:endParaRPr>
          </a:p>
        </p:txBody>
      </p:sp>
      <p:sp>
        <p:nvSpPr>
          <p:cNvPr id="951" name="Google Shape;951;p33"/>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Chín điểm đã xác minh trên checkpoint 7B (23/07)</a:t>
            </a:r>
            <a:endParaRPr sz="2500" b="0" i="0" u="none" strike="noStrike" cap="none">
              <a:solidFill>
                <a:schemeClr val="dk1"/>
              </a:solidFill>
              <a:latin typeface="Calibri"/>
              <a:ea typeface="Calibri"/>
              <a:cs typeface="Calibri"/>
              <a:sym typeface="Calibri"/>
            </a:endParaRPr>
          </a:p>
        </p:txBody>
      </p:sp>
      <p:sp>
        <p:nvSpPr>
          <p:cNvPr id="952" name="Google Shape;952;p33"/>
          <p:cNvSpPr/>
          <p:nvPr/>
        </p:nvSpPr>
        <p:spPr>
          <a:xfrm>
            <a:off x="548640" y="1417320"/>
            <a:ext cx="5349240" cy="603504"/>
          </a:xfrm>
          <a:prstGeom prst="roundRect">
            <a:avLst>
              <a:gd name="adj" fmla="val 90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3"/>
          <p:cNvSpPr/>
          <p:nvPr/>
        </p:nvSpPr>
        <p:spPr>
          <a:xfrm>
            <a:off x="749808" y="1545336"/>
            <a:ext cx="347472" cy="347472"/>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3"/>
          <p:cNvSpPr/>
          <p:nvPr/>
        </p:nvSpPr>
        <p:spPr>
          <a:xfrm>
            <a:off x="749808" y="1545336"/>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1</a:t>
            </a:r>
            <a:endParaRPr sz="1050" b="0" i="0" u="none" strike="noStrike" cap="none">
              <a:solidFill>
                <a:schemeClr val="dk1"/>
              </a:solidFill>
              <a:latin typeface="Calibri"/>
              <a:ea typeface="Calibri"/>
              <a:cs typeface="Calibri"/>
              <a:sym typeface="Calibri"/>
            </a:endParaRPr>
          </a:p>
        </p:txBody>
      </p:sp>
      <p:sp>
        <p:nvSpPr>
          <p:cNvPr id="955" name="Google Shape;955;p33"/>
          <p:cNvSpPr/>
          <p:nvPr/>
        </p:nvSpPr>
        <p:spPr>
          <a:xfrm>
            <a:off x="1234440" y="1417320"/>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model_type = internvla_n1</a:t>
            </a:r>
            <a:endParaRPr sz="1150" b="0" i="0" u="none" strike="noStrike" cap="none">
              <a:solidFill>
                <a:schemeClr val="dk1"/>
              </a:solidFill>
              <a:latin typeface="Calibri"/>
              <a:ea typeface="Calibri"/>
              <a:cs typeface="Calibri"/>
              <a:sym typeface="Calibri"/>
            </a:endParaRPr>
          </a:p>
        </p:txBody>
      </p:sp>
      <p:sp>
        <p:nvSpPr>
          <p:cNvPr id="956" name="Google Shape;956;p33"/>
          <p:cNvSpPr/>
          <p:nvPr/>
        </p:nvSpPr>
        <p:spPr>
          <a:xfrm>
            <a:off x="548640" y="2130552"/>
            <a:ext cx="5349240" cy="603504"/>
          </a:xfrm>
          <a:prstGeom prst="roundRect">
            <a:avLst>
              <a:gd name="adj" fmla="val 9091"/>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3"/>
          <p:cNvSpPr/>
          <p:nvPr/>
        </p:nvSpPr>
        <p:spPr>
          <a:xfrm>
            <a:off x="749808" y="2258568"/>
            <a:ext cx="347472" cy="347472"/>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3"/>
          <p:cNvSpPr/>
          <p:nvPr/>
        </p:nvSpPr>
        <p:spPr>
          <a:xfrm>
            <a:off x="749808" y="225856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2</a:t>
            </a:r>
            <a:endParaRPr sz="1050" b="0" i="0" u="none" strike="noStrike" cap="none">
              <a:solidFill>
                <a:schemeClr val="dk1"/>
              </a:solidFill>
              <a:latin typeface="Calibri"/>
              <a:ea typeface="Calibri"/>
              <a:cs typeface="Calibri"/>
              <a:sym typeface="Calibri"/>
            </a:endParaRPr>
          </a:p>
        </p:txBody>
      </p:sp>
      <p:sp>
        <p:nvSpPr>
          <p:cNvPr id="959" name="Google Shape;959;p33"/>
          <p:cNvSpPr/>
          <p:nvPr/>
        </p:nvSpPr>
        <p:spPr>
          <a:xfrm>
            <a:off x="1234440" y="2130552"/>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hidden_size = 3584, num_hidden_layers = 28</a:t>
            </a:r>
            <a:endParaRPr sz="1150" b="0" i="0" u="none" strike="noStrike" cap="none">
              <a:solidFill>
                <a:schemeClr val="dk1"/>
              </a:solidFill>
              <a:latin typeface="Calibri"/>
              <a:ea typeface="Calibri"/>
              <a:cs typeface="Calibri"/>
              <a:sym typeface="Calibri"/>
            </a:endParaRPr>
          </a:p>
        </p:txBody>
      </p:sp>
      <p:sp>
        <p:nvSpPr>
          <p:cNvPr id="960" name="Google Shape;960;p33"/>
          <p:cNvSpPr/>
          <p:nvPr/>
        </p:nvSpPr>
        <p:spPr>
          <a:xfrm>
            <a:off x="548640" y="2843784"/>
            <a:ext cx="5349240" cy="603504"/>
          </a:xfrm>
          <a:prstGeom prst="roundRect">
            <a:avLst>
              <a:gd name="adj" fmla="val 90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3"/>
          <p:cNvSpPr/>
          <p:nvPr/>
        </p:nvSpPr>
        <p:spPr>
          <a:xfrm>
            <a:off x="749808" y="2971800"/>
            <a:ext cx="347472" cy="347472"/>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3"/>
          <p:cNvSpPr/>
          <p:nvPr/>
        </p:nvSpPr>
        <p:spPr>
          <a:xfrm>
            <a:off x="749808" y="297180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3</a:t>
            </a:r>
            <a:endParaRPr sz="1050" b="0" i="0" u="none" strike="noStrike" cap="none">
              <a:solidFill>
                <a:schemeClr val="dk1"/>
              </a:solidFill>
              <a:latin typeface="Calibri"/>
              <a:ea typeface="Calibri"/>
              <a:cs typeface="Calibri"/>
              <a:sym typeface="Calibri"/>
            </a:endParaRPr>
          </a:p>
        </p:txBody>
      </p:sp>
      <p:sp>
        <p:nvSpPr>
          <p:cNvPr id="963" name="Google Shape;963;p33"/>
          <p:cNvSpPr/>
          <p:nvPr/>
        </p:nvSpPr>
        <p:spPr>
          <a:xfrm>
            <a:off x="1234440" y="2843784"/>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system1 = navdp_async</a:t>
            </a:r>
            <a:endParaRPr sz="1150" b="0" i="0" u="none" strike="noStrike" cap="none">
              <a:solidFill>
                <a:schemeClr val="dk1"/>
              </a:solidFill>
              <a:latin typeface="Calibri"/>
              <a:ea typeface="Calibri"/>
              <a:cs typeface="Calibri"/>
              <a:sym typeface="Calibri"/>
            </a:endParaRPr>
          </a:p>
        </p:txBody>
      </p:sp>
      <p:sp>
        <p:nvSpPr>
          <p:cNvPr id="964" name="Google Shape;964;p33"/>
          <p:cNvSpPr/>
          <p:nvPr/>
        </p:nvSpPr>
        <p:spPr>
          <a:xfrm>
            <a:off x="548640" y="3557016"/>
            <a:ext cx="5349240" cy="603504"/>
          </a:xfrm>
          <a:prstGeom prst="roundRect">
            <a:avLst>
              <a:gd name="adj" fmla="val 9091"/>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3"/>
          <p:cNvSpPr/>
          <p:nvPr/>
        </p:nvSpPr>
        <p:spPr>
          <a:xfrm>
            <a:off x="749808" y="3685032"/>
            <a:ext cx="347472" cy="347472"/>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3"/>
          <p:cNvSpPr/>
          <p:nvPr/>
        </p:nvSpPr>
        <p:spPr>
          <a:xfrm>
            <a:off x="749808" y="3685032"/>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4</a:t>
            </a:r>
            <a:endParaRPr sz="1050" b="0" i="0" u="none" strike="noStrike" cap="none">
              <a:solidFill>
                <a:schemeClr val="dk1"/>
              </a:solidFill>
              <a:latin typeface="Calibri"/>
              <a:ea typeface="Calibri"/>
              <a:cs typeface="Calibri"/>
              <a:sym typeface="Calibri"/>
            </a:endParaRPr>
          </a:p>
        </p:txBody>
      </p:sp>
      <p:sp>
        <p:nvSpPr>
          <p:cNvPr id="967" name="Google Shape;967;p33"/>
          <p:cNvSpPr/>
          <p:nvPr/>
        </p:nvSpPr>
        <p:spPr>
          <a:xfrm>
            <a:off x="1234440" y="3557016"/>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n_query = 4 (đo thật trên -w-NavDP)</a:t>
            </a:r>
            <a:endParaRPr sz="1150" b="0" i="0" u="none" strike="noStrike" cap="none">
              <a:solidFill>
                <a:schemeClr val="dk1"/>
              </a:solidFill>
              <a:latin typeface="Calibri"/>
              <a:ea typeface="Calibri"/>
              <a:cs typeface="Calibri"/>
              <a:sym typeface="Calibri"/>
            </a:endParaRPr>
          </a:p>
        </p:txBody>
      </p:sp>
      <p:sp>
        <p:nvSpPr>
          <p:cNvPr id="968" name="Google Shape;968;p33"/>
          <p:cNvSpPr/>
          <p:nvPr/>
        </p:nvSpPr>
        <p:spPr>
          <a:xfrm>
            <a:off x="548640" y="4270248"/>
            <a:ext cx="5349240" cy="603504"/>
          </a:xfrm>
          <a:prstGeom prst="roundRect">
            <a:avLst>
              <a:gd name="adj" fmla="val 90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3"/>
          <p:cNvSpPr/>
          <p:nvPr/>
        </p:nvSpPr>
        <p:spPr>
          <a:xfrm>
            <a:off x="749808" y="4398264"/>
            <a:ext cx="347472" cy="347472"/>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3"/>
          <p:cNvSpPr/>
          <p:nvPr/>
        </p:nvSpPr>
        <p:spPr>
          <a:xfrm>
            <a:off x="749808" y="4398264"/>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5</a:t>
            </a:r>
            <a:endParaRPr sz="1050" b="0" i="0" u="none" strike="noStrike" cap="none">
              <a:solidFill>
                <a:schemeClr val="dk1"/>
              </a:solidFill>
              <a:latin typeface="Calibri"/>
              <a:ea typeface="Calibri"/>
              <a:cs typeface="Calibri"/>
              <a:sym typeface="Calibri"/>
            </a:endParaRPr>
          </a:p>
        </p:txBody>
      </p:sp>
      <p:sp>
        <p:nvSpPr>
          <p:cNvPr id="971" name="Google Shape;971;p33"/>
          <p:cNvSpPr/>
          <p:nvPr/>
        </p:nvSpPr>
        <p:spPr>
          <a:xfrm>
            <a:off x="1234440" y="4270248"/>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Tồn tại key kết thúc bằng latent_queries</a:t>
            </a:r>
            <a:endParaRPr sz="1150" b="0" i="0" u="none" strike="noStrike" cap="none">
              <a:solidFill>
                <a:schemeClr val="dk1"/>
              </a:solidFill>
              <a:latin typeface="Calibri"/>
              <a:ea typeface="Calibri"/>
              <a:cs typeface="Calibri"/>
              <a:sym typeface="Calibri"/>
            </a:endParaRPr>
          </a:p>
        </p:txBody>
      </p:sp>
      <p:sp>
        <p:nvSpPr>
          <p:cNvPr id="972" name="Google Shape;972;p33"/>
          <p:cNvSpPr/>
          <p:nvPr/>
        </p:nvSpPr>
        <p:spPr>
          <a:xfrm>
            <a:off x="6291072" y="1417320"/>
            <a:ext cx="5349240" cy="603504"/>
          </a:xfrm>
          <a:prstGeom prst="roundRect">
            <a:avLst>
              <a:gd name="adj" fmla="val 9091"/>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3"/>
          <p:cNvSpPr/>
          <p:nvPr/>
        </p:nvSpPr>
        <p:spPr>
          <a:xfrm>
            <a:off x="6492240" y="1545336"/>
            <a:ext cx="347472" cy="347472"/>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3"/>
          <p:cNvSpPr/>
          <p:nvPr/>
        </p:nvSpPr>
        <p:spPr>
          <a:xfrm>
            <a:off x="6492240" y="1545336"/>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6</a:t>
            </a:r>
            <a:endParaRPr sz="1050" b="0" i="0" u="none" strike="noStrike" cap="none">
              <a:solidFill>
                <a:schemeClr val="dk1"/>
              </a:solidFill>
              <a:latin typeface="Calibri"/>
              <a:ea typeface="Calibri"/>
              <a:cs typeface="Calibri"/>
              <a:sym typeface="Calibri"/>
            </a:endParaRPr>
          </a:p>
        </p:txBody>
      </p:sp>
      <p:sp>
        <p:nvSpPr>
          <p:cNvPr id="975" name="Google Shape;975;p33"/>
          <p:cNvSpPr/>
          <p:nvPr/>
        </p:nvSpPr>
        <p:spPr>
          <a:xfrm>
            <a:off x="6976872" y="1417320"/>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Có đủ nhiều key navdp.* và biết prefix chính xác</a:t>
            </a:r>
            <a:endParaRPr sz="1150" b="0" i="0" u="none" strike="noStrike" cap="none">
              <a:solidFill>
                <a:schemeClr val="dk1"/>
              </a:solidFill>
              <a:latin typeface="Calibri"/>
              <a:ea typeface="Calibri"/>
              <a:cs typeface="Calibri"/>
              <a:sym typeface="Calibri"/>
            </a:endParaRPr>
          </a:p>
        </p:txBody>
      </p:sp>
      <p:sp>
        <p:nvSpPr>
          <p:cNvPr id="976" name="Google Shape;976;p33"/>
          <p:cNvSpPr/>
          <p:nvPr/>
        </p:nvSpPr>
        <p:spPr>
          <a:xfrm>
            <a:off x="6291072" y="2130552"/>
            <a:ext cx="5349240" cy="603504"/>
          </a:xfrm>
          <a:prstGeom prst="roundRect">
            <a:avLst>
              <a:gd name="adj" fmla="val 90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3"/>
          <p:cNvSpPr/>
          <p:nvPr/>
        </p:nvSpPr>
        <p:spPr>
          <a:xfrm>
            <a:off x="6492240" y="2258568"/>
            <a:ext cx="347472" cy="347472"/>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3"/>
          <p:cNvSpPr/>
          <p:nvPr/>
        </p:nvSpPr>
        <p:spPr>
          <a:xfrm>
            <a:off x="6492240" y="225856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7</a:t>
            </a:r>
            <a:endParaRPr sz="1050" b="0" i="0" u="none" strike="noStrike" cap="none">
              <a:solidFill>
                <a:schemeClr val="dk1"/>
              </a:solidFill>
              <a:latin typeface="Calibri"/>
              <a:ea typeface="Calibri"/>
              <a:cs typeface="Calibri"/>
              <a:sym typeface="Calibri"/>
            </a:endParaRPr>
          </a:p>
        </p:txBody>
      </p:sp>
      <p:sp>
        <p:nvSpPr>
          <p:cNvPr id="979" name="Google Shape;979;p33"/>
          <p:cNvSpPr/>
          <p:nvPr/>
        </p:nvSpPr>
        <p:spPr>
          <a:xfrm>
            <a:off x="6976872" y="2130552"/>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Custom model load các key này không bị bỏ qua</a:t>
            </a:r>
            <a:endParaRPr sz="1150" b="0" i="0" u="none" strike="noStrike" cap="none">
              <a:solidFill>
                <a:schemeClr val="dk1"/>
              </a:solidFill>
              <a:latin typeface="Calibri"/>
              <a:ea typeface="Calibri"/>
              <a:cs typeface="Calibri"/>
              <a:sym typeface="Calibri"/>
            </a:endParaRPr>
          </a:p>
        </p:txBody>
      </p:sp>
      <p:sp>
        <p:nvSpPr>
          <p:cNvPr id="980" name="Google Shape;980;p33"/>
          <p:cNvSpPr/>
          <p:nvPr/>
        </p:nvSpPr>
        <p:spPr>
          <a:xfrm>
            <a:off x="6291072" y="2843784"/>
            <a:ext cx="5349240" cy="603504"/>
          </a:xfrm>
          <a:prstGeom prst="roundRect">
            <a:avLst>
              <a:gd name="adj" fmla="val 9091"/>
            </a:avLst>
          </a:prstGeom>
          <a:solidFill>
            <a:srgbClr val="F6F9F9"/>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3"/>
          <p:cNvSpPr/>
          <p:nvPr/>
        </p:nvSpPr>
        <p:spPr>
          <a:xfrm>
            <a:off x="6492240" y="2971800"/>
            <a:ext cx="347472" cy="347472"/>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3"/>
          <p:cNvSpPr/>
          <p:nvPr/>
        </p:nvSpPr>
        <p:spPr>
          <a:xfrm>
            <a:off x="6492240" y="297180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8</a:t>
            </a:r>
            <a:endParaRPr sz="1050" b="0" i="0" u="none" strike="noStrike" cap="none">
              <a:solidFill>
                <a:schemeClr val="dk1"/>
              </a:solidFill>
              <a:latin typeface="Calibri"/>
              <a:ea typeface="Calibri"/>
              <a:cs typeface="Calibri"/>
              <a:sym typeface="Calibri"/>
            </a:endParaRPr>
          </a:p>
        </p:txBody>
      </p:sp>
      <p:sp>
        <p:nvSpPr>
          <p:cNvPr id="983" name="Google Shape;983;p33"/>
          <p:cNvSpPr/>
          <p:nvPr/>
        </p:nvSpPr>
        <p:spPr>
          <a:xfrm>
            <a:off x="6976872" y="2843784"/>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Một inference S2 sinh pixel + latent finite</a:t>
            </a:r>
            <a:endParaRPr sz="1150" b="0" i="0" u="none" strike="noStrike" cap="none">
              <a:solidFill>
                <a:schemeClr val="dk1"/>
              </a:solidFill>
              <a:latin typeface="Calibri"/>
              <a:ea typeface="Calibri"/>
              <a:cs typeface="Calibri"/>
              <a:sym typeface="Calibri"/>
            </a:endParaRPr>
          </a:p>
        </p:txBody>
      </p:sp>
      <p:sp>
        <p:nvSpPr>
          <p:cNvPr id="984" name="Google Shape;984;p33"/>
          <p:cNvSpPr/>
          <p:nvPr/>
        </p:nvSpPr>
        <p:spPr>
          <a:xfrm>
            <a:off x="6291072" y="3557016"/>
            <a:ext cx="5349240" cy="603504"/>
          </a:xfrm>
          <a:prstGeom prst="roundRect">
            <a:avLst>
              <a:gd name="adj" fmla="val 9091"/>
            </a:avLst>
          </a:prstGeom>
          <a:solidFill>
            <a:srgbClr val="FFFFFF"/>
          </a:solidFill>
          <a:ln w="9525" cap="flat" cmpd="sng">
            <a:solidFill>
              <a:srgbClr val="CFDED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3"/>
          <p:cNvSpPr/>
          <p:nvPr/>
        </p:nvSpPr>
        <p:spPr>
          <a:xfrm>
            <a:off x="6492240" y="3685032"/>
            <a:ext cx="347472" cy="347472"/>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3"/>
          <p:cNvSpPr/>
          <p:nvPr/>
        </p:nvSpPr>
        <p:spPr>
          <a:xfrm>
            <a:off x="6492240" y="3685032"/>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Arial"/>
              <a:buNone/>
            </a:pPr>
            <a:r>
              <a:rPr lang="en-US" sz="1050" b="1" i="0" u="none" strike="noStrike" cap="none">
                <a:solidFill>
                  <a:srgbClr val="FFFFFF"/>
                </a:solidFill>
                <a:latin typeface="Arial"/>
                <a:ea typeface="Arial"/>
                <a:cs typeface="Arial"/>
                <a:sym typeface="Arial"/>
              </a:rPr>
              <a:t>9</a:t>
            </a:r>
            <a:endParaRPr sz="1050" b="0" i="0" u="none" strike="noStrike" cap="none">
              <a:solidFill>
                <a:schemeClr val="dk1"/>
              </a:solidFill>
              <a:latin typeface="Calibri"/>
              <a:ea typeface="Calibri"/>
              <a:cs typeface="Calibri"/>
              <a:sym typeface="Calibri"/>
            </a:endParaRPr>
          </a:p>
        </p:txBody>
      </p:sp>
      <p:sp>
        <p:nvSpPr>
          <p:cNvPr id="987" name="Google Shape;987;p33"/>
          <p:cNvSpPr/>
          <p:nvPr/>
        </p:nvSpPr>
        <p:spPr>
          <a:xfrm>
            <a:off x="6976872" y="3557016"/>
            <a:ext cx="452628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1150"/>
              <a:buFont typeface="Arial"/>
              <a:buNone/>
            </a:pPr>
            <a:r>
              <a:rPr lang="en-US" sz="1150" b="0" i="0" u="none" strike="noStrike" cap="none">
                <a:solidFill>
                  <a:srgbClr val="1B2B31"/>
                </a:solidFill>
                <a:latin typeface="Arial"/>
                <a:ea typeface="Arial"/>
                <a:cs typeface="Arial"/>
                <a:sym typeface="Arial"/>
              </a:rPr>
              <a:t>Một inference S1 nhận latent + RGB-D và sinh trajectory finite</a:t>
            </a:r>
            <a:endParaRPr sz="1150" b="0" i="0" u="none" strike="noStrike" cap="none">
              <a:solidFill>
                <a:schemeClr val="dk1"/>
              </a:solidFill>
              <a:latin typeface="Calibri"/>
              <a:ea typeface="Calibri"/>
              <a:cs typeface="Calibri"/>
              <a:sym typeface="Calibri"/>
            </a:endParaRPr>
          </a:p>
        </p:txBody>
      </p:sp>
      <p:sp>
        <p:nvSpPr>
          <p:cNvPr id="988" name="Google Shape;988;p33"/>
          <p:cNvSpPr/>
          <p:nvPr/>
        </p:nvSpPr>
        <p:spPr>
          <a:xfrm>
            <a:off x="6291072" y="4279392"/>
            <a:ext cx="5349240" cy="1298448"/>
          </a:xfrm>
          <a:prstGeom prst="roundRect">
            <a:avLst>
              <a:gd name="adj" fmla="val 4225"/>
            </a:avLst>
          </a:prstGeom>
          <a:solidFill>
            <a:srgbClr val="12262D"/>
          </a:solidFill>
          <a:ln w="12700" cap="flat" cmpd="sng">
            <a:solidFill>
              <a:srgbClr val="12262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3"/>
          <p:cNvSpPr/>
          <p:nvPr/>
        </p:nvSpPr>
        <p:spPr>
          <a:xfrm>
            <a:off x="6565392" y="4434840"/>
            <a:ext cx="47548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896"/>
              </a:buClr>
              <a:buSzPts val="1250"/>
              <a:buFont typeface="Arial"/>
              <a:buNone/>
            </a:pPr>
            <a:r>
              <a:rPr lang="en-US" sz="1250" b="1" i="0" u="none" strike="noStrike" cap="none">
                <a:solidFill>
                  <a:srgbClr val="00A896"/>
                </a:solidFill>
                <a:latin typeface="Arial"/>
                <a:ea typeface="Arial"/>
                <a:cs typeface="Arial"/>
                <a:sym typeface="Arial"/>
              </a:rPr>
              <a:t>Đây là gate của nhánh cloud/dual-system.</a:t>
            </a:r>
            <a:endParaRPr sz="1250" b="0" i="0" u="none" strike="noStrike" cap="none">
              <a:solidFill>
                <a:schemeClr val="dk1"/>
              </a:solidFill>
              <a:latin typeface="Calibri"/>
              <a:ea typeface="Calibri"/>
              <a:cs typeface="Calibri"/>
              <a:sym typeface="Calibri"/>
            </a:endParaRPr>
          </a:p>
        </p:txBody>
      </p:sp>
      <p:sp>
        <p:nvSpPr>
          <p:cNvPr id="990" name="Google Shape;990;p33"/>
          <p:cNvSpPr/>
          <p:nvPr/>
        </p:nvSpPr>
        <p:spPr>
          <a:xfrm>
            <a:off x="6565392" y="4736592"/>
            <a:ext cx="4800600" cy="731520"/>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C7DADC"/>
              </a:buClr>
              <a:buSzPts val="1150"/>
              <a:buFont typeface="Arial"/>
              <a:buNone/>
            </a:pPr>
            <a:r>
              <a:rPr lang="en-US" sz="1150" b="0" i="0" u="none" strike="noStrike" cap="none">
                <a:solidFill>
                  <a:srgbClr val="C7DADC"/>
                </a:solidFill>
                <a:latin typeface="Arial"/>
                <a:ea typeface="Arial"/>
                <a:cs typeface="Arial"/>
                <a:sym typeface="Arial"/>
              </a:rPr>
              <a:t>✅ Toàn bộ 9 điểm PASS ngày 23/07 (PL-E2/E3). Dual-system open-loop hoàn tất; còn lại chỉ là closed-loop SR/SPL.</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34"/>
          <p:cNvSpPr/>
          <p:nvPr/>
        </p:nvSpPr>
        <p:spPr>
          <a:xfrm>
            <a:off x="548640" y="329184"/>
            <a:ext cx="1109167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28090"/>
              </a:buClr>
              <a:buSzPts val="1050"/>
              <a:buFont typeface="Arial"/>
              <a:buNone/>
            </a:pPr>
            <a:r>
              <a:rPr lang="en-US" sz="1050" b="1" i="0" u="none" strike="noStrike" cap="none">
                <a:solidFill>
                  <a:srgbClr val="028090"/>
                </a:solidFill>
                <a:latin typeface="Arial"/>
                <a:ea typeface="Arial"/>
                <a:cs typeface="Arial"/>
                <a:sym typeface="Arial"/>
              </a:rPr>
              <a:t>TRA CỨU</a:t>
            </a:r>
            <a:endParaRPr sz="1050" b="0" i="0" u="none" strike="noStrike" cap="none">
              <a:solidFill>
                <a:schemeClr val="dk1"/>
              </a:solidFill>
              <a:latin typeface="Calibri"/>
              <a:ea typeface="Calibri"/>
              <a:cs typeface="Calibri"/>
              <a:sym typeface="Calibri"/>
            </a:endParaRPr>
          </a:p>
        </p:txBody>
      </p:sp>
      <p:sp>
        <p:nvSpPr>
          <p:cNvPr id="997" name="Google Shape;997;p34"/>
          <p:cNvSpPr/>
          <p:nvPr/>
        </p:nvSpPr>
        <p:spPr>
          <a:xfrm>
            <a:off x="548640" y="576072"/>
            <a:ext cx="11091672"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B31"/>
              </a:buClr>
              <a:buSzPts val="2500"/>
              <a:buFont typeface="Arial"/>
              <a:buNone/>
            </a:pPr>
            <a:r>
              <a:rPr lang="en-US" sz="2500" b="1" i="0" u="none" strike="noStrike" cap="none">
                <a:solidFill>
                  <a:srgbClr val="1B2B31"/>
                </a:solidFill>
                <a:latin typeface="Arial"/>
                <a:ea typeface="Arial"/>
                <a:cs typeface="Arial"/>
                <a:sym typeface="Arial"/>
              </a:rPr>
              <a:t>Source map trong repo</a:t>
            </a:r>
            <a:endParaRPr sz="2500" b="0" i="0" u="none" strike="noStrike" cap="none">
              <a:solidFill>
                <a:schemeClr val="dk1"/>
              </a:solidFill>
              <a:latin typeface="Calibri"/>
              <a:ea typeface="Calibri"/>
              <a:cs typeface="Calibri"/>
              <a:sym typeface="Calibri"/>
            </a:endParaRPr>
          </a:p>
        </p:txBody>
      </p:sp>
      <p:graphicFrame>
        <p:nvGraphicFramePr>
          <p:cNvPr id="998" name="Google Shape;998;p34"/>
          <p:cNvGraphicFramePr/>
          <p:nvPr/>
        </p:nvGraphicFramePr>
        <p:xfrm>
          <a:off x="548640" y="1371600"/>
          <a:ext cx="3000000" cy="3000000"/>
        </p:xfrm>
        <a:graphic>
          <a:graphicData uri="http://schemas.openxmlformats.org/drawingml/2006/table">
            <a:tbl>
              <a:tblPr>
                <a:noFill/>
                <a:tableStyleId>{F1D69EF9-3EB6-4A34-B587-486656E65251}</a:tableStyleId>
              </a:tblPr>
              <a:tblGrid>
                <a:gridCol w="4206250">
                  <a:extLst>
                    <a:ext uri="{9D8B030D-6E8A-4147-A177-3AD203B41FA5}">
                      <a16:colId xmlns:a16="http://schemas.microsoft.com/office/drawing/2014/main" val="20000"/>
                    </a:ext>
                  </a:extLst>
                </a:gridCol>
                <a:gridCol w="6885425">
                  <a:extLst>
                    <a:ext uri="{9D8B030D-6E8A-4147-A177-3AD203B41FA5}">
                      <a16:colId xmlns:a16="http://schemas.microsoft.com/office/drawing/2014/main" val="20001"/>
                    </a:ext>
                  </a:extLst>
                </a:gridCol>
              </a:tblGrid>
              <a:tr h="338325">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Nội dung</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File chính</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028090"/>
                    </a:solidFill>
                  </a:tcPr>
                </a:tc>
                <a:extLst>
                  <a:ext uri="{0D108BD9-81ED-4DB2-BD59-A6C34878D82A}">
                    <a16:rowId xmlns:a16="http://schemas.microsoft.com/office/drawing/2014/main" val="10000"/>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Notebook inference chính thức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InternNav-TTS/scripts/notebooks/inference_only_demo.ipynb</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Real-world S2 → latent → S1</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internnav/agent/internvla_n1_agent_realworld.py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2"/>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Evaluator async state machine</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internnav/agent/internvla_n1_agent.py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Prompt, parser, s1_step_latent</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internnav/model/basemodel/internvla_n1/internvla_n1_policy.py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4"/>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Learned queries, generate_latents, generate_traj</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internnav/model/basemodel/internvla_n1/internvla_n1.py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Build NavDP bên trong custom model</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internnav/model/basemodel/internvla_n1/internvla_n1_arch.py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6"/>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Dual NavDP latent-conditioned diffusion</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internnav/model/basemodel/internvla_n1/navdp.py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Standalone NavDP + critic</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internnav/model/basemodel/navdp/navdp_policy.py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08"/>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RGB-D tokenization</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internnav/model/encoder/navdp_backbone.py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LeRobot preprocessing / geometry</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internnav/dataset/navdp_lerobot_dataset.py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10"/>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Action conversion + dataclasses</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internnav/model/utils/vln_utils.py</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338325">
                <a:tc>
                  <a:txBody>
                    <a:bodyPr/>
                    <a:lstStyle/>
                    <a:p>
                      <a:pPr marL="0" marR="0" lvl="0" indent="0" algn="l" rtl="0">
                        <a:spcBef>
                          <a:spcPts val="0"/>
                        </a:spcBef>
                        <a:spcAft>
                          <a:spcPts val="0"/>
                        </a:spcAft>
                        <a:buClr>
                          <a:srgbClr val="1B2B31"/>
                        </a:buClr>
                        <a:buSzPts val="1000"/>
                        <a:buFont typeface="Arial"/>
                        <a:buNone/>
                      </a:pPr>
                      <a:r>
                        <a:rPr lang="en-US" sz="1000" b="1" u="none" strike="noStrike" cap="none">
                          <a:solidFill>
                            <a:srgbClr val="1B2B31"/>
                          </a:solidFill>
                          <a:latin typeface="Arial"/>
                          <a:ea typeface="Arial"/>
                          <a:cs typeface="Arial"/>
                          <a:sym typeface="Arial"/>
                        </a:rPr>
                        <a:t>Adapter Ngày 2 · report real-data</a:t>
                      </a:r>
                      <a:endParaRPr sz="1000" u="none" strike="noStrike" cap="none">
                        <a:latin typeface="Arial"/>
                        <a:ea typeface="Arial"/>
                        <a:cs typeface="Arial"/>
                        <a:sym typeface="Arial"/>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tc>
                  <a:txBody>
                    <a:bodyPr/>
                    <a:lstStyle/>
                    <a:p>
                      <a:pPr marL="0" marR="0" lvl="0" indent="0" algn="l" rtl="0">
                        <a:spcBef>
                          <a:spcPts val="0"/>
                        </a:spcBef>
                        <a:spcAft>
                          <a:spcPts val="0"/>
                        </a:spcAft>
                        <a:buClr>
                          <a:srgbClr val="1B2B31"/>
                        </a:buClr>
                        <a:buSzPts val="1000"/>
                        <a:buFont typeface="Courier New"/>
                        <a:buNone/>
                      </a:pPr>
                      <a:r>
                        <a:rPr lang="en-US" sz="1000" u="none" strike="noStrike" cap="none">
                          <a:solidFill>
                            <a:srgbClr val="1B2B31"/>
                          </a:solidFill>
                          <a:latin typeface="Courier New"/>
                          <a:ea typeface="Courier New"/>
                          <a:cs typeface="Courier New"/>
                          <a:sym typeface="Courier New"/>
                        </a:rPr>
                        <a:t>MH_week2/scripts/run_navdp_real_sample.py · logs/navdp_real_sample.json</a:t>
                      </a:r>
                      <a:endParaRPr sz="1000" u="none" strike="noStrike" cap="none">
                        <a:latin typeface="Courier New"/>
                        <a:ea typeface="Courier New"/>
                        <a:cs typeface="Courier New"/>
                        <a:sym typeface="Courier New"/>
                      </a:endParaRPr>
                    </a:p>
                  </a:txBody>
                  <a:tcPr marL="91450" marR="91450" marT="45725" marB="45725" anchor="ctr">
                    <a:lnL w="9525" cap="flat" cmpd="sng">
                      <a:solidFill>
                        <a:srgbClr val="CFDEDF"/>
                      </a:solidFill>
                      <a:prstDash val="solid"/>
                      <a:round/>
                      <a:headEnd type="none" w="sm" len="sm"/>
                      <a:tailEnd type="none" w="sm" len="sm"/>
                    </a:lnL>
                    <a:lnR w="9525" cap="flat" cmpd="sng">
                      <a:solidFill>
                        <a:srgbClr val="CFDEDF"/>
                      </a:solidFill>
                      <a:prstDash val="solid"/>
                      <a:round/>
                      <a:headEnd type="none" w="sm" len="sm"/>
                      <a:tailEnd type="none" w="sm" len="sm"/>
                    </a:lnR>
                    <a:lnT w="9525" cap="flat" cmpd="sng">
                      <a:solidFill>
                        <a:srgbClr val="CFDEDF"/>
                      </a:solidFill>
                      <a:prstDash val="solid"/>
                      <a:round/>
                      <a:headEnd type="none" w="sm" len="sm"/>
                      <a:tailEnd type="none" w="sm" len="sm"/>
                    </a:lnT>
                    <a:lnB w="9525" cap="flat" cmpd="sng">
                      <a:solidFill>
                        <a:srgbClr val="CFDEDF"/>
                      </a:solidFill>
                      <a:prstDash val="solid"/>
                      <a:round/>
                      <a:headEnd type="none" w="sm" len="sm"/>
                      <a:tailEnd type="none" w="sm" len="sm"/>
                    </a:lnB>
                    <a:solidFill>
                      <a:srgbClr val="F6F9F9"/>
                    </a:solidFill>
                  </a:tcPr>
                </a:tc>
                <a:extLst>
                  <a:ext uri="{0D108BD9-81ED-4DB2-BD59-A6C34878D82A}">
                    <a16:rowId xmlns:a16="http://schemas.microsoft.com/office/drawing/2014/main" val="10012"/>
                  </a:ext>
                </a:extLst>
              </a:tr>
            </a:tbl>
          </a:graphicData>
        </a:graphic>
      </p:graphicFrame>
      <p:sp>
        <p:nvSpPr>
          <p:cNvPr id="999" name="Google Shape;999;p34"/>
          <p:cNvSpPr/>
          <p:nvPr/>
        </p:nvSpPr>
        <p:spPr>
          <a:xfrm>
            <a:off x="548640" y="6327648"/>
            <a:ext cx="1109167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E73"/>
              </a:buClr>
              <a:buSzPts val="950"/>
              <a:buFont typeface="Arial"/>
              <a:buNone/>
            </a:pPr>
            <a:r>
              <a:rPr lang="en-US" sz="950" b="0" i="1" u="none" strike="noStrike" cap="none">
                <a:solidFill>
                  <a:srgbClr val="5C6E73"/>
                </a:solidFill>
                <a:latin typeface="Arial"/>
                <a:ea typeface="Arial"/>
                <a:cs typeface="Arial"/>
                <a:sym typeface="Arial"/>
              </a:rPr>
              <a:t>Tham chiếu dataset chính thức: internrobotics.github.io/user_guide/internnav/tutorials/dataset.html</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2262D"/>
        </a:solidFill>
        <a:effectLst/>
      </p:bgPr>
    </p:bg>
    <p:spTree>
      <p:nvGrpSpPr>
        <p:cNvPr id="1" name="Shape 1004"/>
        <p:cNvGrpSpPr/>
        <p:nvPr/>
      </p:nvGrpSpPr>
      <p:grpSpPr>
        <a:xfrm>
          <a:off x="0" y="0"/>
          <a:ext cx="0" cy="0"/>
          <a:chOff x="0" y="0"/>
          <a:chExt cx="0" cy="0"/>
        </a:xfrm>
      </p:grpSpPr>
      <p:sp>
        <p:nvSpPr>
          <p:cNvPr id="1005" name="Google Shape;1005;p35"/>
          <p:cNvSpPr/>
          <p:nvPr/>
        </p:nvSpPr>
        <p:spPr>
          <a:xfrm>
            <a:off x="9692640" y="-1645920"/>
            <a:ext cx="4572000" cy="4572000"/>
          </a:xfrm>
          <a:prstGeom prst="ellipse">
            <a:avLst/>
          </a:prstGeom>
          <a:solidFill>
            <a:srgbClr val="1B3D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5"/>
          <p:cNvSpPr/>
          <p:nvPr/>
        </p:nvSpPr>
        <p:spPr>
          <a:xfrm>
            <a:off x="-1463040" y="4206240"/>
            <a:ext cx="3840480" cy="3840480"/>
          </a:xfrm>
          <a:prstGeom prst="ellipse">
            <a:avLst/>
          </a:prstGeom>
          <a:solidFill>
            <a:srgbClr val="1733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5"/>
          <p:cNvSpPr/>
          <p:nvPr/>
        </p:nvSpPr>
        <p:spPr>
          <a:xfrm>
            <a:off x="914400" y="123444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98324"/>
              </a:buClr>
              <a:buSzPts val="1150"/>
              <a:buFont typeface="Arial"/>
              <a:buNone/>
            </a:pPr>
            <a:r>
              <a:rPr lang="en-US" sz="1150" b="1" i="0" u="none" strike="noStrike" cap="none">
                <a:solidFill>
                  <a:srgbClr val="D98324"/>
                </a:solidFill>
                <a:latin typeface="Arial"/>
                <a:ea typeface="Arial"/>
                <a:cs typeface="Arial"/>
                <a:sym typeface="Arial"/>
              </a:rPr>
              <a:t>MỘT CÂU ĐỂ THUYẾT TRÌNH</a:t>
            </a:r>
            <a:endParaRPr sz="1150" b="0" i="0" u="none" strike="noStrike" cap="none">
              <a:solidFill>
                <a:schemeClr val="dk1"/>
              </a:solidFill>
              <a:latin typeface="Calibri"/>
              <a:ea typeface="Calibri"/>
              <a:cs typeface="Calibri"/>
              <a:sym typeface="Calibri"/>
            </a:endParaRPr>
          </a:p>
        </p:txBody>
      </p:sp>
      <p:sp>
        <p:nvSpPr>
          <p:cNvPr id="1008" name="Google Shape;1008;p35"/>
          <p:cNvSpPr/>
          <p:nvPr/>
        </p:nvSpPr>
        <p:spPr>
          <a:xfrm>
            <a:off x="914400" y="1664208"/>
            <a:ext cx="10241280" cy="1554480"/>
          </a:xfrm>
          <a:prstGeom prst="rect">
            <a:avLst/>
          </a:prstGeom>
          <a:noFill/>
          <a:ln>
            <a:noFill/>
          </a:ln>
        </p:spPr>
        <p:txBody>
          <a:bodyPr spcFirstLastPara="1" wrap="square" lIns="0" tIns="0" rIns="0" bIns="0" anchor="ctr" anchorCtr="0">
            <a:noAutofit/>
          </a:bodyPr>
          <a:lstStyle/>
          <a:p>
            <a:pPr marL="0" marR="0" lvl="0" indent="0" algn="l" rtl="0">
              <a:lnSpc>
                <a:spcPct val="157142"/>
              </a:lnSpc>
              <a:spcBef>
                <a:spcPts val="0"/>
              </a:spcBef>
              <a:spcAft>
                <a:spcPts val="0"/>
              </a:spcAft>
              <a:buClr>
                <a:srgbClr val="FFFFFF"/>
              </a:buClr>
              <a:buSzPts val="2100"/>
              <a:buFont typeface="Arial"/>
              <a:buNone/>
            </a:pPr>
            <a:r>
              <a:rPr lang="en-US" sz="2100" b="1" i="0" u="none" strike="noStrike" cap="none">
                <a:solidFill>
                  <a:srgbClr val="FFFFFF"/>
                </a:solidFill>
                <a:latin typeface="Arial"/>
                <a:ea typeface="Arial"/>
                <a:cs typeface="Arial"/>
                <a:sym typeface="Arial"/>
              </a:rPr>
              <a:t>System 2 dùng instruction và lịch sử ảnh để tạo waypoint cùng learned latent plan; System 1 nén latent đó thành goal token, kết hợp RGB-D lúc lập plan và RGB-D hiện tại, rồi dùng diffusion sinh nhiều local trajectory.</a:t>
            </a:r>
            <a:endParaRPr sz="2100" b="0" i="0" u="none" strike="noStrike" cap="none">
              <a:solidFill>
                <a:schemeClr val="dk1"/>
              </a:solidFill>
              <a:latin typeface="Calibri"/>
              <a:ea typeface="Calibri"/>
              <a:cs typeface="Calibri"/>
              <a:sym typeface="Calibri"/>
            </a:endParaRPr>
          </a:p>
        </p:txBody>
      </p:sp>
      <p:sp>
        <p:nvSpPr>
          <p:cNvPr id="1009" name="Google Shape;1009;p35"/>
          <p:cNvSpPr/>
          <p:nvPr/>
        </p:nvSpPr>
        <p:spPr>
          <a:xfrm>
            <a:off x="914400" y="3310128"/>
            <a:ext cx="10241280" cy="1005840"/>
          </a:xfrm>
          <a:prstGeom prst="rect">
            <a:avLst/>
          </a:prstGeom>
          <a:noFill/>
          <a:ln>
            <a:noFill/>
          </a:ln>
        </p:spPr>
        <p:txBody>
          <a:bodyPr spcFirstLastPara="1" wrap="square" lIns="0" tIns="0" rIns="0" bIns="0" anchor="ctr" anchorCtr="0">
            <a:noAutofit/>
          </a:bodyPr>
          <a:lstStyle/>
          <a:p>
            <a:pPr marL="0" marR="0" lvl="0" indent="0" algn="l" rtl="0">
              <a:lnSpc>
                <a:spcPct val="166666"/>
              </a:lnSpc>
              <a:spcBef>
                <a:spcPts val="0"/>
              </a:spcBef>
              <a:spcAft>
                <a:spcPts val="0"/>
              </a:spcAft>
              <a:buClr>
                <a:srgbClr val="9FBEC2"/>
              </a:buClr>
              <a:buSzPts val="1500"/>
              <a:buFont typeface="Arial"/>
              <a:buNone/>
            </a:pPr>
            <a:r>
              <a:rPr lang="en-US" sz="1500" b="0" i="0" u="none" strike="noStrike" cap="none">
                <a:solidFill>
                  <a:srgbClr val="9FBEC2"/>
                </a:solidFill>
                <a:latin typeface="Arial"/>
                <a:ea typeface="Arial"/>
                <a:cs typeface="Arial"/>
                <a:sym typeface="Arial"/>
              </a:rPr>
              <a:t>Trajectory được bỏ chuẩn hoá, tích phân và chuyển thành đường liên tục hoặc action rời rạc để robot thực thi. Nhờ partial async, một quyết định chậm của S2 có thể phục vụ nhiều vòng điều khiển nhanh của S1.</a:t>
            </a:r>
            <a:endParaRPr sz="1500" b="0" i="0" u="none" strike="noStrike" cap="none">
              <a:solidFill>
                <a:schemeClr val="dk1"/>
              </a:solidFill>
              <a:latin typeface="Calibri"/>
              <a:ea typeface="Calibri"/>
              <a:cs typeface="Calibri"/>
              <a:sym typeface="Calibri"/>
            </a:endParaRPr>
          </a:p>
        </p:txBody>
      </p:sp>
      <p:sp>
        <p:nvSpPr>
          <p:cNvPr id="1010" name="Google Shape;1010;p35"/>
          <p:cNvSpPr/>
          <p:nvPr/>
        </p:nvSpPr>
        <p:spPr>
          <a:xfrm>
            <a:off x="91440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5"/>
          <p:cNvSpPr/>
          <p:nvPr/>
        </p:nvSpPr>
        <p:spPr>
          <a:xfrm>
            <a:off x="1115568" y="4956048"/>
            <a:ext cx="146304" cy="146304"/>
          </a:xfrm>
          <a:prstGeom prst="ellipse">
            <a:avLst/>
          </a:prstGeom>
          <a:solidFill>
            <a:srgbClr val="00A8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137160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chứng minh</a:t>
            </a:r>
            <a:endParaRPr sz="1150" b="0" i="0" u="none" strike="noStrike" cap="none">
              <a:solidFill>
                <a:schemeClr val="dk1"/>
              </a:solidFill>
              <a:latin typeface="Calibri"/>
              <a:ea typeface="Calibri"/>
              <a:cs typeface="Calibri"/>
              <a:sym typeface="Calibri"/>
            </a:endParaRPr>
          </a:p>
        </p:txBody>
      </p:sp>
      <p:sp>
        <p:nvSpPr>
          <p:cNvPr id="1013" name="Google Shape;1013;p35"/>
          <p:cNvSpPr/>
          <p:nvPr/>
        </p:nvSpPr>
        <p:spPr>
          <a:xfrm>
            <a:off x="137160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NavDP standalone + dual-system open-loop (S2→latent→S1) đều chạy thật</a:t>
            </a:r>
            <a:endParaRPr sz="950" b="0" i="0" u="none" strike="noStrike" cap="none">
              <a:solidFill>
                <a:schemeClr val="dk1"/>
              </a:solidFill>
              <a:latin typeface="Calibri"/>
              <a:ea typeface="Calibri"/>
              <a:cs typeface="Calibri"/>
              <a:sym typeface="Calibri"/>
            </a:endParaRPr>
          </a:p>
        </p:txBody>
      </p:sp>
      <p:sp>
        <p:nvSpPr>
          <p:cNvPr id="1014" name="Google Shape;1014;p35"/>
          <p:cNvSpPr/>
          <p:nvPr/>
        </p:nvSpPr>
        <p:spPr>
          <a:xfrm>
            <a:off x="438912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a:off x="4590288" y="4956048"/>
            <a:ext cx="146304" cy="146304"/>
          </a:xfrm>
          <a:prstGeom prst="ellipse">
            <a:avLst/>
          </a:prstGeom>
          <a:solidFill>
            <a:srgbClr val="0280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484632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Đã đọc kỹ code</a:t>
            </a:r>
            <a:endParaRPr sz="1150" b="0" i="0" u="none" strike="noStrike" cap="none">
              <a:solidFill>
                <a:schemeClr val="dk1"/>
              </a:solidFill>
              <a:latin typeface="Calibri"/>
              <a:ea typeface="Calibri"/>
              <a:cs typeface="Calibri"/>
              <a:sym typeface="Calibri"/>
            </a:endParaRPr>
          </a:p>
        </p:txBody>
      </p:sp>
      <p:sp>
        <p:nvSpPr>
          <p:cNvPr id="1017" name="Google Shape;1017;p35"/>
          <p:cNvSpPr/>
          <p:nvPr/>
        </p:nvSpPr>
        <p:spPr>
          <a:xfrm>
            <a:off x="484632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Toàn bộ đường S2 → latent → S1 và post-processing</a:t>
            </a:r>
            <a:endParaRPr sz="950" b="0" i="0" u="none" strike="noStrike" cap="none">
              <a:solidFill>
                <a:schemeClr val="dk1"/>
              </a:solidFill>
              <a:latin typeface="Calibri"/>
              <a:ea typeface="Calibri"/>
              <a:cs typeface="Calibri"/>
              <a:sym typeface="Calibri"/>
            </a:endParaRPr>
          </a:p>
        </p:txBody>
      </p:sp>
      <p:sp>
        <p:nvSpPr>
          <p:cNvPr id="1018" name="Google Shape;1018;p35"/>
          <p:cNvSpPr/>
          <p:nvPr/>
        </p:nvSpPr>
        <p:spPr>
          <a:xfrm>
            <a:off x="7863840" y="4709160"/>
            <a:ext cx="3246120" cy="1051560"/>
          </a:xfrm>
          <a:prstGeom prst="roundRect">
            <a:avLst>
              <a:gd name="adj" fmla="val 5217"/>
            </a:avLst>
          </a:prstGeom>
          <a:solidFill>
            <a:srgbClr val="1B3D46"/>
          </a:solidFill>
          <a:ln w="9525" cap="flat" cmpd="sng">
            <a:solidFill>
              <a:srgbClr val="27505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8065008" y="4956048"/>
            <a:ext cx="146304" cy="146304"/>
          </a:xfrm>
          <a:prstGeom prst="ellipse">
            <a:avLst/>
          </a:prstGeom>
          <a:solidFill>
            <a:srgbClr val="D983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8321040" y="4873752"/>
            <a:ext cx="2651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Arial"/>
              <a:buNone/>
            </a:pPr>
            <a:r>
              <a:rPr lang="en-US" sz="1150" b="1" i="0" u="none" strike="noStrike" cap="none">
                <a:solidFill>
                  <a:srgbClr val="FFFFFF"/>
                </a:solidFill>
                <a:latin typeface="Arial"/>
                <a:ea typeface="Arial"/>
                <a:cs typeface="Arial"/>
                <a:sym typeface="Arial"/>
              </a:rPr>
              <a:t>Bước kế tiếp</a:t>
            </a:r>
            <a:endParaRPr sz="1150" b="0" i="0" u="none" strike="noStrike" cap="none">
              <a:solidFill>
                <a:schemeClr val="dk1"/>
              </a:solidFill>
              <a:latin typeface="Calibri"/>
              <a:ea typeface="Calibri"/>
              <a:cs typeface="Calibri"/>
              <a:sym typeface="Calibri"/>
            </a:endParaRPr>
          </a:p>
        </p:txBody>
      </p:sp>
      <p:sp>
        <p:nvSpPr>
          <p:cNvPr id="1021" name="Google Shape;1021;p35"/>
          <p:cNvSpPr/>
          <p:nvPr/>
        </p:nvSpPr>
        <p:spPr>
          <a:xfrm>
            <a:off x="8321040" y="510235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6315"/>
              </a:lnSpc>
              <a:spcBef>
                <a:spcPts val="0"/>
              </a:spcBef>
              <a:spcAft>
                <a:spcPts val="0"/>
              </a:spcAft>
              <a:buClr>
                <a:srgbClr val="8FAFB4"/>
              </a:buClr>
              <a:buSzPts val="950"/>
              <a:buFont typeface="Arial"/>
              <a:buNone/>
            </a:pPr>
            <a:r>
              <a:rPr lang="en-US" sz="950" b="0" i="0" u="none" strike="noStrike" cap="none">
                <a:solidFill>
                  <a:srgbClr val="8FAFB4"/>
                </a:solidFill>
                <a:latin typeface="Arial"/>
                <a:ea typeface="Arial"/>
                <a:cs typeface="Arial"/>
                <a:sym typeface="Arial"/>
              </a:rPr>
              <a:t>Chạy closed-loop trong Habitat/Isaac để có SR/SPL (open-loop đã xong 23/07)</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6960</Words>
  <Application>Microsoft Office PowerPoint</Application>
  <PresentationFormat>Widescreen</PresentationFormat>
  <Paragraphs>845</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Lam Nguyen Tung</cp:lastModifiedBy>
  <cp:revision>1</cp:revision>
  <dcterms:modified xsi:type="dcterms:W3CDTF">2026-07-27T08:02:58Z</dcterms:modified>
</cp:coreProperties>
</file>